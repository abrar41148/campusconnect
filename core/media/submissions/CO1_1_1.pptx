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94.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Lst>
  <p:sldSz cy="6858000" cx="12192000"/>
  <p:notesSz cx="6858000" cy="9144000"/>
  <p:embeddedFontLst>
    <p:embeddedFont>
      <p:font typeface="Cantarell"/>
      <p:regular r:id="rId101"/>
      <p:bold r:id="rId102"/>
      <p:italic r:id="rId103"/>
      <p:boldItalic r:id="rId104"/>
    </p:embeddedFont>
    <p:embeddedFont>
      <p:font typeface="Arial Black"/>
      <p:regular r:id="rId10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06" roundtripDataSignature="AMtx7mj0QgHAVL8Oxux3gAqPNkj7B42V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2A61F2D-B97D-49E0-A38F-197A92996402}">
  <a:tblStyle styleId="{22A61F2D-B97D-49E0-A38F-197A92996402}"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6" Type="http://customschemas.google.com/relationships/presentationmetadata" Target="metadata"/><Relationship Id="rId105" Type="http://schemas.openxmlformats.org/officeDocument/2006/relationships/font" Target="fonts/ArialBlack-regular.fntdata"/><Relationship Id="rId104" Type="http://schemas.openxmlformats.org/officeDocument/2006/relationships/font" Target="fonts/Cantarell-boldItalic.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font" Target="fonts/Cantarell-italic.fntdata"/><Relationship Id="rId102" Type="http://schemas.openxmlformats.org/officeDocument/2006/relationships/font" Target="fonts/Cantarell-bold.fntdata"/><Relationship Id="rId101" Type="http://schemas.openxmlformats.org/officeDocument/2006/relationships/font" Target="fonts/Cantarell-regular.fntdata"/><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 name="Google Shape;7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 name="Google Shape;8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ef715dffd9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g2ef715dffd9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ef715dffd9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g2ef715dffd9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ef7db30db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g2ef7db30db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ef7db30dbc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g2ef7db30dbc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ef7db30dbc_1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g2ef7db30dbc_1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ef7db30dbc_1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g2ef7db30dbc_1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ef7db30dbc_1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g2ef7db30dbc_1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ef7db30dbc_1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g2ef7db30dbc_1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ef7db30dbc_1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g2ef7db30dbc_1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ef7db30dbc_1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g2ef7db30dbc_1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ef7db30dbc_1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g2ef7db30dbc_1_1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ef7db30dbc_1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g2ef7db30dbc_1_1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ef7db30dbc_1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g2ef7db30dbc_1_1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ef7db30dbc_1_1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g2ef7db30dbc_1_1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ef7db30dbc_1_1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g2ef7db30dbc_1_1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ef7db30dbc_1_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g2ef7db30dbc_1_1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ef7db30dbc_1_1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 name="Google Shape;197;g2ef7db30dbc_1_1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ef7db30dbc_1_1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 name="Google Shape;203;g2ef7db30dbc_1_1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ef7db30dbc_1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g2ef7db30dbc_1_1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ef7db30dbc_1_1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g2ef7db30dbc_1_1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ef7db30dbc_1_1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g2ef7db30dbc_1_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ef7db30dbc_1_2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 name="Google Shape;227;g2ef7db30dbc_1_2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ef7db30dbc_1_2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3" name="Google Shape;233;g2ef7db30dbc_1_2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835528d1b0_3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0" name="Google Shape;240;g2835528d1b0_3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79ef9b7fc5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g279ef9b7fc5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79ef9b7fc5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g279ef9b7fc5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79ef9b7fc5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g279ef9b7fc5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79ef9b7fc5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g279ef9b7fc5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79ef9b7fc5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1" name="Google Shape;281;g279ef9b7fc5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79ef9b7fc5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9" name="Google Shape;289;g279ef9b7fc5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79ef9b7fc5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6" name="Google Shape;296;g279ef9b7fc5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79ef9b7fc5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2" name="Google Shape;302;g279ef9b7fc5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79ef9b7fc5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8" name="Google Shape;308;g279ef9b7fc5_0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79ef9b7fc5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4" name="Google Shape;314;g279ef9b7fc5_0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79ef9b7fc5_0_1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g279ef9b7fc5_0_1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835528d1b0_3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8" name="Google Shape;388;g2835528d1b0_3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79ef9b7fc5_0_1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4" name="Google Shape;394;g279ef9b7fc5_0_1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279ef9b7fc5_0_1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0" name="Google Shape;400;g279ef9b7fc5_0_1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279ef9b7fc5_0_1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1" name="Google Shape;411;g279ef9b7fc5_0_1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79ef9b7fc5_0_1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4" name="Google Shape;424;g279ef9b7fc5_0_1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279ef9b7fc5_0_2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4" name="Google Shape;434;g279ef9b7fc5_0_2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279ef9b7fc5_0_2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9" name="Google Shape;439;g279ef9b7fc5_0_2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279ef9b7fc5_0_2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4" name="Google Shape;444;g279ef9b7fc5_0_2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279ef9b7fc5_0_2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3" name="Google Shape;453;g279ef9b7fc5_0_2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279ef9b7fc5_0_2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0" name="Google Shape;460;g279ef9b7fc5_0_2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279ef9b7fc5_0_2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6" name="Google Shape;466;g279ef9b7fc5_0_2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279ef9b7fc5_0_2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5" name="Google Shape;495;g279ef9b7fc5_0_2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279ef9b7fc5_0_2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1" name="Google Shape;501;g279ef9b7fc5_0_2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279ef9b7fc5_0_2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6" name="Google Shape;516;g279ef9b7fc5_0_2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279ef9b7fc5_0_2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3" name="Google Shape;523;g279ef9b7fc5_0_2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279ef9b7fc5_0_2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9" name="Google Shape;529;g279ef9b7fc5_0_2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279ef9b7fc5_0_3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8" name="Google Shape;558;g279ef9b7fc5_0_3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279ef9b7fc5_0_3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5" name="Google Shape;565;g279ef9b7fc5_0_3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279ef9b7fc5_0_3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1" name="Google Shape;571;g279ef9b7fc5_0_3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279ef9b7fc5_0_3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7" name="Google Shape;577;g279ef9b7fc5_0_3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279ef9b7fc5_0_3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3" name="Google Shape;583;g279ef9b7fc5_0_3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279ef9b7fc5_0_3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9" name="Google Shape;589;g279ef9b7fc5_0_3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279ef9b7fc5_0_3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5" name="Google Shape;595;g279ef9b7fc5_0_3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279ef9b7fc5_0_3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1" name="Google Shape;601;g279ef9b7fc5_0_3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279ef9b7fc5_0_3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7" name="Google Shape;607;g279ef9b7fc5_0_3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279ef9b7fc5_0_3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7" name="Google Shape;617;g279ef9b7fc5_0_3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279ef9b7fc5_0_3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7" name="Google Shape;627;g279ef9b7fc5_0_3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279ef9b7fc5_0_3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3" name="Google Shape;633;g279ef9b7fc5_0_3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279ef9b7fc5_0_3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2" name="Google Shape;642;g279ef9b7fc5_0_3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279ef9b7fc5_0_3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8" name="Google Shape;648;g279ef9b7fc5_0_3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279ef9b7fc5_0_3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3" name="Google Shape;653;g279ef9b7fc5_0_3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279ef9b7fc5_0_4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9" name="Google Shape;659;g279ef9b7fc5_0_4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279ef9b7fc5_0_4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5" name="Google Shape;665;g279ef9b7fc5_0_4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279ef9b7fc5_0_4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1" name="Google Shape;671;g279ef9b7fc5_0_4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279ef9b7fc5_0_4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7" name="Google Shape;677;g279ef9b7fc5_0_4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279ef9b7fc5_0_4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3" name="Google Shape;683;g279ef9b7fc5_0_4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279ef9b7fc5_0_4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9" name="Google Shape;689;g279ef9b7fc5_0_4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279ef9b7fc5_0_4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3" name="Google Shape;713;g279ef9b7fc5_0_4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279ef9b7fc5_0_4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9" name="Google Shape;719;g279ef9b7fc5_0_4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279ef9b7fc5_0_4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5" name="Google Shape;725;g279ef9b7fc5_0_4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279ef9b7fc5_0_4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1" name="Google Shape;731;g279ef9b7fc5_0_4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279ef9b7fc5_0_4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6" name="Google Shape;736;g279ef9b7fc5_0_4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279ef9b7fc5_0_4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5" name="Google Shape;745;g279ef9b7fc5_0_4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279ef9b7fc5_0_4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1" name="Google Shape;751;g279ef9b7fc5_0_4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279ef9b7fc5_0_4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0" name="Google Shape;760;g279ef9b7fc5_0_4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279ef9b7fc5_0_4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6" name="Google Shape;766;g279ef9b7fc5_0_4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279ef9b7fc5_0_5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2" name="Google Shape;772;g279ef9b7fc5_0_5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279ef9b7fc5_0_5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8" name="Google Shape;778;g279ef9b7fc5_0_5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279ef9b7fc5_0_5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4" name="Google Shape;784;g279ef9b7fc5_0_5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279ef9b7fc5_0_5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0" name="Google Shape;790;g279ef9b7fc5_0_5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279ef9b7fc5_0_5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6" name="Google Shape;796;g279ef9b7fc5_0_5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279ef9b7fc5_0_5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2" name="Google Shape;802;g279ef9b7fc5_0_5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279ef9b7fc5_0_5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0" name="Google Shape;810;g279ef9b7fc5_0_5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279ef9b7fc5_0_5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6" name="Google Shape;816;g279ef9b7fc5_0_5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279ef9b7fc5_0_5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2" name="Google Shape;822;g279ef9b7fc5_0_5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279ef9b7fc5_0_5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4" name="Google Shape;834;g279ef9b7fc5_0_5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279ef9b7fc5_0_5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0" name="Google Shape;840;g279ef9b7fc5_0_5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279ef9b7fc5_0_5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6" name="Google Shape;846;g279ef9b7fc5_0_5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 name="Shape 6"/>
        <p:cNvGrpSpPr/>
        <p:nvPr/>
      </p:nvGrpSpPr>
      <p:grpSpPr>
        <a:xfrm>
          <a:off x="0" y="0"/>
          <a:ext cx="0" cy="0"/>
          <a:chOff x="0" y="0"/>
          <a:chExt cx="0" cy="0"/>
        </a:xfrm>
      </p:grpSpPr>
      <p:sp>
        <p:nvSpPr>
          <p:cNvPr id="7" name="Google Shape;7;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9" name="Google Shape;9;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 name="Google Shape;11;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
        <p:nvSpPr>
          <p:cNvPr id="12" name="Google Shape;12;p4"/>
          <p:cNvSpPr/>
          <p:nvPr/>
        </p:nvSpPr>
        <p:spPr>
          <a:xfrm>
            <a:off x="0" y="0"/>
            <a:ext cx="12192000" cy="6858000"/>
          </a:xfrm>
          <a:prstGeom prst="rect">
            <a:avLst/>
          </a:prstGeom>
          <a:solidFill>
            <a:srgbClr val="D7AC5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3" name="Shape 13"/>
        <p:cNvGrpSpPr/>
        <p:nvPr/>
      </p:nvGrpSpPr>
      <p:grpSpPr>
        <a:xfrm>
          <a:off x="0" y="0"/>
          <a:ext cx="0" cy="0"/>
          <a:chOff x="0" y="0"/>
          <a:chExt cx="0" cy="0"/>
        </a:xfrm>
      </p:grpSpPr>
      <p:pic>
        <p:nvPicPr>
          <p:cNvPr descr="A white and gold rectangles&#10;&#10;Description automatically generated with low confidence" id="14" name="Google Shape;14;p5"/>
          <p:cNvPicPr preferRelativeResize="0"/>
          <p:nvPr/>
        </p:nvPicPr>
        <p:blipFill rotWithShape="1">
          <a:blip r:embed="rId2">
            <a:alphaModFix amt="20000"/>
          </a:blip>
          <a:srcRect b="0" l="0" r="0" t="0"/>
          <a:stretch/>
        </p:blipFill>
        <p:spPr>
          <a:xfrm>
            <a:off x="0" y="0"/>
            <a:ext cx="12192000" cy="6858000"/>
          </a:xfrm>
          <a:prstGeom prst="rect">
            <a:avLst/>
          </a:prstGeom>
          <a:noFill/>
          <a:ln>
            <a:noFill/>
          </a:ln>
        </p:spPr>
      </p:pic>
      <p:pic>
        <p:nvPicPr>
          <p:cNvPr descr="A picture containing text, logo, font, graphics&#10;&#10;Description automatically generated" id="15" name="Google Shape;15;p5"/>
          <p:cNvPicPr preferRelativeResize="0"/>
          <p:nvPr/>
        </p:nvPicPr>
        <p:blipFill rotWithShape="1">
          <a:blip r:embed="rId3">
            <a:alphaModFix/>
          </a:blip>
          <a:srcRect b="0" l="0" r="0" t="0"/>
          <a:stretch/>
        </p:blipFill>
        <p:spPr>
          <a:xfrm>
            <a:off x="9503376" y="1"/>
            <a:ext cx="2688624" cy="1511300"/>
          </a:xfrm>
          <a:prstGeom prst="rect">
            <a:avLst/>
          </a:prstGeom>
          <a:noFill/>
          <a:ln>
            <a:noFill/>
          </a:ln>
        </p:spPr>
      </p:pic>
      <p:sp>
        <p:nvSpPr>
          <p:cNvPr id="16" name="Google Shape;16;p5"/>
          <p:cNvSpPr/>
          <p:nvPr/>
        </p:nvSpPr>
        <p:spPr>
          <a:xfrm>
            <a:off x="0" y="6235701"/>
            <a:ext cx="12192000" cy="622299"/>
          </a:xfrm>
          <a:prstGeom prst="round2SameRect">
            <a:avLst>
              <a:gd fmla="val 50000" name="adj1"/>
              <a:gd fmla="val 0"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 name="Google Shape;17;p5"/>
          <p:cNvSpPr/>
          <p:nvPr/>
        </p:nvSpPr>
        <p:spPr>
          <a:xfrm>
            <a:off x="0" y="6812280"/>
            <a:ext cx="12192000" cy="45719"/>
          </a:xfrm>
          <a:prstGeom prst="round2SameRect">
            <a:avLst>
              <a:gd fmla="val 0" name="adj1"/>
              <a:gd fmla="val 0" name="adj2"/>
            </a:avLst>
          </a:prstGeom>
          <a:solidFill>
            <a:srgbClr val="D7AC5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 name="Google Shape;20;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21" name="Google Shape;21;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 name="Google Shape;22;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3" name="Google Shape;23;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4" name="Shape 24"/>
        <p:cNvGrpSpPr/>
        <p:nvPr/>
      </p:nvGrpSpPr>
      <p:grpSpPr>
        <a:xfrm>
          <a:off x="0" y="0"/>
          <a:ext cx="0" cy="0"/>
          <a:chOff x="0" y="0"/>
          <a:chExt cx="0" cy="0"/>
        </a:xfrm>
      </p:grpSpPr>
      <p:sp>
        <p:nvSpPr>
          <p:cNvPr id="25" name="Google Shape;25;p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 name="Google Shape;26;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7" name="Google Shape;27;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8" name="Google Shape;28;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9" name="Google Shape;29;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0" name="Google Shape;30;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1" name="Shape 31"/>
        <p:cNvGrpSpPr/>
        <p:nvPr/>
      </p:nvGrpSpPr>
      <p:grpSpPr>
        <a:xfrm>
          <a:off x="0" y="0"/>
          <a:ext cx="0" cy="0"/>
          <a:chOff x="0" y="0"/>
          <a:chExt cx="0" cy="0"/>
        </a:xfrm>
      </p:grpSpPr>
      <p:sp>
        <p:nvSpPr>
          <p:cNvPr id="32" name="Google Shape;32;p8"/>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 name="Google Shape;33;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34" name="Google Shape;34;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5" name="Google Shape;35;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36" name="Google Shape;36;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7" name="Google Shape;37;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9" name="Google Shape;39;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2" name="Google Shape;4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3" name="Google Shape;4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7" name="Google Shape;47;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8" name="Google Shape;48;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9" name="Shape 49"/>
        <p:cNvGrpSpPr/>
        <p:nvPr/>
      </p:nvGrpSpPr>
      <p:grpSpPr>
        <a:xfrm>
          <a:off x="0" y="0"/>
          <a:ext cx="0" cy="0"/>
          <a:chOff x="0" y="0"/>
          <a:chExt cx="0" cy="0"/>
        </a:xfrm>
      </p:grpSpPr>
      <p:sp>
        <p:nvSpPr>
          <p:cNvPr id="50" name="Google Shape;50;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1" name="Google Shape;51;p1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2" name="Google Shape;52;p1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53" name="Google Shape;53;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5" name="Google Shape;55;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6" name="Shape 56"/>
        <p:cNvGrpSpPr/>
        <p:nvPr/>
      </p:nvGrpSpPr>
      <p:grpSpPr>
        <a:xfrm>
          <a:off x="0" y="0"/>
          <a:ext cx="0" cy="0"/>
          <a:chOff x="0" y="0"/>
          <a:chExt cx="0" cy="0"/>
        </a:xfrm>
      </p:grpSpPr>
      <p:sp>
        <p:nvSpPr>
          <p:cNvPr id="57" name="Google Shape;57;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8" name="Google Shape;58;p12"/>
          <p:cNvSpPr/>
          <p:nvPr>
            <p:ph idx="2" type="pic"/>
          </p:nvPr>
        </p:nvSpPr>
        <p:spPr>
          <a:xfrm>
            <a:off x="5183188" y="987425"/>
            <a:ext cx="6172200" cy="4873625"/>
          </a:xfrm>
          <a:prstGeom prst="rect">
            <a:avLst/>
          </a:prstGeom>
          <a:noFill/>
          <a:ln>
            <a:noFill/>
          </a:ln>
        </p:spPr>
      </p:sp>
      <p:sp>
        <p:nvSpPr>
          <p:cNvPr id="59" name="Google Shape;59;p1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0" name="Google Shape;60;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1" name="Google Shape;61;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3" name="Shape 63"/>
        <p:cNvGrpSpPr/>
        <p:nvPr/>
      </p:nvGrpSpPr>
      <p:grpSpPr>
        <a:xfrm>
          <a:off x="0" y="0"/>
          <a:ext cx="0" cy="0"/>
          <a:chOff x="0" y="0"/>
          <a:chExt cx="0" cy="0"/>
        </a:xfrm>
      </p:grpSpPr>
      <p:sp>
        <p:nvSpPr>
          <p:cNvPr id="64" name="Google Shape;64;p1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5" name="Google Shape;65;p1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6" name="Google Shape;66;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7" name="Google Shape;67;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8" name="Google Shape;68;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9" name="Shape 69"/>
        <p:cNvGrpSpPr/>
        <p:nvPr/>
      </p:nvGrpSpPr>
      <p:grpSpPr>
        <a:xfrm>
          <a:off x="0" y="0"/>
          <a:ext cx="0" cy="0"/>
          <a:chOff x="0" y="0"/>
          <a:chExt cx="0" cy="0"/>
        </a:xfrm>
      </p:grpSpPr>
      <p:sp>
        <p:nvSpPr>
          <p:cNvPr id="70" name="Google Shape;70;p14"/>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1" name="Google Shape;71;p1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2" name="Google Shape;72;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3" name="Google Shape;73;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4" name="Google Shape;74;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9.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hyperlink" Target="http://www.javatpoint.com/java-tutoria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hyperlink" Target="http://www.javatpoint.com/java-tutoria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hyperlink" Target="http://www.javatpoint.com/java-tutoria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3.png"/><Relationship Id="rId4" Type="http://schemas.openxmlformats.org/officeDocument/2006/relationships/image" Target="../media/image24.jpg"/><Relationship Id="rId5" Type="http://schemas.openxmlformats.org/officeDocument/2006/relationships/image" Target="../media/image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9.jpg"/><Relationship Id="rId4" Type="http://schemas.openxmlformats.org/officeDocument/2006/relationships/image" Target="../media/image5.jpg"/><Relationship Id="rId5" Type="http://schemas.openxmlformats.org/officeDocument/2006/relationships/image" Target="../media/image27.png"/><Relationship Id="rId6"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6.png"/><Relationship Id="rId4" Type="http://schemas.openxmlformats.org/officeDocument/2006/relationships/image" Target="../media/image23.png"/><Relationship Id="rId5"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2.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2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descr="A group of people walking in front of a building&#10;&#10;Description automatically generated" id="79" name="Google Shape;79;p1"/>
          <p:cNvPicPr preferRelativeResize="0"/>
          <p:nvPr/>
        </p:nvPicPr>
        <p:blipFill rotWithShape="1">
          <a:blip r:embed="rId3">
            <a:alphaModFix amt="35000"/>
          </a:blip>
          <a:srcRect b="0" l="0" r="0" t="20312"/>
          <a:stretch/>
        </p:blipFill>
        <p:spPr>
          <a:xfrm>
            <a:off x="0" y="0"/>
            <a:ext cx="12192000" cy="6858000"/>
          </a:xfrm>
          <a:prstGeom prst="rect">
            <a:avLst/>
          </a:prstGeom>
          <a:noFill/>
          <a:ln cap="flat" cmpd="sng" w="76200">
            <a:solidFill>
              <a:srgbClr val="233039"/>
            </a:solidFill>
            <a:prstDash val="solid"/>
            <a:round/>
            <a:headEnd len="sm" w="sm" type="none"/>
            <a:tailEnd len="sm" w="sm" type="none"/>
          </a:ln>
        </p:spPr>
      </p:pic>
      <p:sp>
        <p:nvSpPr>
          <p:cNvPr id="80" name="Google Shape;80;p1"/>
          <p:cNvSpPr txBox="1"/>
          <p:nvPr/>
        </p:nvSpPr>
        <p:spPr>
          <a:xfrm>
            <a:off x="2217330" y="2274838"/>
            <a:ext cx="8882400" cy="2862900"/>
          </a:xfrm>
          <a:prstGeom prst="rect">
            <a:avLst/>
          </a:prstGeom>
          <a:solidFill>
            <a:srgbClr val="233039"/>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100"/>
              <a:buFont typeface="Arial"/>
              <a:buNone/>
            </a:pPr>
            <a:r>
              <a:rPr b="1" lang="en-IN" sz="3600">
                <a:solidFill>
                  <a:srgbClr val="D7AC54"/>
                </a:solidFill>
                <a:latin typeface="Cantarell"/>
                <a:ea typeface="Cantarell"/>
                <a:cs typeface="Cantarell"/>
                <a:sym typeface="Cantarell"/>
              </a:rPr>
              <a:t>Module-1</a:t>
            </a:r>
            <a:r>
              <a:rPr b="1" i="0" lang="en-IN" sz="3600" u="none" cap="none" strike="noStrike">
                <a:solidFill>
                  <a:srgbClr val="D7AC54"/>
                </a:solidFill>
                <a:latin typeface="Cantarell"/>
                <a:ea typeface="Cantarell"/>
                <a:cs typeface="Cantarell"/>
                <a:sym typeface="Cantarell"/>
              </a:rPr>
              <a:t>: Understand the Java fundamentals and apply the concept of classes, objects to solve a real world</a:t>
            </a:r>
            <a:endParaRPr b="1" i="0" sz="3600" u="none" cap="none" strike="noStrike">
              <a:solidFill>
                <a:srgbClr val="D7AC54"/>
              </a:solidFill>
              <a:latin typeface="Cantarell"/>
              <a:ea typeface="Cantarell"/>
              <a:cs typeface="Cantarell"/>
              <a:sym typeface="Cantarell"/>
            </a:endParaRPr>
          </a:p>
          <a:p>
            <a:pPr indent="0" lvl="0" marL="0" marR="0" rtl="0" algn="ctr">
              <a:lnSpc>
                <a:spcPct val="100000"/>
              </a:lnSpc>
              <a:spcBef>
                <a:spcPts val="0"/>
              </a:spcBef>
              <a:spcAft>
                <a:spcPts val="0"/>
              </a:spcAft>
              <a:buClr>
                <a:srgbClr val="000000"/>
              </a:buClr>
              <a:buSzPts val="3600"/>
              <a:buFont typeface="Arial"/>
              <a:buNone/>
            </a:pPr>
            <a:r>
              <a:rPr b="1" i="0" lang="en-IN" sz="3600" u="none" cap="none" strike="noStrike">
                <a:solidFill>
                  <a:srgbClr val="D7AC54"/>
                </a:solidFill>
                <a:latin typeface="Cantarell"/>
                <a:ea typeface="Cantarell"/>
                <a:cs typeface="Cantarell"/>
                <a:sym typeface="Cantarell"/>
              </a:rPr>
              <a:t>problem</a:t>
            </a:r>
            <a:endParaRPr b="1" i="0" sz="3600" u="none" cap="none" strike="noStrike">
              <a:solidFill>
                <a:srgbClr val="D7AC54"/>
              </a:solidFill>
              <a:latin typeface="Cantarell"/>
              <a:ea typeface="Cantarell"/>
              <a:cs typeface="Cantarell"/>
              <a:sym typeface="Cantarell"/>
            </a:endParaRPr>
          </a:p>
        </p:txBody>
      </p:sp>
      <p:pic>
        <p:nvPicPr>
          <p:cNvPr descr="A picture containing text, logo, font, graphics&#10;&#10;Description automatically generated" id="81" name="Google Shape;81;p1"/>
          <p:cNvPicPr preferRelativeResize="0"/>
          <p:nvPr/>
        </p:nvPicPr>
        <p:blipFill rotWithShape="1">
          <a:blip r:embed="rId4">
            <a:alphaModFix/>
          </a:blip>
          <a:srcRect b="0" l="0" r="0" t="0"/>
          <a:stretch/>
        </p:blipFill>
        <p:spPr>
          <a:xfrm>
            <a:off x="9326562" y="0"/>
            <a:ext cx="2865438" cy="1610689"/>
          </a:xfrm>
          <a:prstGeom prst="rect">
            <a:avLst/>
          </a:prstGeom>
          <a:noFill/>
          <a:ln>
            <a:noFill/>
          </a:ln>
        </p:spPr>
      </p:pic>
      <p:sp>
        <p:nvSpPr>
          <p:cNvPr id="82" name="Google Shape;82;p1"/>
          <p:cNvSpPr/>
          <p:nvPr/>
        </p:nvSpPr>
        <p:spPr>
          <a:xfrm>
            <a:off x="0" y="6388100"/>
            <a:ext cx="12192000" cy="127000"/>
          </a:xfrm>
          <a:prstGeom prst="rect">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 name="Google Shape;83;p1"/>
          <p:cNvSpPr/>
          <p:nvPr/>
        </p:nvSpPr>
        <p:spPr>
          <a:xfrm flipH="1" rot="10800000">
            <a:off x="0" y="6573518"/>
            <a:ext cx="12192000" cy="45719"/>
          </a:xfrm>
          <a:prstGeom prst="rect">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0"/>
                                        </p:tgtEl>
                                        <p:attrNameLst>
                                          <p:attrName>style.visibility</p:attrName>
                                        </p:attrNameLst>
                                      </p:cBhvr>
                                      <p:to>
                                        <p:strVal val="visible"/>
                                      </p:to>
                                    </p:set>
                                    <p:animEffect filter="fade" transition="in">
                                      <p:cBhvr>
                                        <p:cTn dur="500"/>
                                        <p:tgtEl>
                                          <p:spTgt spid="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2"/>
          <p:cNvSpPr/>
          <p:nvPr/>
        </p:nvSpPr>
        <p:spPr>
          <a:xfrm>
            <a:off x="3105509" y="508360"/>
            <a:ext cx="5572665" cy="622299"/>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OOPs Concepts</a:t>
            </a:r>
            <a:endParaRPr b="1" i="0" sz="1800" u="none" cap="none" strike="noStrike">
              <a:solidFill>
                <a:srgbClr val="D7AC54"/>
              </a:solidFill>
              <a:latin typeface="Cantarell"/>
              <a:ea typeface="Cantarell"/>
              <a:cs typeface="Cantarell"/>
              <a:sym typeface="Cantarell"/>
            </a:endParaRPr>
          </a:p>
        </p:txBody>
      </p:sp>
      <p:sp>
        <p:nvSpPr>
          <p:cNvPr id="89" name="Google Shape;89;p2"/>
          <p:cNvSpPr txBox="1"/>
          <p:nvPr/>
        </p:nvSpPr>
        <p:spPr>
          <a:xfrm>
            <a:off x="821450" y="1605600"/>
            <a:ext cx="10581000" cy="40329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100000"/>
              </a:lnSpc>
              <a:spcBef>
                <a:spcPts val="0"/>
              </a:spcBef>
              <a:spcAft>
                <a:spcPts val="0"/>
              </a:spcAft>
              <a:buClr>
                <a:srgbClr val="000000"/>
              </a:buClr>
              <a:buSzPts val="2500"/>
              <a:buFont typeface="Times New Roman"/>
              <a:buChar char="●"/>
            </a:pPr>
            <a:r>
              <a:rPr b="0" i="0" lang="en-IN" sz="2500" u="none" cap="none" strike="noStrike">
                <a:solidFill>
                  <a:srgbClr val="000000"/>
                </a:solidFill>
                <a:latin typeface="Times New Roman"/>
                <a:ea typeface="Times New Roman"/>
                <a:cs typeface="Times New Roman"/>
                <a:sym typeface="Times New Roman"/>
              </a:rPr>
              <a:t>Simula is considered the first object-oriented programming language. </a:t>
            </a:r>
            <a:endParaRPr b="0" i="0" sz="25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0" sz="2500" u="none" cap="none" strike="noStrike">
              <a:solidFill>
                <a:srgbClr val="000000"/>
              </a:solidFill>
              <a:latin typeface="Times New Roman"/>
              <a:ea typeface="Times New Roman"/>
              <a:cs typeface="Times New Roman"/>
              <a:sym typeface="Times New Roman"/>
            </a:endParaRPr>
          </a:p>
          <a:p>
            <a:pPr indent="-387350" lvl="0" marL="457200" marR="0" rtl="0" algn="l">
              <a:lnSpc>
                <a:spcPct val="100000"/>
              </a:lnSpc>
              <a:spcBef>
                <a:spcPts val="0"/>
              </a:spcBef>
              <a:spcAft>
                <a:spcPts val="0"/>
              </a:spcAft>
              <a:buClr>
                <a:srgbClr val="000000"/>
              </a:buClr>
              <a:buSzPts val="2500"/>
              <a:buFont typeface="Times New Roman"/>
              <a:buChar char="●"/>
            </a:pPr>
            <a:r>
              <a:rPr b="0" i="0" lang="en-IN" sz="2500" u="none" cap="none" strike="noStrike">
                <a:solidFill>
                  <a:srgbClr val="000000"/>
                </a:solidFill>
                <a:latin typeface="Times New Roman"/>
                <a:ea typeface="Times New Roman"/>
                <a:cs typeface="Times New Roman"/>
                <a:sym typeface="Times New Roman"/>
              </a:rPr>
              <a:t>The programming  paradigm where everything is represented as an object is known as a truly object-  oriented programming language.</a:t>
            </a:r>
            <a:endParaRPr b="0" i="0" sz="25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0" sz="2500" u="none" cap="none" strike="noStrike">
              <a:solidFill>
                <a:srgbClr val="000000"/>
              </a:solidFill>
              <a:latin typeface="Times New Roman"/>
              <a:ea typeface="Times New Roman"/>
              <a:cs typeface="Times New Roman"/>
              <a:sym typeface="Times New Roman"/>
            </a:endParaRPr>
          </a:p>
          <a:p>
            <a:pPr indent="-387350" lvl="0" marL="457200" marR="0" rtl="0" algn="l">
              <a:lnSpc>
                <a:spcPct val="100000"/>
              </a:lnSpc>
              <a:spcBef>
                <a:spcPts val="0"/>
              </a:spcBef>
              <a:spcAft>
                <a:spcPts val="0"/>
              </a:spcAft>
              <a:buClr>
                <a:srgbClr val="000000"/>
              </a:buClr>
              <a:buSzPts val="2500"/>
              <a:buFont typeface="Times New Roman"/>
              <a:buChar char="●"/>
            </a:pPr>
            <a:r>
              <a:rPr b="0" i="0" lang="en-IN" sz="2500" u="none" cap="none" strike="noStrike">
                <a:solidFill>
                  <a:srgbClr val="000000"/>
                </a:solidFill>
                <a:latin typeface="Times New Roman"/>
                <a:ea typeface="Times New Roman"/>
                <a:cs typeface="Times New Roman"/>
                <a:sym typeface="Times New Roman"/>
              </a:rPr>
              <a:t>Smalltalk is considered the first truly object-oriented programming language.</a:t>
            </a:r>
            <a:endParaRPr b="0" i="0" sz="25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0" sz="2500" u="none" cap="none" strike="noStrike">
              <a:solidFill>
                <a:srgbClr val="000000"/>
              </a:solidFill>
              <a:latin typeface="Times New Roman"/>
              <a:ea typeface="Times New Roman"/>
              <a:cs typeface="Times New Roman"/>
              <a:sym typeface="Times New Roman"/>
            </a:endParaRPr>
          </a:p>
          <a:p>
            <a:pPr indent="-387350" lvl="0" marL="457200" marR="0" rtl="0" algn="l">
              <a:lnSpc>
                <a:spcPct val="100000"/>
              </a:lnSpc>
              <a:spcBef>
                <a:spcPts val="0"/>
              </a:spcBef>
              <a:spcAft>
                <a:spcPts val="0"/>
              </a:spcAft>
              <a:buClr>
                <a:srgbClr val="000000"/>
              </a:buClr>
              <a:buSzPts val="2500"/>
              <a:buFont typeface="Times New Roman"/>
              <a:buChar char="●"/>
            </a:pPr>
            <a:r>
              <a:rPr b="0" i="0" lang="en-IN" sz="2500" u="none" cap="none" strike="noStrike">
                <a:solidFill>
                  <a:srgbClr val="000000"/>
                </a:solidFill>
                <a:latin typeface="Times New Roman"/>
                <a:ea typeface="Times New Roman"/>
                <a:cs typeface="Times New Roman"/>
                <a:sym typeface="Times New Roman"/>
              </a:rPr>
              <a:t>The popular object-oriented languages are Java, C#, PHP, Python, C++, etc.</a:t>
            </a:r>
            <a:endParaRPr b="0" i="0" sz="25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0" sz="2500" u="none" cap="none" strike="noStrike">
              <a:solidFill>
                <a:srgbClr val="000000"/>
              </a:solidFill>
              <a:latin typeface="Times New Roman"/>
              <a:ea typeface="Times New Roman"/>
              <a:cs typeface="Times New Roman"/>
              <a:sym typeface="Times New Roman"/>
            </a:endParaRPr>
          </a:p>
          <a:p>
            <a:pPr indent="-387350" lvl="0" marL="457200" marR="0" rtl="0" algn="l">
              <a:lnSpc>
                <a:spcPct val="100000"/>
              </a:lnSpc>
              <a:spcBef>
                <a:spcPts val="0"/>
              </a:spcBef>
              <a:spcAft>
                <a:spcPts val="0"/>
              </a:spcAft>
              <a:buClr>
                <a:srgbClr val="000000"/>
              </a:buClr>
              <a:buSzPts val="2500"/>
              <a:buFont typeface="Times New Roman"/>
              <a:buChar char="●"/>
            </a:pPr>
            <a:r>
              <a:rPr b="0" i="0" lang="en-IN" sz="2500" u="none" cap="none" strike="noStrike">
                <a:solidFill>
                  <a:srgbClr val="000000"/>
                </a:solidFill>
                <a:latin typeface="Times New Roman"/>
                <a:ea typeface="Times New Roman"/>
                <a:cs typeface="Times New Roman"/>
                <a:sym typeface="Times New Roman"/>
              </a:rPr>
              <a:t>Javascript is object based language where inheritance is not supported.</a:t>
            </a:r>
            <a:endParaRPr b="0" i="0" sz="25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2ef715dffd9_0_26"/>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OOPs Concepts</a:t>
            </a:r>
            <a:endParaRPr b="1" i="0" sz="1800" u="none" cap="none" strike="noStrike">
              <a:solidFill>
                <a:srgbClr val="D7AC54"/>
              </a:solidFill>
              <a:latin typeface="Cantarell"/>
              <a:ea typeface="Cantarell"/>
              <a:cs typeface="Cantarell"/>
              <a:sym typeface="Cantarell"/>
            </a:endParaRPr>
          </a:p>
        </p:txBody>
      </p:sp>
      <p:sp>
        <p:nvSpPr>
          <p:cNvPr id="95" name="Google Shape;95;g2ef715dffd9_0_26"/>
          <p:cNvSpPr txBox="1"/>
          <p:nvPr/>
        </p:nvSpPr>
        <p:spPr>
          <a:xfrm>
            <a:off x="805500" y="1304850"/>
            <a:ext cx="10581000" cy="4248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800" u="none" cap="none" strike="noStrike">
                <a:solidFill>
                  <a:schemeClr val="dk1"/>
                </a:solidFill>
                <a:latin typeface="Times New Roman"/>
                <a:ea typeface="Times New Roman"/>
                <a:cs typeface="Times New Roman"/>
                <a:sym typeface="Times New Roman"/>
              </a:rPr>
              <a:t>Object</a:t>
            </a:r>
            <a:endParaRPr b="1" i="0"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1" i="0" sz="2800" u="none" cap="none" strike="noStrike">
              <a:solidFill>
                <a:schemeClr val="dk1"/>
              </a:solidFill>
              <a:latin typeface="Times New Roman"/>
              <a:ea typeface="Times New Roman"/>
              <a:cs typeface="Times New Roman"/>
              <a:sym typeface="Times New Roman"/>
            </a:endParaRPr>
          </a:p>
          <a:p>
            <a:pPr indent="-393700" lvl="0" marL="457200" marR="0" rtl="0" algn="l">
              <a:lnSpc>
                <a:spcPct val="100000"/>
              </a:lnSpc>
              <a:spcBef>
                <a:spcPts val="0"/>
              </a:spcBef>
              <a:spcAft>
                <a:spcPts val="0"/>
              </a:spcAft>
              <a:buClr>
                <a:srgbClr val="000000"/>
              </a:buClr>
              <a:buSzPts val="2600"/>
              <a:buFont typeface="Times New Roman"/>
              <a:buChar char="●"/>
            </a:pPr>
            <a:r>
              <a:rPr b="0" i="0" lang="en-IN" sz="2600" u="none" cap="none" strike="noStrike">
                <a:solidFill>
                  <a:srgbClr val="000000"/>
                </a:solidFill>
                <a:latin typeface="Times New Roman"/>
                <a:ea typeface="Times New Roman"/>
                <a:cs typeface="Times New Roman"/>
                <a:sym typeface="Times New Roman"/>
              </a:rPr>
              <a:t>Any entity that has state and behavior is known as an object. For example, a chair, pen,  table, keyboard, bike, etc. It can be physical or logical.</a:t>
            </a:r>
            <a:endParaRPr b="0" i="0" sz="26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0" sz="2600" u="none" cap="none" strike="noStrike">
              <a:solidFill>
                <a:srgbClr val="000000"/>
              </a:solidFill>
              <a:latin typeface="Times New Roman"/>
              <a:ea typeface="Times New Roman"/>
              <a:cs typeface="Times New Roman"/>
              <a:sym typeface="Times New Roman"/>
            </a:endParaRPr>
          </a:p>
          <a:p>
            <a:pPr indent="-393700" lvl="0" marL="457200" marR="0" rtl="0" algn="l">
              <a:lnSpc>
                <a:spcPct val="100000"/>
              </a:lnSpc>
              <a:spcBef>
                <a:spcPts val="0"/>
              </a:spcBef>
              <a:spcAft>
                <a:spcPts val="0"/>
              </a:spcAft>
              <a:buClr>
                <a:srgbClr val="000000"/>
              </a:buClr>
              <a:buSzPts val="2600"/>
              <a:buFont typeface="Times New Roman"/>
              <a:buChar char="●"/>
            </a:pPr>
            <a:r>
              <a:rPr b="0" i="0" lang="en-IN" sz="2600" u="none" cap="none" strike="noStrike">
                <a:solidFill>
                  <a:srgbClr val="000000"/>
                </a:solidFill>
                <a:latin typeface="Times New Roman"/>
                <a:ea typeface="Times New Roman"/>
                <a:cs typeface="Times New Roman"/>
                <a:sym typeface="Times New Roman"/>
              </a:rPr>
              <a:t>An Object can be defined as an instance of a class. An object contains an address and  takes up some space in memory.</a:t>
            </a:r>
            <a:endParaRPr b="0" i="0" sz="26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0" sz="2600" u="none" cap="none" strike="noStrike">
              <a:solidFill>
                <a:srgbClr val="000000"/>
              </a:solidFill>
              <a:latin typeface="Times New Roman"/>
              <a:ea typeface="Times New Roman"/>
              <a:cs typeface="Times New Roman"/>
              <a:sym typeface="Times New Roman"/>
            </a:endParaRPr>
          </a:p>
          <a:p>
            <a:pPr indent="-393700" lvl="0" marL="457200" marR="0" rtl="0" algn="l">
              <a:lnSpc>
                <a:spcPct val="100000"/>
              </a:lnSpc>
              <a:spcBef>
                <a:spcPts val="0"/>
              </a:spcBef>
              <a:spcAft>
                <a:spcPts val="0"/>
              </a:spcAft>
              <a:buClr>
                <a:srgbClr val="000000"/>
              </a:buClr>
              <a:buSzPts val="2600"/>
              <a:buFont typeface="Times New Roman"/>
              <a:buChar char="●"/>
            </a:pPr>
            <a:r>
              <a:rPr b="0" i="0" lang="en-IN" sz="2600" u="none" cap="none" strike="noStrike">
                <a:solidFill>
                  <a:srgbClr val="000000"/>
                </a:solidFill>
                <a:latin typeface="Times New Roman"/>
                <a:ea typeface="Times New Roman"/>
                <a:cs typeface="Times New Roman"/>
                <a:sym typeface="Times New Roman"/>
              </a:rPr>
              <a:t>Example: A dog is an object because it has states like color, name, breed, etc. as well as  behaviors like wagging the tail, barking, eating, etc.</a:t>
            </a:r>
            <a:endParaRPr b="0"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2ef715dffd9_0_10"/>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OOPs Concepts</a:t>
            </a:r>
            <a:endParaRPr b="1" i="0" sz="1800" u="none" cap="none" strike="noStrike">
              <a:solidFill>
                <a:srgbClr val="D7AC54"/>
              </a:solidFill>
              <a:latin typeface="Cantarell"/>
              <a:ea typeface="Cantarell"/>
              <a:cs typeface="Cantarell"/>
              <a:sym typeface="Cantarell"/>
            </a:endParaRPr>
          </a:p>
        </p:txBody>
      </p:sp>
      <p:pic>
        <p:nvPicPr>
          <p:cNvPr id="101" name="Google Shape;101;g2ef715dffd9_0_10"/>
          <p:cNvPicPr preferRelativeResize="0"/>
          <p:nvPr/>
        </p:nvPicPr>
        <p:blipFill rotWithShape="1">
          <a:blip r:embed="rId3">
            <a:alphaModFix/>
          </a:blip>
          <a:srcRect b="0" l="0" r="0" t="0"/>
          <a:stretch/>
        </p:blipFill>
        <p:spPr>
          <a:xfrm>
            <a:off x="3105500" y="1360596"/>
            <a:ext cx="5572800" cy="4335910"/>
          </a:xfrm>
          <a:prstGeom prst="rect">
            <a:avLst/>
          </a:prstGeom>
          <a:noFill/>
          <a:ln>
            <a:noFill/>
          </a:ln>
        </p:spPr>
      </p:pic>
      <p:sp>
        <p:nvSpPr>
          <p:cNvPr id="102" name="Google Shape;102;g2ef715dffd9_0_10"/>
          <p:cNvSpPr txBox="1"/>
          <p:nvPr/>
        </p:nvSpPr>
        <p:spPr>
          <a:xfrm>
            <a:off x="4581750" y="6363050"/>
            <a:ext cx="2900100" cy="323100"/>
          </a:xfrm>
          <a:prstGeom prst="rect">
            <a:avLst/>
          </a:prstGeom>
          <a:noFill/>
          <a:ln>
            <a:noFill/>
          </a:ln>
        </p:spPr>
        <p:txBody>
          <a:bodyPr anchorCtr="0" anchor="t" bIns="91425" lIns="91425" spcFirstLastPara="1" rIns="91425" wrap="square" tIns="91425">
            <a:spAutoFit/>
          </a:bodyPr>
          <a:lstStyle/>
          <a:p>
            <a:pPr indent="0" lvl="0" marL="12700" marR="0" rtl="0" algn="l">
              <a:lnSpc>
                <a:spcPct val="115000"/>
              </a:lnSpc>
              <a:spcBef>
                <a:spcPts val="100"/>
              </a:spcBef>
              <a:spcAft>
                <a:spcPts val="0"/>
              </a:spcAft>
              <a:buClr>
                <a:srgbClr val="000000"/>
              </a:buClr>
              <a:buSzPts val="900"/>
              <a:buFont typeface="Arial"/>
              <a:buNone/>
            </a:pPr>
            <a:r>
              <a:rPr b="0" i="0" lang="en-IN" sz="900" u="none" cap="none" strike="noStrike">
                <a:solidFill>
                  <a:schemeClr val="lt1"/>
                </a:solidFill>
                <a:latin typeface="Calibri"/>
                <a:ea typeface="Calibri"/>
                <a:cs typeface="Calibri"/>
                <a:sym typeface="Calibri"/>
              </a:rPr>
              <a:t>source: </a:t>
            </a:r>
            <a:r>
              <a:rPr b="0" i="0" lang="en-IN" sz="900" u="sng" cap="none" strike="noStrike">
                <a:solidFill>
                  <a:schemeClr val="lt1"/>
                </a:solidFill>
                <a:latin typeface="Calibri"/>
                <a:ea typeface="Calibri"/>
                <a:cs typeface="Calibri"/>
                <a:sym typeface="Calibri"/>
                <a:hlinkClick r:id="rId4">
                  <a:extLst>
                    <a:ext uri="{A12FA001-AC4F-418D-AE19-62706E023703}">
                      <ahyp:hlinkClr val="tx"/>
                    </a:ext>
                  </a:extLst>
                </a:hlinkClick>
              </a:rPr>
              <a:t>https://www.javatpoint.com/java-tutorial</a:t>
            </a:r>
            <a:endParaRPr b="0" i="0" sz="900" u="sng" cap="none" strike="noStrike">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2ef7db30dbc_0_0"/>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OOPs Concepts</a:t>
            </a:r>
            <a:endParaRPr b="1" i="0" sz="1800" u="none" cap="none" strike="noStrike">
              <a:solidFill>
                <a:srgbClr val="D7AC54"/>
              </a:solidFill>
              <a:latin typeface="Cantarell"/>
              <a:ea typeface="Cantarell"/>
              <a:cs typeface="Cantarell"/>
              <a:sym typeface="Cantarell"/>
            </a:endParaRPr>
          </a:p>
        </p:txBody>
      </p:sp>
      <p:sp>
        <p:nvSpPr>
          <p:cNvPr id="108" name="Google Shape;108;g2ef7db30dbc_0_0"/>
          <p:cNvSpPr txBox="1"/>
          <p:nvPr/>
        </p:nvSpPr>
        <p:spPr>
          <a:xfrm>
            <a:off x="805500" y="1350250"/>
            <a:ext cx="10581000" cy="3078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400" u="none" cap="none" strike="noStrike">
                <a:solidFill>
                  <a:schemeClr val="dk1"/>
                </a:solidFill>
                <a:latin typeface="Times New Roman"/>
                <a:ea typeface="Times New Roman"/>
                <a:cs typeface="Times New Roman"/>
                <a:sym typeface="Times New Roman"/>
              </a:rPr>
              <a:t>Class</a:t>
            </a:r>
            <a:endParaRPr b="1" i="0" sz="2400" u="none" cap="none" strike="noStrike">
              <a:solidFill>
                <a:schemeClr val="dk1"/>
              </a:solidFill>
              <a:latin typeface="Times New Roman"/>
              <a:ea typeface="Times New Roman"/>
              <a:cs typeface="Times New Roman"/>
              <a:sym typeface="Times New Roman"/>
            </a:endParaRPr>
          </a:p>
          <a:p>
            <a:pPr indent="-381000" lvl="0" marL="457200" marR="0" rtl="0" algn="l">
              <a:lnSpc>
                <a:spcPct val="100000"/>
              </a:lnSpc>
              <a:spcBef>
                <a:spcPts val="0"/>
              </a:spcBef>
              <a:spcAft>
                <a:spcPts val="0"/>
              </a:spcAft>
              <a:buClr>
                <a:srgbClr val="000000"/>
              </a:buClr>
              <a:buSzPts val="2400"/>
              <a:buFont typeface="Times New Roman"/>
              <a:buChar char="●"/>
            </a:pPr>
            <a:r>
              <a:rPr b="0" i="0" lang="en-IN" sz="2400" u="none" cap="none" strike="noStrike">
                <a:solidFill>
                  <a:srgbClr val="000000"/>
                </a:solidFill>
                <a:latin typeface="Times New Roman"/>
                <a:ea typeface="Times New Roman"/>
                <a:cs typeface="Times New Roman"/>
                <a:sym typeface="Times New Roman"/>
              </a:rPr>
              <a:t>Collection of objects is called class. It is a logical entity.</a:t>
            </a:r>
            <a:endParaRPr b="0" i="0" sz="2400" u="none" cap="none" strike="noStrike">
              <a:solidFill>
                <a:srgbClr val="000000"/>
              </a:solidFill>
              <a:latin typeface="Times New Roman"/>
              <a:ea typeface="Times New Roman"/>
              <a:cs typeface="Times New Roman"/>
              <a:sym typeface="Times New Roman"/>
            </a:endParaRPr>
          </a:p>
          <a:p>
            <a:pPr indent="-381000" lvl="0" marL="457200" marR="0" rtl="0" algn="l">
              <a:lnSpc>
                <a:spcPct val="100000"/>
              </a:lnSpc>
              <a:spcBef>
                <a:spcPts val="0"/>
              </a:spcBef>
              <a:spcAft>
                <a:spcPts val="0"/>
              </a:spcAft>
              <a:buClr>
                <a:srgbClr val="000000"/>
              </a:buClr>
              <a:buSzPts val="2400"/>
              <a:buFont typeface="Times New Roman"/>
              <a:buChar char="●"/>
            </a:pPr>
            <a:r>
              <a:rPr b="0" i="0" lang="en-IN" sz="2400" u="none" cap="none" strike="noStrike">
                <a:solidFill>
                  <a:srgbClr val="000000"/>
                </a:solidFill>
                <a:latin typeface="Times New Roman"/>
                <a:ea typeface="Times New Roman"/>
                <a:cs typeface="Times New Roman"/>
                <a:sym typeface="Times New Roman"/>
              </a:rPr>
              <a:t>A class can also be defined as a blueprint from which you can create an individual object.  </a:t>
            </a:r>
            <a:endParaRPr b="0" i="0" sz="2400" u="none" cap="none" strike="noStrike">
              <a:solidFill>
                <a:srgbClr val="000000"/>
              </a:solidFill>
              <a:latin typeface="Times New Roman"/>
              <a:ea typeface="Times New Roman"/>
              <a:cs typeface="Times New Roman"/>
              <a:sym typeface="Times New Roman"/>
            </a:endParaRPr>
          </a:p>
          <a:p>
            <a:pPr indent="-381000" lvl="0" marL="457200" marR="0" rtl="0" algn="l">
              <a:lnSpc>
                <a:spcPct val="100000"/>
              </a:lnSpc>
              <a:spcBef>
                <a:spcPts val="0"/>
              </a:spcBef>
              <a:spcAft>
                <a:spcPts val="0"/>
              </a:spcAft>
              <a:buClr>
                <a:srgbClr val="000000"/>
              </a:buClr>
              <a:buSzPts val="2400"/>
              <a:buFont typeface="Times New Roman"/>
              <a:buChar char="●"/>
            </a:pPr>
            <a:r>
              <a:rPr b="0" i="0" lang="en-IN" sz="2400" u="none" cap="none" strike="noStrike">
                <a:solidFill>
                  <a:srgbClr val="000000"/>
                </a:solidFill>
                <a:latin typeface="Times New Roman"/>
                <a:ea typeface="Times New Roman"/>
                <a:cs typeface="Times New Roman"/>
                <a:sym typeface="Times New Roman"/>
              </a:rPr>
              <a:t>Class doesn't consume any space.</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9" name="Google Shape;109;g2ef7db30dbc_0_0"/>
          <p:cNvSpPr txBox="1"/>
          <p:nvPr/>
        </p:nvSpPr>
        <p:spPr>
          <a:xfrm>
            <a:off x="6472125" y="3390450"/>
            <a:ext cx="3000000" cy="203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IN" sz="2000" u="none" cap="none" strike="noStrike">
                <a:solidFill>
                  <a:schemeClr val="dk1"/>
                </a:solidFill>
                <a:latin typeface="Times New Roman"/>
                <a:ea typeface="Times New Roman"/>
                <a:cs typeface="Times New Roman"/>
                <a:sym typeface="Times New Roman"/>
              </a:rPr>
              <a:t>Class student</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IN" sz="2000" u="none" cap="none" strike="noStrike">
                <a:solidFill>
                  <a:schemeClr val="dk1"/>
                </a:solidFill>
                <a:latin typeface="Times New Roman"/>
                <a:ea typeface="Times New Roman"/>
                <a:cs typeface="Times New Roman"/>
                <a:sym typeface="Times New Roman"/>
              </a:rPr>
              <a:t>{</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IN" sz="2000" u="none" cap="none" strike="noStrike">
                <a:solidFill>
                  <a:schemeClr val="dk1"/>
                </a:solidFill>
                <a:latin typeface="Times New Roman"/>
                <a:ea typeface="Times New Roman"/>
                <a:cs typeface="Times New Roman"/>
                <a:sym typeface="Times New Roman"/>
              </a:rPr>
              <a:t>int rollno;</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IN" sz="2000" u="none" cap="none" strike="noStrike">
                <a:solidFill>
                  <a:schemeClr val="dk1"/>
                </a:solidFill>
                <a:latin typeface="Times New Roman"/>
                <a:ea typeface="Times New Roman"/>
                <a:cs typeface="Times New Roman"/>
                <a:sym typeface="Times New Roman"/>
              </a:rPr>
              <a:t>String name;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IN" sz="2000" u="none" cap="none" strike="noStrike">
                <a:solidFill>
                  <a:schemeClr val="dk1"/>
                </a:solidFill>
                <a:latin typeface="Times New Roman"/>
                <a:ea typeface="Times New Roman"/>
                <a:cs typeface="Times New Roman"/>
                <a:sym typeface="Times New Roman"/>
              </a:rPr>
              <a:t>Void display();</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IN" sz="20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110" name="Google Shape;110;g2ef7db30dbc_0_0"/>
          <p:cNvSpPr txBox="1"/>
          <p:nvPr/>
        </p:nvSpPr>
        <p:spPr>
          <a:xfrm>
            <a:off x="2280775" y="3544500"/>
            <a:ext cx="3000000" cy="1723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IN" sz="2000" u="none" cap="none" strike="noStrike">
                <a:solidFill>
                  <a:schemeClr val="dk1"/>
                </a:solidFill>
                <a:latin typeface="Times New Roman"/>
                <a:ea typeface="Times New Roman"/>
                <a:cs typeface="Times New Roman"/>
                <a:sym typeface="Times New Roman"/>
              </a:rPr>
              <a:t>Struct student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IN" sz="2000" u="none" cap="none" strike="noStrike">
                <a:solidFill>
                  <a:schemeClr val="dk1"/>
                </a:solidFill>
                <a:latin typeface="Times New Roman"/>
                <a:ea typeface="Times New Roman"/>
                <a:cs typeface="Times New Roman"/>
                <a:sym typeface="Times New Roman"/>
              </a:rPr>
              <a:t>{</a:t>
            </a:r>
            <a:endParaRPr b="0" i="0" sz="2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IN" sz="2000" u="none" cap="none" strike="noStrike">
                <a:solidFill>
                  <a:schemeClr val="dk1"/>
                </a:solidFill>
                <a:latin typeface="Times New Roman"/>
                <a:ea typeface="Times New Roman"/>
                <a:cs typeface="Times New Roman"/>
                <a:sym typeface="Times New Roman"/>
              </a:rPr>
              <a:t>int rollno;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IN" sz="2000" u="none" cap="none" strike="noStrike">
                <a:solidFill>
                  <a:schemeClr val="dk1"/>
                </a:solidFill>
                <a:latin typeface="Times New Roman"/>
                <a:ea typeface="Times New Roman"/>
                <a:cs typeface="Times New Roman"/>
                <a:sym typeface="Times New Roman"/>
              </a:rPr>
              <a:t>String name;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IN" sz="20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cxnSp>
        <p:nvCxnSpPr>
          <p:cNvPr id="111" name="Google Shape;111;g2ef7db30dbc_0_0"/>
          <p:cNvCxnSpPr/>
          <p:nvPr/>
        </p:nvCxnSpPr>
        <p:spPr>
          <a:xfrm>
            <a:off x="5492475" y="3277200"/>
            <a:ext cx="10200" cy="22584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2ef7db30dbc_0_8"/>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OOPs Concepts</a:t>
            </a:r>
            <a:endParaRPr b="1" i="0" sz="1800" u="none" cap="none" strike="noStrike">
              <a:solidFill>
                <a:srgbClr val="D7AC54"/>
              </a:solidFill>
              <a:latin typeface="Cantarell"/>
              <a:ea typeface="Cantarell"/>
              <a:cs typeface="Cantarell"/>
              <a:sym typeface="Cantarell"/>
            </a:endParaRPr>
          </a:p>
        </p:txBody>
      </p:sp>
      <p:sp>
        <p:nvSpPr>
          <p:cNvPr id="117" name="Google Shape;117;g2ef7db30dbc_0_8"/>
          <p:cNvSpPr txBox="1"/>
          <p:nvPr/>
        </p:nvSpPr>
        <p:spPr>
          <a:xfrm>
            <a:off x="821450" y="1605600"/>
            <a:ext cx="10581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pic>
        <p:nvPicPr>
          <p:cNvPr id="118" name="Google Shape;118;g2ef7db30dbc_0_8"/>
          <p:cNvPicPr preferRelativeResize="0"/>
          <p:nvPr/>
        </p:nvPicPr>
        <p:blipFill rotWithShape="1">
          <a:blip r:embed="rId3">
            <a:alphaModFix/>
          </a:blip>
          <a:srcRect b="0" l="0" r="0" t="0"/>
          <a:stretch/>
        </p:blipFill>
        <p:spPr>
          <a:xfrm>
            <a:off x="1605075" y="1520525"/>
            <a:ext cx="9010224" cy="3816975"/>
          </a:xfrm>
          <a:prstGeom prst="rect">
            <a:avLst/>
          </a:prstGeom>
          <a:noFill/>
          <a:ln>
            <a:noFill/>
          </a:ln>
        </p:spPr>
      </p:pic>
      <p:sp>
        <p:nvSpPr>
          <p:cNvPr id="119" name="Google Shape;119;g2ef7db30dbc_0_8"/>
          <p:cNvSpPr txBox="1"/>
          <p:nvPr/>
        </p:nvSpPr>
        <p:spPr>
          <a:xfrm>
            <a:off x="4581750" y="6363050"/>
            <a:ext cx="2900100" cy="323100"/>
          </a:xfrm>
          <a:prstGeom prst="rect">
            <a:avLst/>
          </a:prstGeom>
          <a:noFill/>
          <a:ln>
            <a:noFill/>
          </a:ln>
        </p:spPr>
        <p:txBody>
          <a:bodyPr anchorCtr="0" anchor="t" bIns="91425" lIns="91425" spcFirstLastPara="1" rIns="91425" wrap="square" tIns="91425">
            <a:spAutoFit/>
          </a:bodyPr>
          <a:lstStyle/>
          <a:p>
            <a:pPr indent="0" lvl="0" marL="12700" marR="0" rtl="0" algn="l">
              <a:lnSpc>
                <a:spcPct val="115000"/>
              </a:lnSpc>
              <a:spcBef>
                <a:spcPts val="100"/>
              </a:spcBef>
              <a:spcAft>
                <a:spcPts val="0"/>
              </a:spcAft>
              <a:buClr>
                <a:srgbClr val="000000"/>
              </a:buClr>
              <a:buSzPts val="900"/>
              <a:buFont typeface="Arial"/>
              <a:buNone/>
            </a:pPr>
            <a:r>
              <a:rPr b="0" i="0" lang="en-IN" sz="900" u="none" cap="none" strike="noStrike">
                <a:solidFill>
                  <a:schemeClr val="lt1"/>
                </a:solidFill>
                <a:latin typeface="Calibri"/>
                <a:ea typeface="Calibri"/>
                <a:cs typeface="Calibri"/>
                <a:sym typeface="Calibri"/>
              </a:rPr>
              <a:t>source: </a:t>
            </a:r>
            <a:r>
              <a:rPr b="0" i="0" lang="en-IN" sz="900" u="sng" cap="none" strike="noStrike">
                <a:solidFill>
                  <a:schemeClr val="lt1"/>
                </a:solidFill>
                <a:latin typeface="Calibri"/>
                <a:ea typeface="Calibri"/>
                <a:cs typeface="Calibri"/>
                <a:sym typeface="Calibri"/>
                <a:hlinkClick r:id="rId4">
                  <a:extLst>
                    <a:ext uri="{A12FA001-AC4F-418D-AE19-62706E023703}">
                      <ahyp:hlinkClr val="tx"/>
                    </a:ext>
                  </a:extLst>
                </a:hlinkClick>
              </a:rPr>
              <a:t>https://www.javatpoint.com/java-tutorial</a:t>
            </a:r>
            <a:endParaRPr b="0" i="0" sz="900" u="sng" cap="none" strike="noStrike">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2ef7db30dbc_1_10"/>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OOPs Concepts</a:t>
            </a:r>
            <a:endParaRPr b="1" i="0" sz="1800" u="none" cap="none" strike="noStrike">
              <a:solidFill>
                <a:srgbClr val="D7AC54"/>
              </a:solidFill>
              <a:latin typeface="Cantarell"/>
              <a:ea typeface="Cantarell"/>
              <a:cs typeface="Cantarell"/>
              <a:sym typeface="Cantarell"/>
            </a:endParaRPr>
          </a:p>
        </p:txBody>
      </p:sp>
      <p:sp>
        <p:nvSpPr>
          <p:cNvPr id="125" name="Google Shape;125;g2ef7db30dbc_1_10"/>
          <p:cNvSpPr txBox="1"/>
          <p:nvPr/>
        </p:nvSpPr>
        <p:spPr>
          <a:xfrm>
            <a:off x="805500" y="1459675"/>
            <a:ext cx="10581000" cy="31863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chemeClr val="dk1"/>
              </a:buClr>
              <a:buSzPts val="1100"/>
              <a:buFont typeface="Arial"/>
              <a:buNone/>
            </a:pPr>
            <a:r>
              <a:rPr b="1" i="0" lang="en-IN" sz="2700" u="none" cap="none" strike="noStrike">
                <a:solidFill>
                  <a:schemeClr val="dk1"/>
                </a:solidFill>
                <a:latin typeface="Times New Roman"/>
                <a:ea typeface="Times New Roman"/>
                <a:cs typeface="Times New Roman"/>
                <a:sym typeface="Times New Roman"/>
              </a:rPr>
              <a:t>Abstraction</a:t>
            </a:r>
            <a:endParaRPr b="1" i="0" sz="27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rPr b="0" i="1" lang="en-IN" sz="2700" u="none" cap="none" strike="noStrike">
                <a:solidFill>
                  <a:schemeClr val="dk1"/>
                </a:solidFill>
                <a:latin typeface="Times New Roman"/>
                <a:ea typeface="Times New Roman"/>
                <a:cs typeface="Times New Roman"/>
                <a:sym typeface="Times New Roman"/>
              </a:rPr>
              <a:t>Hiding internal details and showing functionality is known as abstraction.</a:t>
            </a:r>
            <a:r>
              <a:rPr b="0" i="0" lang="en-IN" sz="2700" u="none" cap="none" strike="noStrike">
                <a:solidFill>
                  <a:schemeClr val="dk1"/>
                </a:solidFill>
                <a:latin typeface="Times New Roman"/>
                <a:ea typeface="Times New Roman"/>
                <a:cs typeface="Times New Roman"/>
                <a:sym typeface="Times New Roman"/>
              </a:rPr>
              <a:t> </a:t>
            </a:r>
            <a:endParaRPr b="0" i="0" sz="27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0" sz="27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chemeClr val="dk1"/>
              </a:buClr>
              <a:buSzPts val="1100"/>
              <a:buFont typeface="Arial"/>
              <a:buNone/>
            </a:pPr>
            <a:r>
              <a:rPr b="0" i="0" lang="en-IN" sz="2700" u="none" cap="none" strike="noStrike">
                <a:solidFill>
                  <a:schemeClr val="dk1"/>
                </a:solidFill>
                <a:latin typeface="Times New Roman"/>
                <a:ea typeface="Times New Roman"/>
                <a:cs typeface="Times New Roman"/>
                <a:sym typeface="Times New Roman"/>
              </a:rPr>
              <a:t>For example  phone call, we don't know the internal processing.</a:t>
            </a:r>
            <a:endParaRPr b="0" i="0" sz="27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chemeClr val="dk1"/>
              </a:buClr>
              <a:buSzPts val="1100"/>
              <a:buFont typeface="Arial"/>
              <a:buNone/>
            </a:pPr>
            <a:r>
              <a:t/>
            </a:r>
            <a:endParaRPr b="1" i="0" sz="2000" u="none" cap="none" strike="noStrike">
              <a:solidFill>
                <a:srgbClr val="FF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2ef7db30dbc_1_17"/>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OOPs Concepts</a:t>
            </a:r>
            <a:endParaRPr b="1" i="0" sz="1800" u="none" cap="none" strike="noStrike">
              <a:solidFill>
                <a:srgbClr val="D7AC54"/>
              </a:solidFill>
              <a:latin typeface="Cantarell"/>
              <a:ea typeface="Cantarell"/>
              <a:cs typeface="Cantarell"/>
              <a:sym typeface="Cantarell"/>
            </a:endParaRPr>
          </a:p>
        </p:txBody>
      </p:sp>
      <p:sp>
        <p:nvSpPr>
          <p:cNvPr id="131" name="Google Shape;131;g2ef7db30dbc_1_17"/>
          <p:cNvSpPr txBox="1"/>
          <p:nvPr/>
        </p:nvSpPr>
        <p:spPr>
          <a:xfrm>
            <a:off x="805500" y="1130550"/>
            <a:ext cx="10581000" cy="37557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chemeClr val="dk1"/>
              </a:buClr>
              <a:buSzPts val="1100"/>
              <a:buFont typeface="Arial"/>
              <a:buNone/>
            </a:pPr>
            <a:r>
              <a:rPr b="1" i="0" lang="en-IN" sz="2400" u="none" cap="none" strike="noStrike">
                <a:solidFill>
                  <a:schemeClr val="dk1"/>
                </a:solidFill>
                <a:latin typeface="Times New Roman"/>
                <a:ea typeface="Times New Roman"/>
                <a:cs typeface="Times New Roman"/>
                <a:sym typeface="Times New Roman"/>
              </a:rPr>
              <a:t>Encapsulation</a:t>
            </a:r>
            <a:endParaRPr b="1" i="0" sz="24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rPr b="0" i="1" lang="en-IN" sz="2400" u="none" cap="none" strike="noStrike">
                <a:solidFill>
                  <a:schemeClr val="dk1"/>
                </a:solidFill>
                <a:latin typeface="Times New Roman"/>
                <a:ea typeface="Times New Roman"/>
                <a:cs typeface="Times New Roman"/>
                <a:sym typeface="Times New Roman"/>
              </a:rPr>
              <a:t>Binding (or wrapping) code and data together into a single unit are known as  encapsulation.</a:t>
            </a:r>
            <a:r>
              <a:rPr b="0" i="0" lang="en-IN" sz="2400" u="none" cap="none" strike="noStrike">
                <a:solidFill>
                  <a:schemeClr val="dk1"/>
                </a:solidFill>
                <a:latin typeface="Times New Roman"/>
                <a:ea typeface="Times New Roman"/>
                <a:cs typeface="Times New Roman"/>
                <a:sym typeface="Times New Roman"/>
              </a:rPr>
              <a:t> </a:t>
            </a:r>
            <a:endParaRPr b="0" i="0" sz="24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chemeClr val="dk1"/>
              </a:buClr>
              <a:buSzPts val="1100"/>
              <a:buFont typeface="Arial"/>
              <a:buNone/>
            </a:pPr>
            <a:r>
              <a:rPr b="0" i="0" lang="en-IN" sz="2400" u="none" cap="none" strike="noStrike">
                <a:solidFill>
                  <a:schemeClr val="dk1"/>
                </a:solidFill>
                <a:latin typeface="Times New Roman"/>
                <a:ea typeface="Times New Roman"/>
                <a:cs typeface="Times New Roman"/>
                <a:sym typeface="Times New Roman"/>
              </a:rPr>
              <a:t>For example, a capsule, it is wrapped with different medicines.</a:t>
            </a:r>
            <a:endParaRPr b="0" i="0" sz="24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chemeClr val="dk1"/>
              </a:buClr>
              <a:buSzPts val="1100"/>
              <a:buFont typeface="Arial"/>
              <a:buNone/>
            </a:pPr>
            <a:r>
              <a:rPr b="0" i="0" lang="en-IN" sz="2400" u="none" cap="none" strike="noStrike">
                <a:solidFill>
                  <a:schemeClr val="dk1"/>
                </a:solidFill>
                <a:latin typeface="Times New Roman"/>
                <a:ea typeface="Times New Roman"/>
                <a:cs typeface="Times New Roman"/>
                <a:sym typeface="Times New Roman"/>
              </a:rPr>
              <a:t>A java class is the example of encapsulation. Java bean is the fully encapsulated class  because all the data members are private here.</a:t>
            </a:r>
            <a:endParaRPr b="0" i="0" sz="24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chemeClr val="dk1"/>
              </a:buClr>
              <a:buSzPts val="1100"/>
              <a:buFont typeface="Arial"/>
              <a:buNone/>
            </a:pPr>
            <a:r>
              <a:t/>
            </a:r>
            <a:endParaRPr b="1" i="0" sz="2400" u="none" cap="none" strike="noStrike">
              <a:solidFill>
                <a:srgbClr val="FF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Times New Roman"/>
              <a:ea typeface="Times New Roman"/>
              <a:cs typeface="Times New Roman"/>
              <a:sym typeface="Times New Roman"/>
            </a:endParaRPr>
          </a:p>
        </p:txBody>
      </p:sp>
      <p:pic>
        <p:nvPicPr>
          <p:cNvPr id="132" name="Google Shape;132;g2ef7db30dbc_1_17"/>
          <p:cNvPicPr preferRelativeResize="0"/>
          <p:nvPr/>
        </p:nvPicPr>
        <p:blipFill rotWithShape="1">
          <a:blip r:embed="rId3">
            <a:alphaModFix/>
          </a:blip>
          <a:srcRect b="0" l="0" r="0" t="0"/>
          <a:stretch/>
        </p:blipFill>
        <p:spPr>
          <a:xfrm>
            <a:off x="4572100" y="4060350"/>
            <a:ext cx="3047800" cy="19696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2ef7db30dbc_1_25"/>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OOPs Concepts</a:t>
            </a:r>
            <a:endParaRPr b="1" i="0" sz="1800" u="none" cap="none" strike="noStrike">
              <a:solidFill>
                <a:srgbClr val="D7AC54"/>
              </a:solidFill>
              <a:latin typeface="Cantarell"/>
              <a:ea typeface="Cantarell"/>
              <a:cs typeface="Cantarell"/>
              <a:sym typeface="Cantarell"/>
            </a:endParaRPr>
          </a:p>
        </p:txBody>
      </p:sp>
      <p:sp>
        <p:nvSpPr>
          <p:cNvPr id="138" name="Google Shape;138;g2ef7db30dbc_1_25"/>
          <p:cNvSpPr txBox="1"/>
          <p:nvPr/>
        </p:nvSpPr>
        <p:spPr>
          <a:xfrm>
            <a:off x="821450" y="1605600"/>
            <a:ext cx="10581000" cy="31245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chemeClr val="dk1"/>
              </a:buClr>
              <a:buSzPts val="1100"/>
              <a:buFont typeface="Arial"/>
              <a:buNone/>
            </a:pPr>
            <a:r>
              <a:rPr b="1" i="0" lang="en-IN" sz="2700" u="none" cap="none" strike="noStrike">
                <a:solidFill>
                  <a:schemeClr val="dk1"/>
                </a:solidFill>
                <a:latin typeface="Times New Roman"/>
                <a:ea typeface="Times New Roman"/>
                <a:cs typeface="Times New Roman"/>
                <a:sym typeface="Times New Roman"/>
              </a:rPr>
              <a:t>Inheritance</a:t>
            </a:r>
            <a:endParaRPr b="1" i="0" sz="27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1" sz="24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rPr b="0" i="1" lang="en-IN" sz="2400" u="none" cap="none" strike="noStrike">
                <a:solidFill>
                  <a:schemeClr val="dk1"/>
                </a:solidFill>
                <a:latin typeface="Times New Roman"/>
                <a:ea typeface="Times New Roman"/>
                <a:cs typeface="Times New Roman"/>
                <a:sym typeface="Times New Roman"/>
              </a:rPr>
              <a:t>When one object acquires all the properties and behaviors of a parent object, it is known  as inheritance.</a:t>
            </a:r>
            <a:r>
              <a:rPr b="0" i="0" lang="en-IN" sz="2400" u="none" cap="none" strike="noStrike">
                <a:solidFill>
                  <a:schemeClr val="dk1"/>
                </a:solidFill>
                <a:latin typeface="Times New Roman"/>
                <a:ea typeface="Times New Roman"/>
                <a:cs typeface="Times New Roman"/>
                <a:sym typeface="Times New Roman"/>
              </a:rPr>
              <a:t> </a:t>
            </a:r>
            <a:endParaRPr b="0" i="0" sz="24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chemeClr val="dk1"/>
              </a:buClr>
              <a:buSzPts val="1100"/>
              <a:buFont typeface="Arial"/>
              <a:buNone/>
            </a:pPr>
            <a:r>
              <a:rPr b="0" i="0" lang="en-IN" sz="2400" u="none" cap="none" strike="noStrike">
                <a:solidFill>
                  <a:schemeClr val="dk1"/>
                </a:solidFill>
                <a:latin typeface="Times New Roman"/>
                <a:ea typeface="Times New Roman"/>
                <a:cs typeface="Times New Roman"/>
                <a:sym typeface="Times New Roman"/>
              </a:rPr>
              <a:t>It provides code reusability. It is used to achieve runtime polymorphism.</a:t>
            </a:r>
            <a:endParaRPr b="0" i="0" sz="24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chemeClr val="dk1"/>
              </a:buClr>
              <a:buSzPts val="1100"/>
              <a:buFont typeface="Arial"/>
              <a:buNone/>
            </a:pPr>
            <a:r>
              <a:t/>
            </a:r>
            <a:endParaRPr b="1" i="0" sz="2400" u="none" cap="none" strike="noStrike">
              <a:solidFill>
                <a:srgbClr val="FF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2ef7db30dbc_1_32"/>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OOPs Concepts</a:t>
            </a:r>
            <a:endParaRPr b="1" i="0" sz="1800" u="none" cap="none" strike="noStrike">
              <a:solidFill>
                <a:srgbClr val="D7AC54"/>
              </a:solidFill>
              <a:latin typeface="Cantarell"/>
              <a:ea typeface="Cantarell"/>
              <a:cs typeface="Cantarell"/>
              <a:sym typeface="Cantarell"/>
            </a:endParaRPr>
          </a:p>
        </p:txBody>
      </p:sp>
      <p:sp>
        <p:nvSpPr>
          <p:cNvPr id="144" name="Google Shape;144;g2ef7db30dbc_1_32"/>
          <p:cNvSpPr txBox="1"/>
          <p:nvPr/>
        </p:nvSpPr>
        <p:spPr>
          <a:xfrm>
            <a:off x="821450" y="1605600"/>
            <a:ext cx="10581000" cy="11082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Times New Roman"/>
              <a:ea typeface="Times New Roman"/>
              <a:cs typeface="Times New Roman"/>
              <a:sym typeface="Times New Roman"/>
            </a:endParaRPr>
          </a:p>
        </p:txBody>
      </p:sp>
      <p:pic>
        <p:nvPicPr>
          <p:cNvPr id="145" name="Google Shape;145;g2ef7db30dbc_1_32"/>
          <p:cNvPicPr preferRelativeResize="0"/>
          <p:nvPr/>
        </p:nvPicPr>
        <p:blipFill rotWithShape="1">
          <a:blip r:embed="rId3">
            <a:alphaModFix/>
          </a:blip>
          <a:srcRect b="0" l="0" r="0" t="0"/>
          <a:stretch/>
        </p:blipFill>
        <p:spPr>
          <a:xfrm>
            <a:off x="3620400" y="1518475"/>
            <a:ext cx="4418500" cy="4418500"/>
          </a:xfrm>
          <a:prstGeom prst="rect">
            <a:avLst/>
          </a:prstGeom>
          <a:noFill/>
          <a:ln>
            <a:noFill/>
          </a:ln>
        </p:spPr>
      </p:pic>
      <p:sp>
        <p:nvSpPr>
          <p:cNvPr id="146" name="Google Shape;146;g2ef7db30dbc_1_32"/>
          <p:cNvSpPr txBox="1"/>
          <p:nvPr/>
        </p:nvSpPr>
        <p:spPr>
          <a:xfrm>
            <a:off x="4581750" y="6363050"/>
            <a:ext cx="2900100" cy="323100"/>
          </a:xfrm>
          <a:prstGeom prst="rect">
            <a:avLst/>
          </a:prstGeom>
          <a:noFill/>
          <a:ln>
            <a:noFill/>
          </a:ln>
        </p:spPr>
        <p:txBody>
          <a:bodyPr anchorCtr="0" anchor="t" bIns="91425" lIns="91425" spcFirstLastPara="1" rIns="91425" wrap="square" tIns="91425">
            <a:spAutoFit/>
          </a:bodyPr>
          <a:lstStyle/>
          <a:p>
            <a:pPr indent="0" lvl="0" marL="12700" marR="0" rtl="0" algn="l">
              <a:lnSpc>
                <a:spcPct val="115000"/>
              </a:lnSpc>
              <a:spcBef>
                <a:spcPts val="100"/>
              </a:spcBef>
              <a:spcAft>
                <a:spcPts val="0"/>
              </a:spcAft>
              <a:buClr>
                <a:srgbClr val="000000"/>
              </a:buClr>
              <a:buSzPts val="900"/>
              <a:buFont typeface="Arial"/>
              <a:buNone/>
            </a:pPr>
            <a:r>
              <a:rPr b="0" i="0" lang="en-IN" sz="900" u="none" cap="none" strike="noStrike">
                <a:solidFill>
                  <a:schemeClr val="lt1"/>
                </a:solidFill>
                <a:latin typeface="Calibri"/>
                <a:ea typeface="Calibri"/>
                <a:cs typeface="Calibri"/>
                <a:sym typeface="Calibri"/>
              </a:rPr>
              <a:t>source: </a:t>
            </a:r>
            <a:r>
              <a:rPr b="0" i="0" lang="en-IN" sz="900" u="sng" cap="none" strike="noStrike">
                <a:solidFill>
                  <a:schemeClr val="lt1"/>
                </a:solidFill>
                <a:latin typeface="Calibri"/>
                <a:ea typeface="Calibri"/>
                <a:cs typeface="Calibri"/>
                <a:sym typeface="Calibri"/>
                <a:hlinkClick r:id="rId4">
                  <a:extLst>
                    <a:ext uri="{A12FA001-AC4F-418D-AE19-62706E023703}">
                      <ahyp:hlinkClr val="tx"/>
                    </a:ext>
                  </a:extLst>
                </a:hlinkClick>
              </a:rPr>
              <a:t>https://www.javatpoint.com/java-tutorial</a:t>
            </a:r>
            <a:endParaRPr b="0" i="0" sz="900" u="sng" cap="none" strike="noStrike">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2ef7db30dbc_1_42"/>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OOPs Concepts</a:t>
            </a:r>
            <a:endParaRPr b="1" i="0" sz="1800" u="none" cap="none" strike="noStrike">
              <a:solidFill>
                <a:srgbClr val="D7AC54"/>
              </a:solidFill>
              <a:latin typeface="Cantarell"/>
              <a:ea typeface="Cantarell"/>
              <a:cs typeface="Cantarell"/>
              <a:sym typeface="Cantarell"/>
            </a:endParaRPr>
          </a:p>
        </p:txBody>
      </p:sp>
      <p:sp>
        <p:nvSpPr>
          <p:cNvPr id="152" name="Google Shape;152;g2ef7db30dbc_1_42"/>
          <p:cNvSpPr txBox="1"/>
          <p:nvPr/>
        </p:nvSpPr>
        <p:spPr>
          <a:xfrm>
            <a:off x="821450" y="1605600"/>
            <a:ext cx="10581000" cy="49410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chemeClr val="dk1"/>
              </a:buClr>
              <a:buSzPts val="1100"/>
              <a:buFont typeface="Arial"/>
              <a:buNone/>
            </a:pPr>
            <a:r>
              <a:rPr b="1" i="0" lang="en-IN" sz="2500" u="none" cap="none" strike="noStrike">
                <a:solidFill>
                  <a:schemeClr val="dk1"/>
                </a:solidFill>
                <a:latin typeface="Times New Roman"/>
                <a:ea typeface="Times New Roman"/>
                <a:cs typeface="Times New Roman"/>
                <a:sym typeface="Times New Roman"/>
              </a:rPr>
              <a:t>Polymorphism</a:t>
            </a:r>
            <a:endParaRPr b="1" i="0" sz="25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rPr b="0" i="1" lang="en-IN" sz="2400" u="none" cap="none" strike="noStrike">
                <a:solidFill>
                  <a:schemeClr val="dk1"/>
                </a:solidFill>
                <a:latin typeface="Times New Roman"/>
                <a:ea typeface="Times New Roman"/>
                <a:cs typeface="Times New Roman"/>
                <a:sym typeface="Times New Roman"/>
              </a:rPr>
              <a:t>If one task is performed in different ways, it is known as polymorphism.</a:t>
            </a:r>
            <a:r>
              <a:rPr b="0" i="0" lang="en-IN" sz="2400" u="none" cap="none" strike="noStrike">
                <a:solidFill>
                  <a:schemeClr val="dk1"/>
                </a:solidFill>
                <a:latin typeface="Times New Roman"/>
                <a:ea typeface="Times New Roman"/>
                <a:cs typeface="Times New Roman"/>
                <a:sym typeface="Times New Roman"/>
              </a:rPr>
              <a:t> </a:t>
            </a:r>
            <a:endParaRPr b="0" i="0" sz="24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rPr b="0" i="0" lang="en-IN" sz="2400" u="none" cap="none" strike="noStrike">
                <a:solidFill>
                  <a:schemeClr val="dk1"/>
                </a:solidFill>
                <a:latin typeface="Times New Roman"/>
                <a:ea typeface="Times New Roman"/>
                <a:cs typeface="Times New Roman"/>
                <a:sym typeface="Times New Roman"/>
              </a:rPr>
              <a:t>For example: to  convince the customer differently, to draw something, for example, shape, triangle,  rectangle, etc.</a:t>
            </a:r>
            <a:endParaRPr b="0" i="0" sz="24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chemeClr val="dk1"/>
              </a:buClr>
              <a:buSzPts val="11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chemeClr val="dk1"/>
              </a:buClr>
              <a:buSzPts val="1100"/>
              <a:buFont typeface="Arial"/>
              <a:buNone/>
            </a:pPr>
            <a:r>
              <a:rPr b="0" i="0" lang="en-IN" sz="2400" u="none" cap="none" strike="noStrike">
                <a:solidFill>
                  <a:schemeClr val="dk1"/>
                </a:solidFill>
                <a:latin typeface="Times New Roman"/>
                <a:ea typeface="Times New Roman"/>
                <a:cs typeface="Times New Roman"/>
                <a:sym typeface="Times New Roman"/>
              </a:rPr>
              <a:t>In Java, we use method overloading and method overriding to achieve polymorphism.</a:t>
            </a:r>
            <a:endParaRPr b="0" i="0" sz="24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chemeClr val="dk1"/>
              </a:buClr>
              <a:buSzPts val="1100"/>
              <a:buFont typeface="Arial"/>
              <a:buNone/>
            </a:pPr>
            <a:r>
              <a:rPr b="0" i="0" lang="en-IN" sz="2400" u="none" cap="none" strike="noStrike">
                <a:solidFill>
                  <a:schemeClr val="dk1"/>
                </a:solidFill>
                <a:latin typeface="Times New Roman"/>
                <a:ea typeface="Times New Roman"/>
                <a:cs typeface="Times New Roman"/>
                <a:sym typeface="Times New Roman"/>
              </a:rPr>
              <a:t>Another example can be to speak something; for example, a cat speaks meow, dog barks  woof, etc.</a:t>
            </a:r>
            <a:endParaRPr b="0" i="0" sz="24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chemeClr val="dk1"/>
              </a:buClr>
              <a:buSzPts val="1100"/>
              <a:buFont typeface="Arial"/>
              <a:buNone/>
            </a:pPr>
            <a:r>
              <a:t/>
            </a:r>
            <a:endParaRPr b="1" i="0" sz="2400" u="none" cap="none" strike="noStrike">
              <a:solidFill>
                <a:srgbClr val="FF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1" i="0" sz="2400" u="none" cap="none" strike="noStrike">
              <a:solidFill>
                <a:srgbClr val="FF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2ef7db30dbc_1_54"/>
          <p:cNvSpPr/>
          <p:nvPr/>
        </p:nvSpPr>
        <p:spPr>
          <a:xfrm>
            <a:off x="2394175" y="255350"/>
            <a:ext cx="6670800" cy="9486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IN" sz="2000" u="none" cap="none" strike="noStrike">
                <a:solidFill>
                  <a:srgbClr val="F0C12F"/>
                </a:solidFill>
                <a:latin typeface="Arial"/>
                <a:ea typeface="Arial"/>
                <a:cs typeface="Arial"/>
                <a:sym typeface="Arial"/>
              </a:rPr>
              <a:t>Comparison of procedure oriented  programming and object oriented  programming</a:t>
            </a:r>
            <a:endParaRPr b="1" i="0" sz="800" u="none" cap="none" strike="noStrike">
              <a:solidFill>
                <a:srgbClr val="D7AC54"/>
              </a:solidFill>
              <a:latin typeface="Cantarell"/>
              <a:ea typeface="Cantarell"/>
              <a:cs typeface="Cantarell"/>
              <a:sym typeface="Cantarell"/>
            </a:endParaRPr>
          </a:p>
        </p:txBody>
      </p:sp>
      <p:sp>
        <p:nvSpPr>
          <p:cNvPr id="158" name="Google Shape;158;g2ef7db30dbc_1_54"/>
          <p:cNvSpPr txBox="1"/>
          <p:nvPr/>
        </p:nvSpPr>
        <p:spPr>
          <a:xfrm>
            <a:off x="821450" y="1605600"/>
            <a:ext cx="10581000" cy="47871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chemeClr val="dk1"/>
              </a:buClr>
              <a:buSzPts val="1100"/>
              <a:buFont typeface="Arial"/>
              <a:buNone/>
            </a:pPr>
            <a:r>
              <a:rPr b="0" i="0" lang="en-IN" sz="2300" u="none" cap="none" strike="noStrike">
                <a:solidFill>
                  <a:schemeClr val="dk1"/>
                </a:solidFill>
                <a:latin typeface="Times New Roman"/>
                <a:ea typeface="Times New Roman"/>
                <a:cs typeface="Times New Roman"/>
                <a:sym typeface="Times New Roman"/>
              </a:rPr>
              <a:t>OOPs makes development and maintenance easier, whereas, in a procedure-oriented</a:t>
            </a:r>
            <a:endParaRPr b="0" i="0" sz="23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chemeClr val="dk1"/>
              </a:buClr>
              <a:buSzPts val="1100"/>
              <a:buFont typeface="Arial"/>
              <a:buNone/>
            </a:pPr>
            <a:r>
              <a:rPr b="0" i="0" lang="en-IN" sz="2300" u="none" cap="none" strike="noStrike">
                <a:solidFill>
                  <a:schemeClr val="dk1"/>
                </a:solidFill>
                <a:latin typeface="Times New Roman"/>
                <a:ea typeface="Times New Roman"/>
                <a:cs typeface="Times New Roman"/>
                <a:sym typeface="Times New Roman"/>
              </a:rPr>
              <a:t>programming language, it is not easy to manage if code grows as project size increases</a:t>
            </a:r>
            <a:endParaRPr b="0" i="0" sz="23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chemeClr val="dk1"/>
              </a:buClr>
              <a:buSzPts val="1100"/>
              <a:buFont typeface="Arial"/>
              <a:buNone/>
            </a:pPr>
            <a:r>
              <a:t/>
            </a:r>
            <a:endParaRPr b="0" i="0" sz="23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chemeClr val="dk1"/>
              </a:buClr>
              <a:buSzPts val="1100"/>
              <a:buFont typeface="Arial"/>
              <a:buNone/>
            </a:pPr>
            <a:r>
              <a:rPr b="0" i="0" lang="en-IN" sz="2300" u="none" cap="none" strike="noStrike">
                <a:solidFill>
                  <a:schemeClr val="dk1"/>
                </a:solidFill>
                <a:latin typeface="Times New Roman"/>
                <a:ea typeface="Times New Roman"/>
                <a:cs typeface="Times New Roman"/>
                <a:sym typeface="Times New Roman"/>
              </a:rPr>
              <a:t>OOPs provides data hiding, whereas, in a procedure-oriented programming language,</a:t>
            </a:r>
            <a:endParaRPr b="0" i="0" sz="23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chemeClr val="dk1"/>
              </a:buClr>
              <a:buSzPts val="1100"/>
              <a:buFont typeface="Arial"/>
              <a:buNone/>
            </a:pPr>
            <a:r>
              <a:rPr b="0" i="0" lang="en-IN" sz="2300" u="none" cap="none" strike="noStrike">
                <a:solidFill>
                  <a:schemeClr val="dk1"/>
                </a:solidFill>
                <a:latin typeface="Times New Roman"/>
                <a:ea typeface="Times New Roman"/>
                <a:cs typeface="Times New Roman"/>
                <a:sym typeface="Times New Roman"/>
              </a:rPr>
              <a:t>global data can be accessed from anywhere.</a:t>
            </a:r>
            <a:endParaRPr b="0" i="0" sz="23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chemeClr val="dk1"/>
              </a:buClr>
              <a:buSzPts val="1100"/>
              <a:buFont typeface="Arial"/>
              <a:buNone/>
            </a:pPr>
            <a:r>
              <a:t/>
            </a:r>
            <a:endParaRPr b="0" i="0" sz="23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chemeClr val="dk1"/>
              </a:buClr>
              <a:buSzPts val="1100"/>
              <a:buFont typeface="Arial"/>
              <a:buNone/>
            </a:pPr>
            <a:r>
              <a:rPr b="0" i="0" lang="en-IN" sz="2300" u="none" cap="none" strike="noStrike">
                <a:solidFill>
                  <a:schemeClr val="dk1"/>
                </a:solidFill>
                <a:latin typeface="Times New Roman"/>
                <a:ea typeface="Times New Roman"/>
                <a:cs typeface="Times New Roman"/>
                <a:sym typeface="Times New Roman"/>
              </a:rPr>
              <a:t>OOPs provides the ability to simulate real-world event much more effectively. We can  provide the solution of real word problem if we are using the Object-Oriented  Programming language.</a:t>
            </a:r>
            <a:endParaRPr b="0" i="0" sz="23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chemeClr val="dk1"/>
              </a:buClr>
              <a:buSzPts val="1100"/>
              <a:buFont typeface="Arial"/>
              <a:buNone/>
            </a:pPr>
            <a:r>
              <a:t/>
            </a:r>
            <a:endParaRPr b="1" i="0" sz="2300" u="none" cap="none" strike="noStrike">
              <a:solidFill>
                <a:srgbClr val="FF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1" i="0" sz="2300" u="none" cap="none" strike="noStrike">
              <a:solidFill>
                <a:srgbClr val="FF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2ef7db30dbc_1_106"/>
          <p:cNvSpPr/>
          <p:nvPr/>
        </p:nvSpPr>
        <p:spPr>
          <a:xfrm>
            <a:off x="2210684" y="2734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b="0" i="0" lang="en-IN" sz="2200" u="none" cap="none" strike="noStrike">
                <a:solidFill>
                  <a:srgbClr val="F0C12F"/>
                </a:solidFill>
                <a:latin typeface="Arial"/>
                <a:ea typeface="Arial"/>
                <a:cs typeface="Arial"/>
                <a:sym typeface="Arial"/>
              </a:rPr>
              <a:t>What is Programming Language ?</a:t>
            </a:r>
            <a:endParaRPr b="0" i="0" sz="1000" u="none" cap="none" strike="noStrike">
              <a:solidFill>
                <a:srgbClr val="D7AC54"/>
              </a:solidFill>
              <a:latin typeface="Cantarell"/>
              <a:ea typeface="Cantarell"/>
              <a:cs typeface="Cantarell"/>
              <a:sym typeface="Cantarell"/>
            </a:endParaRPr>
          </a:p>
        </p:txBody>
      </p:sp>
      <p:sp>
        <p:nvSpPr>
          <p:cNvPr id="164" name="Google Shape;164;g2ef7db30dbc_1_106"/>
          <p:cNvSpPr txBox="1"/>
          <p:nvPr/>
        </p:nvSpPr>
        <p:spPr>
          <a:xfrm>
            <a:off x="805500" y="1040175"/>
            <a:ext cx="10581000" cy="58800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00000"/>
              </a:lnSpc>
              <a:spcBef>
                <a:spcPts val="0"/>
              </a:spcBef>
              <a:spcAft>
                <a:spcPts val="0"/>
              </a:spcAft>
              <a:buClr>
                <a:schemeClr val="dk1"/>
              </a:buClr>
              <a:buSzPts val="2200"/>
              <a:buFont typeface="Times New Roman"/>
              <a:buChar char="●"/>
            </a:pPr>
            <a:r>
              <a:rPr b="0" i="0" lang="en-IN" sz="2200" u="none" cap="none" strike="noStrike">
                <a:solidFill>
                  <a:schemeClr val="dk1"/>
                </a:solidFill>
                <a:latin typeface="Times New Roman"/>
                <a:ea typeface="Times New Roman"/>
                <a:cs typeface="Times New Roman"/>
                <a:sym typeface="Times New Roman"/>
              </a:rPr>
              <a:t>A programming language is a formal computer  language designed to communicate instructions  to a machine, particularly a computer.</a:t>
            </a:r>
            <a:endParaRPr b="0" i="0" sz="22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l">
              <a:lnSpc>
                <a:spcPct val="100000"/>
              </a:lnSpc>
              <a:spcBef>
                <a:spcPts val="0"/>
              </a:spcBef>
              <a:spcAft>
                <a:spcPts val="0"/>
              </a:spcAft>
              <a:buClr>
                <a:schemeClr val="dk1"/>
              </a:buClr>
              <a:buSzPts val="2200"/>
              <a:buFont typeface="Times New Roman"/>
              <a:buChar char="●"/>
            </a:pPr>
            <a:r>
              <a:rPr b="0" i="0" lang="en-IN" sz="2200" u="none" cap="none" strike="noStrike">
                <a:solidFill>
                  <a:schemeClr val="dk1"/>
                </a:solidFill>
                <a:latin typeface="Times New Roman"/>
                <a:ea typeface="Times New Roman"/>
                <a:cs typeface="Times New Roman"/>
                <a:sym typeface="Times New Roman"/>
              </a:rPr>
              <a:t>Programming languages can used to create  programs to control the behaviour of machine or to  express algorithms.</a:t>
            </a:r>
            <a:endParaRPr b="0" i="0" sz="22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l">
              <a:lnSpc>
                <a:spcPct val="100000"/>
              </a:lnSpc>
              <a:spcBef>
                <a:spcPts val="0"/>
              </a:spcBef>
              <a:spcAft>
                <a:spcPts val="0"/>
              </a:spcAft>
              <a:buClr>
                <a:schemeClr val="dk1"/>
              </a:buClr>
              <a:buSzPts val="2200"/>
              <a:buFont typeface="Times New Roman"/>
              <a:buChar char="●"/>
            </a:pPr>
            <a:r>
              <a:rPr b="0" i="0" lang="en-IN" sz="2200" u="none" cap="none" strike="noStrike">
                <a:solidFill>
                  <a:schemeClr val="dk1"/>
                </a:solidFill>
                <a:latin typeface="Times New Roman"/>
                <a:ea typeface="Times New Roman"/>
                <a:cs typeface="Times New Roman"/>
                <a:sym typeface="Times New Roman"/>
              </a:rPr>
              <a:t>The most basic (called low level) computer language is the machine language that uses binary (1’s and 0’s) code which can run very fast without using translator (or) interpreter.</a:t>
            </a:r>
            <a:endParaRPr b="0" i="0" sz="22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l">
              <a:lnSpc>
                <a:spcPct val="100000"/>
              </a:lnSpc>
              <a:spcBef>
                <a:spcPts val="0"/>
              </a:spcBef>
              <a:spcAft>
                <a:spcPts val="0"/>
              </a:spcAft>
              <a:buClr>
                <a:schemeClr val="dk1"/>
              </a:buClr>
              <a:buSzPts val="2200"/>
              <a:buFont typeface="Times New Roman"/>
              <a:buChar char="●"/>
            </a:pPr>
            <a:r>
              <a:rPr b="0" i="0" lang="en-IN" sz="2200" u="none" cap="none" strike="noStrike">
                <a:solidFill>
                  <a:schemeClr val="dk1"/>
                </a:solidFill>
                <a:latin typeface="Times New Roman"/>
                <a:ea typeface="Times New Roman"/>
                <a:cs typeface="Times New Roman"/>
                <a:sym typeface="Times New Roman"/>
              </a:rPr>
              <a:t>But it is tedious and complex.</a:t>
            </a:r>
            <a:endParaRPr b="0" i="0" sz="22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l">
              <a:lnSpc>
                <a:spcPct val="100000"/>
              </a:lnSpc>
              <a:spcBef>
                <a:spcPts val="0"/>
              </a:spcBef>
              <a:spcAft>
                <a:spcPts val="0"/>
              </a:spcAft>
              <a:buClr>
                <a:schemeClr val="dk1"/>
              </a:buClr>
              <a:buSzPts val="2200"/>
              <a:buFont typeface="Times New Roman"/>
              <a:buChar char="●"/>
            </a:pPr>
            <a:r>
              <a:rPr b="0" i="0" lang="en-IN" sz="2200" u="none" cap="none" strike="noStrike">
                <a:solidFill>
                  <a:schemeClr val="dk1"/>
                </a:solidFill>
                <a:latin typeface="Times New Roman"/>
                <a:ea typeface="Times New Roman"/>
                <a:cs typeface="Times New Roman"/>
                <a:sym typeface="Times New Roman"/>
              </a:rPr>
              <a:t>The high - level languages (such as  C, java) are  much simpler to use but need to use another  program to convert the high - level code into  the machine code, therefore slower.</a:t>
            </a:r>
            <a:endParaRPr b="0" i="0" sz="22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2ef7db30dbc_1_116"/>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Example</a:t>
            </a:r>
            <a:endParaRPr b="0" i="0" sz="3000" u="none" cap="none" strike="noStrike">
              <a:solidFill>
                <a:srgbClr val="D7AC54"/>
              </a:solidFill>
              <a:latin typeface="Arial"/>
              <a:ea typeface="Arial"/>
              <a:cs typeface="Arial"/>
              <a:sym typeface="Arial"/>
            </a:endParaRPr>
          </a:p>
        </p:txBody>
      </p:sp>
      <p:sp>
        <p:nvSpPr>
          <p:cNvPr id="170" name="Google Shape;170;g2ef7db30dbc_1_116"/>
          <p:cNvSpPr txBox="1"/>
          <p:nvPr/>
        </p:nvSpPr>
        <p:spPr>
          <a:xfrm>
            <a:off x="3105500" y="3044250"/>
            <a:ext cx="5782800" cy="769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
              </a:spcBef>
              <a:spcAft>
                <a:spcPts val="0"/>
              </a:spcAft>
              <a:buClr>
                <a:srgbClr val="000000"/>
              </a:buClr>
              <a:buSzPts val="3800"/>
              <a:buFont typeface="Arial"/>
              <a:buNone/>
            </a:pPr>
            <a:r>
              <a:rPr b="1" i="0" lang="en-IN" sz="3800" u="none" cap="none" strike="noStrike">
                <a:solidFill>
                  <a:schemeClr val="dk1"/>
                </a:solidFill>
                <a:latin typeface="Times New Roman"/>
                <a:ea typeface="Times New Roman"/>
                <a:cs typeface="Times New Roman"/>
                <a:sym typeface="Times New Roman"/>
              </a:rPr>
              <a:t>Program to ADD 1 and 2</a:t>
            </a:r>
            <a:endParaRPr b="0" i="0" sz="3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2ef7db30dbc_1_121"/>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Assembly Language</a:t>
            </a:r>
            <a:endParaRPr b="0" i="0" sz="3000" u="none" cap="none" strike="noStrike">
              <a:solidFill>
                <a:srgbClr val="D7AC54"/>
              </a:solidFill>
              <a:latin typeface="Arial"/>
              <a:ea typeface="Arial"/>
              <a:cs typeface="Arial"/>
              <a:sym typeface="Arial"/>
            </a:endParaRPr>
          </a:p>
        </p:txBody>
      </p:sp>
      <p:sp>
        <p:nvSpPr>
          <p:cNvPr id="176" name="Google Shape;176;g2ef7db30dbc_1_121"/>
          <p:cNvSpPr txBox="1"/>
          <p:nvPr/>
        </p:nvSpPr>
        <p:spPr>
          <a:xfrm>
            <a:off x="821450" y="1605600"/>
            <a:ext cx="10581000" cy="17856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dk1"/>
              </a:buClr>
              <a:buSzPts val="2600"/>
              <a:buFont typeface="Times New Roman"/>
              <a:buChar char="●"/>
            </a:pPr>
            <a:r>
              <a:rPr b="0" i="0" lang="en-IN" sz="2600" u="none" cap="none" strike="noStrike">
                <a:solidFill>
                  <a:schemeClr val="dk1"/>
                </a:solidFill>
                <a:latin typeface="Times New Roman"/>
                <a:ea typeface="Times New Roman"/>
                <a:cs typeface="Times New Roman"/>
                <a:sym typeface="Times New Roman"/>
              </a:rPr>
              <a:t>Store 1 at memory location say A</a:t>
            </a:r>
            <a:endParaRPr b="0" i="0" sz="2600" u="none" cap="none" strike="noStrike">
              <a:solidFill>
                <a:schemeClr val="dk1"/>
              </a:solidFill>
              <a:latin typeface="Times New Roman"/>
              <a:ea typeface="Times New Roman"/>
              <a:cs typeface="Times New Roman"/>
              <a:sym typeface="Times New Roman"/>
            </a:endParaRPr>
          </a:p>
          <a:p>
            <a:pPr indent="-393700" lvl="0" marL="457200" marR="0" rtl="0" algn="l">
              <a:lnSpc>
                <a:spcPct val="100000"/>
              </a:lnSpc>
              <a:spcBef>
                <a:spcPts val="0"/>
              </a:spcBef>
              <a:spcAft>
                <a:spcPts val="0"/>
              </a:spcAft>
              <a:buClr>
                <a:schemeClr val="dk1"/>
              </a:buClr>
              <a:buSzPts val="2600"/>
              <a:buFont typeface="Times New Roman"/>
              <a:buChar char="●"/>
            </a:pPr>
            <a:r>
              <a:rPr b="0" i="0" lang="en-IN" sz="2600" u="none" cap="none" strike="noStrike">
                <a:solidFill>
                  <a:schemeClr val="dk1"/>
                </a:solidFill>
                <a:latin typeface="Times New Roman"/>
                <a:ea typeface="Times New Roman"/>
                <a:cs typeface="Times New Roman"/>
                <a:sym typeface="Times New Roman"/>
              </a:rPr>
              <a:t>Store 2 at memory location say B</a:t>
            </a:r>
            <a:endParaRPr b="0" i="0" sz="2600" u="none" cap="none" strike="noStrike">
              <a:solidFill>
                <a:schemeClr val="dk1"/>
              </a:solidFill>
              <a:latin typeface="Times New Roman"/>
              <a:ea typeface="Times New Roman"/>
              <a:cs typeface="Times New Roman"/>
              <a:sym typeface="Times New Roman"/>
            </a:endParaRPr>
          </a:p>
          <a:p>
            <a:pPr indent="-393700" lvl="0" marL="457200" marR="0" rtl="0" algn="l">
              <a:lnSpc>
                <a:spcPct val="100000"/>
              </a:lnSpc>
              <a:spcBef>
                <a:spcPts val="0"/>
              </a:spcBef>
              <a:spcAft>
                <a:spcPts val="0"/>
              </a:spcAft>
              <a:buClr>
                <a:schemeClr val="dk1"/>
              </a:buClr>
              <a:buSzPts val="2600"/>
              <a:buFont typeface="Times New Roman"/>
              <a:buChar char="●"/>
            </a:pPr>
            <a:r>
              <a:rPr b="0" i="0" lang="en-IN" sz="2600" u="none" cap="none" strike="noStrike">
                <a:solidFill>
                  <a:schemeClr val="dk1"/>
                </a:solidFill>
                <a:latin typeface="Times New Roman"/>
                <a:ea typeface="Times New Roman"/>
                <a:cs typeface="Times New Roman"/>
                <a:sym typeface="Times New Roman"/>
              </a:rPr>
              <a:t>ADD contents of location A and B</a:t>
            </a:r>
            <a:endParaRPr b="0" i="0" sz="2600" u="none" cap="none" strike="noStrike">
              <a:solidFill>
                <a:schemeClr val="dk1"/>
              </a:solidFill>
              <a:latin typeface="Times New Roman"/>
              <a:ea typeface="Times New Roman"/>
              <a:cs typeface="Times New Roman"/>
              <a:sym typeface="Times New Roman"/>
            </a:endParaRPr>
          </a:p>
          <a:p>
            <a:pPr indent="-393700" lvl="0" marL="457200" marR="0" rtl="0" algn="l">
              <a:lnSpc>
                <a:spcPct val="100000"/>
              </a:lnSpc>
              <a:spcBef>
                <a:spcPts val="0"/>
              </a:spcBef>
              <a:spcAft>
                <a:spcPts val="0"/>
              </a:spcAft>
              <a:buClr>
                <a:schemeClr val="dk1"/>
              </a:buClr>
              <a:buSzPts val="2600"/>
              <a:buFont typeface="Times New Roman"/>
              <a:buChar char="●"/>
            </a:pPr>
            <a:r>
              <a:rPr b="0" i="0" lang="en-IN" sz="2600" u="none" cap="none" strike="noStrike">
                <a:solidFill>
                  <a:schemeClr val="dk1"/>
                </a:solidFill>
                <a:latin typeface="Times New Roman"/>
                <a:ea typeface="Times New Roman"/>
                <a:cs typeface="Times New Roman"/>
                <a:sym typeface="Times New Roman"/>
              </a:rPr>
              <a:t>Store RESULT</a:t>
            </a:r>
            <a:endParaRPr b="0" i="0" sz="26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g2ef7db30dbc_1_142"/>
          <p:cNvPicPr preferRelativeResize="0"/>
          <p:nvPr/>
        </p:nvPicPr>
        <p:blipFill rotWithShape="1">
          <a:blip r:embed="rId3">
            <a:alphaModFix/>
          </a:blip>
          <a:srcRect b="0" l="0" r="0" t="0"/>
          <a:stretch/>
        </p:blipFill>
        <p:spPr>
          <a:xfrm>
            <a:off x="1533975" y="1568025"/>
            <a:ext cx="9268725" cy="4197575"/>
          </a:xfrm>
          <a:prstGeom prst="rect">
            <a:avLst/>
          </a:prstGeom>
          <a:noFill/>
          <a:ln>
            <a:noFill/>
          </a:ln>
        </p:spPr>
      </p:pic>
      <p:sp>
        <p:nvSpPr>
          <p:cNvPr id="182" name="Google Shape;182;g2ef7db30dbc_1_142"/>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Assembly Language</a:t>
            </a:r>
            <a:endParaRPr b="1" i="0" sz="2200" u="none" cap="none" strike="noStrike">
              <a:solidFill>
                <a:srgbClr val="F0C12F"/>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2ef7db30dbc_1_149"/>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High-Level Language</a:t>
            </a:r>
            <a:endParaRPr b="0" i="0" sz="3000" u="none" cap="none" strike="noStrike">
              <a:solidFill>
                <a:srgbClr val="D7AC54"/>
              </a:solidFill>
              <a:latin typeface="Arial"/>
              <a:ea typeface="Arial"/>
              <a:cs typeface="Arial"/>
              <a:sym typeface="Arial"/>
            </a:endParaRPr>
          </a:p>
        </p:txBody>
      </p:sp>
      <p:pic>
        <p:nvPicPr>
          <p:cNvPr id="188" name="Google Shape;188;g2ef7db30dbc_1_149"/>
          <p:cNvPicPr preferRelativeResize="0"/>
          <p:nvPr/>
        </p:nvPicPr>
        <p:blipFill rotWithShape="1">
          <a:blip r:embed="rId3">
            <a:alphaModFix/>
          </a:blip>
          <a:srcRect b="0" l="0" r="0" t="0"/>
          <a:stretch/>
        </p:blipFill>
        <p:spPr>
          <a:xfrm>
            <a:off x="1574025" y="1475875"/>
            <a:ext cx="9019376" cy="43833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2ef7db30dbc_1_157"/>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C Language</a:t>
            </a:r>
            <a:endParaRPr b="0" i="0" sz="3000" u="none" cap="none" strike="noStrike">
              <a:solidFill>
                <a:srgbClr val="D7AC54"/>
              </a:solidFill>
              <a:latin typeface="Arial"/>
              <a:ea typeface="Arial"/>
              <a:cs typeface="Arial"/>
              <a:sym typeface="Arial"/>
            </a:endParaRPr>
          </a:p>
        </p:txBody>
      </p:sp>
      <p:pic>
        <p:nvPicPr>
          <p:cNvPr id="194" name="Google Shape;194;g2ef7db30dbc_1_157"/>
          <p:cNvPicPr preferRelativeResize="0"/>
          <p:nvPr/>
        </p:nvPicPr>
        <p:blipFill rotWithShape="1">
          <a:blip r:embed="rId3">
            <a:alphaModFix/>
          </a:blip>
          <a:srcRect b="0" l="0" r="0" t="0"/>
          <a:stretch/>
        </p:blipFill>
        <p:spPr>
          <a:xfrm>
            <a:off x="958400" y="1370076"/>
            <a:ext cx="10114374" cy="47066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2ef7db30dbc_1_164"/>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C Language</a:t>
            </a:r>
            <a:endParaRPr b="0" i="0" sz="3000" u="none" cap="none" strike="noStrike">
              <a:solidFill>
                <a:srgbClr val="D7AC54"/>
              </a:solidFill>
              <a:latin typeface="Arial"/>
              <a:ea typeface="Arial"/>
              <a:cs typeface="Arial"/>
              <a:sym typeface="Arial"/>
            </a:endParaRPr>
          </a:p>
        </p:txBody>
      </p:sp>
      <p:pic>
        <p:nvPicPr>
          <p:cNvPr id="200" name="Google Shape;200;g2ef7db30dbc_1_164"/>
          <p:cNvPicPr preferRelativeResize="0"/>
          <p:nvPr/>
        </p:nvPicPr>
        <p:blipFill rotWithShape="1">
          <a:blip r:embed="rId3">
            <a:alphaModFix/>
          </a:blip>
          <a:srcRect b="1468" l="0" r="0" t="1185"/>
          <a:stretch/>
        </p:blipFill>
        <p:spPr>
          <a:xfrm>
            <a:off x="959825" y="1571150"/>
            <a:ext cx="10420100" cy="4572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2ef7db30dbc_1_170"/>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C Language</a:t>
            </a:r>
            <a:endParaRPr b="0" i="0" sz="3000" u="none" cap="none" strike="noStrike">
              <a:solidFill>
                <a:srgbClr val="D7AC54"/>
              </a:solidFill>
              <a:latin typeface="Arial"/>
              <a:ea typeface="Arial"/>
              <a:cs typeface="Arial"/>
              <a:sym typeface="Arial"/>
            </a:endParaRPr>
          </a:p>
        </p:txBody>
      </p:sp>
      <p:pic>
        <p:nvPicPr>
          <p:cNvPr id="206" name="Google Shape;206;g2ef7db30dbc_1_170"/>
          <p:cNvPicPr preferRelativeResize="0"/>
          <p:nvPr/>
        </p:nvPicPr>
        <p:blipFill rotWithShape="1">
          <a:blip r:embed="rId3">
            <a:alphaModFix/>
          </a:blip>
          <a:srcRect b="0" l="0" r="0" t="0"/>
          <a:stretch/>
        </p:blipFill>
        <p:spPr>
          <a:xfrm>
            <a:off x="1128662" y="1521375"/>
            <a:ext cx="9934676" cy="4512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2ef7db30dbc_1_176"/>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Java Language</a:t>
            </a:r>
            <a:endParaRPr b="0" i="0" sz="3000" u="none" cap="none" strike="noStrike">
              <a:solidFill>
                <a:srgbClr val="D7AC54"/>
              </a:solidFill>
              <a:latin typeface="Arial"/>
              <a:ea typeface="Arial"/>
              <a:cs typeface="Arial"/>
              <a:sym typeface="Arial"/>
            </a:endParaRPr>
          </a:p>
        </p:txBody>
      </p:sp>
      <p:pic>
        <p:nvPicPr>
          <p:cNvPr id="212" name="Google Shape;212;g2ef7db30dbc_1_176"/>
          <p:cNvPicPr preferRelativeResize="0"/>
          <p:nvPr/>
        </p:nvPicPr>
        <p:blipFill rotWithShape="1">
          <a:blip r:embed="rId3">
            <a:alphaModFix/>
          </a:blip>
          <a:srcRect b="0" l="0" r="0" t="0"/>
          <a:stretch/>
        </p:blipFill>
        <p:spPr>
          <a:xfrm>
            <a:off x="840075" y="1446699"/>
            <a:ext cx="10511849" cy="4390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2ef7db30dbc_1_182"/>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History of Java</a:t>
            </a:r>
            <a:endParaRPr b="0" i="0" sz="3000" u="none" cap="none" strike="noStrike">
              <a:solidFill>
                <a:srgbClr val="D7AC54"/>
              </a:solidFill>
              <a:latin typeface="Arial"/>
              <a:ea typeface="Arial"/>
              <a:cs typeface="Arial"/>
              <a:sym typeface="Arial"/>
            </a:endParaRPr>
          </a:p>
        </p:txBody>
      </p:sp>
      <p:sp>
        <p:nvSpPr>
          <p:cNvPr id="218" name="Google Shape;218;g2ef7db30dbc_1_182"/>
          <p:cNvSpPr txBox="1"/>
          <p:nvPr/>
        </p:nvSpPr>
        <p:spPr>
          <a:xfrm>
            <a:off x="821450" y="1605600"/>
            <a:ext cx="10581000" cy="3509400"/>
          </a:xfrm>
          <a:prstGeom prst="rect">
            <a:avLst/>
          </a:prstGeom>
          <a:noFill/>
          <a:ln>
            <a:noFill/>
          </a:ln>
        </p:spPr>
        <p:txBody>
          <a:bodyPr anchorCtr="0" anchor="t" bIns="91425" lIns="91425" spcFirstLastPara="1" rIns="91425" wrap="square" tIns="91425">
            <a:spAutoFit/>
          </a:bodyPr>
          <a:lstStyle/>
          <a:p>
            <a:pPr indent="-400050" lvl="0" marL="457200" marR="0" rtl="0" algn="l">
              <a:lnSpc>
                <a:spcPct val="100000"/>
              </a:lnSpc>
              <a:spcBef>
                <a:spcPts val="0"/>
              </a:spcBef>
              <a:spcAft>
                <a:spcPts val="0"/>
              </a:spcAft>
              <a:buClr>
                <a:srgbClr val="000000"/>
              </a:buClr>
              <a:buSzPts val="2700"/>
              <a:buFont typeface="Times New Roman"/>
              <a:buChar char="●"/>
            </a:pPr>
            <a:r>
              <a:rPr b="0" i="0" lang="en-IN" sz="2700" u="none" cap="none" strike="noStrike">
                <a:solidFill>
                  <a:srgbClr val="000000"/>
                </a:solidFill>
                <a:latin typeface="Times New Roman"/>
                <a:ea typeface="Times New Roman"/>
                <a:cs typeface="Times New Roman"/>
                <a:sym typeface="Times New Roman"/>
              </a:rPr>
              <a:t>The history of java starts from Green Team. Java Team members (also known as Green Team) initiated  a revolutionary task to develop a language for digital  devices such as set-top boxes, televisions etc.</a:t>
            </a:r>
            <a:endParaRPr b="0" i="0" sz="27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0" sz="2700" u="none" cap="none" strike="noStrike">
              <a:solidFill>
                <a:srgbClr val="000000"/>
              </a:solidFill>
              <a:latin typeface="Times New Roman"/>
              <a:ea typeface="Times New Roman"/>
              <a:cs typeface="Times New Roman"/>
              <a:sym typeface="Times New Roman"/>
            </a:endParaRPr>
          </a:p>
          <a:p>
            <a:pPr indent="-400050" lvl="0" marL="457200" marR="0" rtl="0" algn="l">
              <a:lnSpc>
                <a:spcPct val="100000"/>
              </a:lnSpc>
              <a:spcBef>
                <a:spcPts val="0"/>
              </a:spcBef>
              <a:spcAft>
                <a:spcPts val="0"/>
              </a:spcAft>
              <a:buClr>
                <a:srgbClr val="000000"/>
              </a:buClr>
              <a:buSzPts val="2700"/>
              <a:buFont typeface="Times New Roman"/>
              <a:buChar char="●"/>
            </a:pPr>
            <a:r>
              <a:rPr b="0" i="0" lang="en-IN" sz="2700" u="none" cap="none" strike="noStrike">
                <a:solidFill>
                  <a:srgbClr val="000000"/>
                </a:solidFill>
                <a:latin typeface="Times New Roman"/>
                <a:ea typeface="Times New Roman"/>
                <a:cs typeface="Times New Roman"/>
                <a:sym typeface="Times New Roman"/>
              </a:rPr>
              <a:t>James Gosling, Mike Sheridan, and Patrick Naughton  initiated the Java language project in June 1991. The  small team of sun engineers called Green Team.</a:t>
            </a:r>
            <a:endParaRPr b="0" i="0" sz="27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0" i="0" sz="27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2ef7db30dbc_1_193"/>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History of Java</a:t>
            </a:r>
            <a:endParaRPr b="0" i="0" sz="3000" u="none" cap="none" strike="noStrike">
              <a:solidFill>
                <a:srgbClr val="D7AC54"/>
              </a:solidFill>
              <a:latin typeface="Arial"/>
              <a:ea typeface="Arial"/>
              <a:cs typeface="Arial"/>
              <a:sym typeface="Arial"/>
            </a:endParaRPr>
          </a:p>
        </p:txBody>
      </p:sp>
      <p:sp>
        <p:nvSpPr>
          <p:cNvPr id="224" name="Google Shape;224;g2ef7db30dbc_1_193"/>
          <p:cNvSpPr txBox="1"/>
          <p:nvPr/>
        </p:nvSpPr>
        <p:spPr>
          <a:xfrm>
            <a:off x="805500" y="1204325"/>
            <a:ext cx="10581000" cy="5787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n-IN" sz="2700" u="none" cap="none" strike="noStrike">
                <a:solidFill>
                  <a:srgbClr val="000000"/>
                </a:solidFill>
                <a:latin typeface="Times New Roman"/>
                <a:ea typeface="Times New Roman"/>
                <a:cs typeface="Times New Roman"/>
                <a:sym typeface="Times New Roman"/>
              </a:rPr>
              <a:t>Firstly, it was called “</a:t>
            </a:r>
            <a:r>
              <a:rPr b="1" i="0" lang="en-IN" sz="2700" u="none" cap="none" strike="noStrike">
                <a:solidFill>
                  <a:srgbClr val="000000"/>
                </a:solidFill>
                <a:latin typeface="Times New Roman"/>
                <a:ea typeface="Times New Roman"/>
                <a:cs typeface="Times New Roman"/>
                <a:sym typeface="Times New Roman"/>
              </a:rPr>
              <a:t>Greentalk” </a:t>
            </a:r>
            <a:r>
              <a:rPr b="0" i="0" lang="en-IN" sz="2700" u="none" cap="none" strike="noStrike">
                <a:solidFill>
                  <a:srgbClr val="000000"/>
                </a:solidFill>
                <a:latin typeface="Times New Roman"/>
                <a:ea typeface="Times New Roman"/>
                <a:cs typeface="Times New Roman"/>
                <a:sym typeface="Times New Roman"/>
              </a:rPr>
              <a:t>by james Gosling and file extension was .gt.</a:t>
            </a:r>
            <a:endParaRPr b="0" i="0" sz="27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0" sz="27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700"/>
              <a:buFont typeface="Arial"/>
              <a:buNone/>
            </a:pPr>
            <a:r>
              <a:rPr b="0" i="0" lang="en-IN" sz="2700" u="none" cap="none" strike="noStrike">
                <a:solidFill>
                  <a:srgbClr val="000000"/>
                </a:solidFill>
                <a:latin typeface="Times New Roman"/>
                <a:ea typeface="Times New Roman"/>
                <a:cs typeface="Times New Roman"/>
                <a:sym typeface="Times New Roman"/>
              </a:rPr>
              <a:t>After that, it was called Oak and was developed as part of the Green Project</a:t>
            </a:r>
            <a:endParaRPr b="0" i="0" sz="27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1" i="0" sz="27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1" i="0" lang="en-IN" sz="2700" u="none" cap="none" strike="noStrike">
                <a:solidFill>
                  <a:srgbClr val="000000"/>
                </a:solidFill>
                <a:latin typeface="Times New Roman"/>
                <a:ea typeface="Times New Roman"/>
                <a:cs typeface="Times New Roman"/>
                <a:sym typeface="Times New Roman"/>
              </a:rPr>
              <a:t>Why Oak??</a:t>
            </a:r>
            <a:endParaRPr b="1" i="0" sz="27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0" i="0" sz="27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IN" sz="2700" u="none" cap="none" strike="noStrike">
                <a:solidFill>
                  <a:srgbClr val="000000"/>
                </a:solidFill>
                <a:latin typeface="Times New Roman"/>
                <a:ea typeface="Times New Roman"/>
                <a:cs typeface="Times New Roman"/>
                <a:sym typeface="Times New Roman"/>
              </a:rPr>
              <a:t>Name is inspired by an Oak tree that stood outside of Gosling’s office. </a:t>
            </a:r>
            <a:endParaRPr b="0" i="0" sz="27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0" i="0" sz="27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0" i="0" lang="en-IN" sz="2700" u="none" cap="none" strike="noStrike">
                <a:solidFill>
                  <a:srgbClr val="000000"/>
                </a:solidFill>
                <a:latin typeface="Times New Roman"/>
                <a:ea typeface="Times New Roman"/>
                <a:cs typeface="Times New Roman"/>
                <a:sym typeface="Times New Roman"/>
              </a:rPr>
              <a:t>Oak tree is a symbol of strength  and chosen as a national tree of many countries like  U.S.A, France, Germany etc.</a:t>
            </a:r>
            <a:endParaRPr b="0" i="0" sz="27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2ef7db30dbc_1_201"/>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History of Java</a:t>
            </a:r>
            <a:endParaRPr b="0" i="0" sz="3000" u="none" cap="none" strike="noStrike">
              <a:solidFill>
                <a:srgbClr val="D7AC54"/>
              </a:solidFill>
              <a:latin typeface="Arial"/>
              <a:ea typeface="Arial"/>
              <a:cs typeface="Arial"/>
              <a:sym typeface="Arial"/>
            </a:endParaRPr>
          </a:p>
        </p:txBody>
      </p:sp>
      <p:sp>
        <p:nvSpPr>
          <p:cNvPr id="230" name="Google Shape;230;g2ef7db30dbc_1_201"/>
          <p:cNvSpPr txBox="1"/>
          <p:nvPr/>
        </p:nvSpPr>
        <p:spPr>
          <a:xfrm>
            <a:off x="821450" y="1605600"/>
            <a:ext cx="10581000" cy="412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IN" sz="2400" u="none" cap="none" strike="noStrike">
                <a:solidFill>
                  <a:srgbClr val="000000"/>
                </a:solidFill>
                <a:latin typeface="Times New Roman"/>
                <a:ea typeface="Times New Roman"/>
                <a:cs typeface="Times New Roman"/>
                <a:sym typeface="Times New Roman"/>
              </a:rPr>
              <a:t>But in 1995, team had decided to change the name of  language, because Oak name was already a  trademark by Oak technologies.</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1" i="0" lang="en-IN" sz="2400" u="none" cap="none" strike="noStrike">
                <a:solidFill>
                  <a:srgbClr val="000000"/>
                </a:solidFill>
                <a:latin typeface="Times New Roman"/>
                <a:ea typeface="Times New Roman"/>
                <a:cs typeface="Times New Roman"/>
                <a:sym typeface="Times New Roman"/>
              </a:rPr>
              <a:t>New Name was Java</a:t>
            </a:r>
            <a:endParaRPr b="1"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0" i="0" lang="en-IN" sz="2400" u="none" cap="none" strike="noStrike">
                <a:solidFill>
                  <a:srgbClr val="000000"/>
                </a:solidFill>
                <a:latin typeface="Times New Roman"/>
                <a:ea typeface="Times New Roman"/>
                <a:cs typeface="Times New Roman"/>
                <a:sym typeface="Times New Roman"/>
              </a:rPr>
              <a:t>The suggested words were “dynamic”, “revolutionary”,  “silk”, “joit”, “DNA” etc</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IN" sz="2400" u="none" cap="none" strike="noStrike">
                <a:solidFill>
                  <a:srgbClr val="000000"/>
                </a:solidFill>
                <a:latin typeface="Times New Roman"/>
                <a:ea typeface="Times New Roman"/>
                <a:cs typeface="Times New Roman"/>
                <a:sym typeface="Times New Roman"/>
              </a:rPr>
              <a:t>According to James Gosling “Java and Silk” were two top choices.	</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0" i="0" lang="en-IN" sz="2400" u="none" cap="none" strike="noStrike">
                <a:solidFill>
                  <a:srgbClr val="000000"/>
                </a:solidFill>
                <a:latin typeface="Times New Roman"/>
                <a:ea typeface="Times New Roman"/>
                <a:cs typeface="Times New Roman"/>
                <a:sym typeface="Times New Roman"/>
              </a:rPr>
              <a:t>Since java was so	unique,most of the team members preferred java</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2ef7db30dbc_1_208"/>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History of Java</a:t>
            </a:r>
            <a:endParaRPr b="0" i="0" sz="3000" u="none" cap="none" strike="noStrike">
              <a:solidFill>
                <a:srgbClr val="D7AC54"/>
              </a:solidFill>
              <a:latin typeface="Arial"/>
              <a:ea typeface="Arial"/>
              <a:cs typeface="Arial"/>
              <a:sym typeface="Arial"/>
            </a:endParaRPr>
          </a:p>
        </p:txBody>
      </p:sp>
      <p:sp>
        <p:nvSpPr>
          <p:cNvPr id="236" name="Google Shape;236;g2ef7db30dbc_1_208"/>
          <p:cNvSpPr txBox="1"/>
          <p:nvPr/>
        </p:nvSpPr>
        <p:spPr>
          <a:xfrm>
            <a:off x="821450" y="1605600"/>
            <a:ext cx="10581000" cy="2493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IN" sz="2100" u="none" cap="none" strike="noStrike">
                <a:solidFill>
                  <a:srgbClr val="000000"/>
                </a:solidFill>
                <a:latin typeface="Times New Roman"/>
                <a:ea typeface="Times New Roman"/>
                <a:cs typeface="Times New Roman"/>
                <a:sym typeface="Times New Roman"/>
              </a:rPr>
              <a:t>J</a:t>
            </a:r>
            <a:r>
              <a:rPr b="0" i="0" lang="en-IN" sz="2500" u="none" cap="none" strike="noStrike">
                <a:solidFill>
                  <a:srgbClr val="000000"/>
                </a:solidFill>
                <a:latin typeface="Times New Roman"/>
                <a:ea typeface="Times New Roman"/>
                <a:cs typeface="Times New Roman"/>
                <a:sym typeface="Times New Roman"/>
              </a:rPr>
              <a:t>ava is an island of Indonesia where first coffee was produced (called Java coffee)</a:t>
            </a:r>
            <a:endParaRPr b="0" i="0" sz="25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0" i="0" sz="25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IN" sz="2500" u="none" cap="none" strike="noStrike">
                <a:solidFill>
                  <a:srgbClr val="000000"/>
                </a:solidFill>
                <a:latin typeface="Times New Roman"/>
                <a:ea typeface="Times New Roman"/>
                <a:cs typeface="Times New Roman"/>
                <a:sym typeface="Times New Roman"/>
              </a:rPr>
              <a:t>Java coffee is consumed in large quantities by language creators.</a:t>
            </a:r>
            <a:endParaRPr b="0" i="0" sz="25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0" i="0" sz="25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IN" sz="2500" u="none" cap="none" strike="noStrike">
                <a:solidFill>
                  <a:srgbClr val="000000"/>
                </a:solidFill>
                <a:latin typeface="Times New Roman"/>
                <a:ea typeface="Times New Roman"/>
                <a:cs typeface="Times New Roman"/>
                <a:sym typeface="Times New Roman"/>
              </a:rPr>
              <a:t>Java is just a name not an acronym.</a:t>
            </a:r>
            <a:endParaRPr b="0" i="0" sz="2500" u="none" cap="none" strike="noStrike">
              <a:solidFill>
                <a:srgbClr val="000000"/>
              </a:solidFill>
              <a:latin typeface="Times New Roman"/>
              <a:ea typeface="Times New Roman"/>
              <a:cs typeface="Times New Roman"/>
              <a:sym typeface="Times New Roman"/>
            </a:endParaRPr>
          </a:p>
        </p:txBody>
      </p:sp>
      <p:pic>
        <p:nvPicPr>
          <p:cNvPr id="237" name="Google Shape;237;g2ef7db30dbc_1_208"/>
          <p:cNvPicPr preferRelativeResize="0"/>
          <p:nvPr/>
        </p:nvPicPr>
        <p:blipFill rotWithShape="1">
          <a:blip r:embed="rId3">
            <a:alphaModFix/>
          </a:blip>
          <a:srcRect b="0" l="0" r="0" t="0"/>
          <a:stretch/>
        </p:blipFill>
        <p:spPr>
          <a:xfrm>
            <a:off x="8775600" y="3462025"/>
            <a:ext cx="3038475" cy="3048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2835528d1b0_3_3"/>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0" i="0" lang="en-IN" sz="3000" u="none" cap="none" strike="noStrike">
                <a:solidFill>
                  <a:srgbClr val="F0C12F"/>
                </a:solidFill>
                <a:latin typeface="Arial"/>
                <a:ea typeface="Arial"/>
                <a:cs typeface="Arial"/>
                <a:sym typeface="Arial"/>
              </a:rPr>
              <a:t>History of Java</a:t>
            </a:r>
            <a:endParaRPr b="0" i="0" sz="3000" u="none" cap="none" strike="noStrike">
              <a:solidFill>
                <a:srgbClr val="D7AC54"/>
              </a:solidFill>
              <a:latin typeface="Arial"/>
              <a:ea typeface="Arial"/>
              <a:cs typeface="Arial"/>
              <a:sym typeface="Arial"/>
            </a:endParaRPr>
          </a:p>
        </p:txBody>
      </p:sp>
      <p:sp>
        <p:nvSpPr>
          <p:cNvPr id="243" name="Google Shape;243;g2835528d1b0_3_3"/>
          <p:cNvSpPr txBox="1"/>
          <p:nvPr/>
        </p:nvSpPr>
        <p:spPr>
          <a:xfrm>
            <a:off x="821450" y="1605600"/>
            <a:ext cx="10581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pic>
        <p:nvPicPr>
          <p:cNvPr id="244" name="Google Shape;244;g2835528d1b0_3_3"/>
          <p:cNvPicPr preferRelativeResize="0"/>
          <p:nvPr/>
        </p:nvPicPr>
        <p:blipFill rotWithShape="1">
          <a:blip r:embed="rId3">
            <a:alphaModFix/>
          </a:blip>
          <a:srcRect b="0" l="0" r="0" t="0"/>
          <a:stretch/>
        </p:blipFill>
        <p:spPr>
          <a:xfrm>
            <a:off x="1513875" y="1222025"/>
            <a:ext cx="8225950" cy="47770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279ef9b7fc5_0_17"/>
          <p:cNvSpPr txBox="1"/>
          <p:nvPr/>
        </p:nvSpPr>
        <p:spPr>
          <a:xfrm>
            <a:off x="488221" y="1589700"/>
            <a:ext cx="10864500" cy="2966700"/>
          </a:xfrm>
          <a:prstGeom prst="rect">
            <a:avLst/>
          </a:prstGeom>
          <a:noFill/>
          <a:ln>
            <a:noFill/>
          </a:ln>
        </p:spPr>
        <p:txBody>
          <a:bodyPr anchorCtr="0" anchor="t" bIns="0" lIns="0" spcFirstLastPara="1" rIns="0" wrap="square" tIns="16925">
            <a:spAutoFit/>
          </a:bodyPr>
          <a:lstStyle/>
          <a:p>
            <a:pPr indent="-712029" lvl="0" marL="728115" marR="6772" rtl="0" algn="just">
              <a:lnSpc>
                <a:spcPct val="1450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According to Sun Microsystem, 3 billion devices  run java. There are many devices where java is  currently used. Some of them are..</a:t>
            </a:r>
            <a:endParaRPr b="0" i="0" sz="3200" u="none" cap="none" strike="noStrike">
              <a:solidFill>
                <a:schemeClr val="dk1"/>
              </a:solidFill>
              <a:latin typeface="Arial"/>
              <a:ea typeface="Arial"/>
              <a:cs typeface="Arial"/>
              <a:sym typeface="Arial"/>
            </a:endParaRPr>
          </a:p>
          <a:p>
            <a:pPr indent="-712029" lvl="0" marL="728115" marR="0" rtl="0" algn="just">
              <a:lnSpc>
                <a:spcPct val="100000"/>
              </a:lnSpc>
              <a:spcBef>
                <a:spcPts val="2452"/>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Desktop Applications:</a:t>
            </a:r>
            <a:endParaRPr b="0" i="0" sz="3200" u="none" cap="none" strike="noStrike">
              <a:solidFill>
                <a:schemeClr val="dk1"/>
              </a:solidFill>
              <a:latin typeface="Arial"/>
              <a:ea typeface="Arial"/>
              <a:cs typeface="Arial"/>
              <a:sym typeface="Arial"/>
            </a:endParaRPr>
          </a:p>
        </p:txBody>
      </p:sp>
      <p:pic>
        <p:nvPicPr>
          <p:cNvPr id="250" name="Google Shape;250;g279ef9b7fc5_0_17"/>
          <p:cNvPicPr preferRelativeResize="0"/>
          <p:nvPr/>
        </p:nvPicPr>
        <p:blipFill rotWithShape="1">
          <a:blip r:embed="rId3">
            <a:alphaModFix/>
          </a:blip>
          <a:srcRect b="0" l="0" r="0" t="0"/>
          <a:stretch/>
        </p:blipFill>
        <p:spPr>
          <a:xfrm>
            <a:off x="2946401" y="4700015"/>
            <a:ext cx="1619503" cy="1412240"/>
          </a:xfrm>
          <a:prstGeom prst="rect">
            <a:avLst/>
          </a:prstGeom>
          <a:noFill/>
          <a:ln>
            <a:noFill/>
          </a:ln>
        </p:spPr>
      </p:pic>
      <p:pic>
        <p:nvPicPr>
          <p:cNvPr id="251" name="Google Shape;251;g279ef9b7fc5_0_17"/>
          <p:cNvPicPr preferRelativeResize="0"/>
          <p:nvPr/>
        </p:nvPicPr>
        <p:blipFill rotWithShape="1">
          <a:blip r:embed="rId4">
            <a:alphaModFix/>
          </a:blip>
          <a:srcRect b="0" l="0" r="0" t="0"/>
          <a:stretch/>
        </p:blipFill>
        <p:spPr>
          <a:xfrm>
            <a:off x="5858255" y="4771136"/>
            <a:ext cx="1635759" cy="1347216"/>
          </a:xfrm>
          <a:prstGeom prst="rect">
            <a:avLst/>
          </a:prstGeom>
          <a:noFill/>
          <a:ln>
            <a:noFill/>
          </a:ln>
        </p:spPr>
      </p:pic>
      <p:pic>
        <p:nvPicPr>
          <p:cNvPr id="252" name="Google Shape;252;g279ef9b7fc5_0_17"/>
          <p:cNvPicPr preferRelativeResize="0"/>
          <p:nvPr/>
        </p:nvPicPr>
        <p:blipFill rotWithShape="1">
          <a:blip r:embed="rId5">
            <a:alphaModFix/>
          </a:blip>
          <a:srcRect b="0" l="0" r="0" t="0"/>
          <a:stretch/>
        </p:blipFill>
        <p:spPr>
          <a:xfrm>
            <a:off x="8940800" y="4779263"/>
            <a:ext cx="1773936" cy="1332992"/>
          </a:xfrm>
          <a:prstGeom prst="rect">
            <a:avLst/>
          </a:prstGeom>
          <a:noFill/>
          <a:ln>
            <a:noFill/>
          </a:ln>
        </p:spPr>
      </p:pic>
      <p:sp>
        <p:nvSpPr>
          <p:cNvPr id="253" name="Google Shape;253;g279ef9b7fc5_0_17"/>
          <p:cNvSpPr/>
          <p:nvPr/>
        </p:nvSpPr>
        <p:spPr>
          <a:xfrm>
            <a:off x="24124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3000" u="none" cap="none" strike="noStrike">
                <a:solidFill>
                  <a:srgbClr val="BF9000"/>
                </a:solidFill>
                <a:latin typeface="Calibri"/>
                <a:ea typeface="Calibri"/>
                <a:cs typeface="Calibri"/>
                <a:sym typeface="Calibri"/>
              </a:rPr>
              <a:t>Where java is used?</a:t>
            </a:r>
            <a:endParaRPr b="1" i="0" sz="3000" u="none" cap="none" strike="noStrike">
              <a:solidFill>
                <a:srgbClr val="BF9000"/>
              </a:solidFill>
              <a:latin typeface="Cantarell"/>
              <a:ea typeface="Cantarell"/>
              <a:cs typeface="Cantarell"/>
              <a:sym typeface="Cantare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279ef9b7fc5_0_25"/>
          <p:cNvSpPr txBox="1"/>
          <p:nvPr/>
        </p:nvSpPr>
        <p:spPr>
          <a:xfrm>
            <a:off x="488222" y="1646936"/>
            <a:ext cx="4274700" cy="509700"/>
          </a:xfrm>
          <a:prstGeom prst="rect">
            <a:avLst/>
          </a:prstGeom>
          <a:noFill/>
          <a:ln>
            <a:noFill/>
          </a:ln>
        </p:spPr>
        <p:txBody>
          <a:bodyPr anchorCtr="0" anchor="t" bIns="0" lIns="0" spcFirstLastPara="1" rIns="0" wrap="square" tIns="16925">
            <a:spAutoFit/>
          </a:bodyPr>
          <a:lstStyle/>
          <a:p>
            <a:pPr indent="-712029" lvl="0" marL="728115" marR="0" rtl="0" algn="l">
              <a:lnSpc>
                <a:spcPct val="1000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Web Applications:</a:t>
            </a:r>
            <a:endParaRPr b="0" i="0" sz="3200" u="none" cap="none" strike="noStrike">
              <a:solidFill>
                <a:schemeClr val="dk1"/>
              </a:solidFill>
              <a:latin typeface="Arial"/>
              <a:ea typeface="Arial"/>
              <a:cs typeface="Arial"/>
              <a:sym typeface="Arial"/>
            </a:endParaRPr>
          </a:p>
        </p:txBody>
      </p:sp>
      <p:sp>
        <p:nvSpPr>
          <p:cNvPr id="259" name="Google Shape;259;g279ef9b7fc5_0_25"/>
          <p:cNvSpPr txBox="1"/>
          <p:nvPr/>
        </p:nvSpPr>
        <p:spPr>
          <a:xfrm>
            <a:off x="488222" y="3817383"/>
            <a:ext cx="2236800" cy="509700"/>
          </a:xfrm>
          <a:prstGeom prst="rect">
            <a:avLst/>
          </a:prstGeom>
          <a:noFill/>
          <a:ln>
            <a:noFill/>
          </a:ln>
        </p:spPr>
        <p:txBody>
          <a:bodyPr anchorCtr="0" anchor="t" bIns="0" lIns="0" spcFirstLastPara="1" rIns="0" wrap="square" tIns="16925">
            <a:spAutoFit/>
          </a:bodyPr>
          <a:lstStyle/>
          <a:p>
            <a:pPr indent="-712029" lvl="0" marL="728115" marR="0" rtl="0" algn="l">
              <a:lnSpc>
                <a:spcPct val="1000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Games:</a:t>
            </a:r>
            <a:endParaRPr b="0" i="0" sz="3200" u="none" cap="none" strike="noStrike">
              <a:solidFill>
                <a:schemeClr val="dk1"/>
              </a:solidFill>
              <a:latin typeface="Arial"/>
              <a:ea typeface="Arial"/>
              <a:cs typeface="Arial"/>
              <a:sym typeface="Arial"/>
            </a:endParaRPr>
          </a:p>
        </p:txBody>
      </p:sp>
      <p:pic>
        <p:nvPicPr>
          <p:cNvPr id="260" name="Google Shape;260;g279ef9b7fc5_0_25"/>
          <p:cNvPicPr preferRelativeResize="0"/>
          <p:nvPr/>
        </p:nvPicPr>
        <p:blipFill rotWithShape="1">
          <a:blip r:embed="rId3">
            <a:alphaModFix/>
          </a:blip>
          <a:srcRect b="0" l="0" r="0" t="0"/>
          <a:stretch/>
        </p:blipFill>
        <p:spPr>
          <a:xfrm>
            <a:off x="1574800" y="2483103"/>
            <a:ext cx="1369568" cy="1089152"/>
          </a:xfrm>
          <a:prstGeom prst="rect">
            <a:avLst/>
          </a:prstGeom>
          <a:noFill/>
          <a:ln>
            <a:noFill/>
          </a:ln>
        </p:spPr>
      </p:pic>
      <p:pic>
        <p:nvPicPr>
          <p:cNvPr id="261" name="Google Shape;261;g279ef9b7fc5_0_25"/>
          <p:cNvPicPr preferRelativeResize="0"/>
          <p:nvPr/>
        </p:nvPicPr>
        <p:blipFill rotWithShape="1">
          <a:blip r:embed="rId4">
            <a:alphaModFix/>
          </a:blip>
          <a:srcRect b="0" l="0" r="0" t="0"/>
          <a:stretch/>
        </p:blipFill>
        <p:spPr>
          <a:xfrm>
            <a:off x="5012944" y="2483103"/>
            <a:ext cx="1879600" cy="1066800"/>
          </a:xfrm>
          <a:prstGeom prst="rect">
            <a:avLst/>
          </a:prstGeom>
          <a:noFill/>
          <a:ln>
            <a:noFill/>
          </a:ln>
        </p:spPr>
      </p:pic>
      <p:pic>
        <p:nvPicPr>
          <p:cNvPr id="262" name="Google Shape;262;g279ef9b7fc5_0_25"/>
          <p:cNvPicPr preferRelativeResize="0"/>
          <p:nvPr/>
        </p:nvPicPr>
        <p:blipFill rotWithShape="1">
          <a:blip r:embed="rId5">
            <a:alphaModFix/>
          </a:blip>
          <a:srcRect b="0" l="0" r="0" t="0"/>
          <a:stretch/>
        </p:blipFill>
        <p:spPr>
          <a:xfrm>
            <a:off x="1493519" y="4429760"/>
            <a:ext cx="1530096" cy="1658112"/>
          </a:xfrm>
          <a:prstGeom prst="rect">
            <a:avLst/>
          </a:prstGeom>
          <a:noFill/>
          <a:ln>
            <a:noFill/>
          </a:ln>
        </p:spPr>
      </p:pic>
      <p:pic>
        <p:nvPicPr>
          <p:cNvPr id="263" name="Google Shape;263;g279ef9b7fc5_0_25"/>
          <p:cNvPicPr preferRelativeResize="0"/>
          <p:nvPr/>
        </p:nvPicPr>
        <p:blipFill rotWithShape="1">
          <a:blip r:embed="rId6">
            <a:alphaModFix/>
          </a:blip>
          <a:srcRect b="0" l="0" r="0" t="0"/>
          <a:stretch/>
        </p:blipFill>
        <p:spPr>
          <a:xfrm>
            <a:off x="3436111" y="4293616"/>
            <a:ext cx="2738120" cy="2561336"/>
          </a:xfrm>
          <a:prstGeom prst="rect">
            <a:avLst/>
          </a:prstGeom>
          <a:noFill/>
          <a:ln>
            <a:noFill/>
          </a:ln>
        </p:spPr>
      </p:pic>
      <p:sp>
        <p:nvSpPr>
          <p:cNvPr id="264" name="Google Shape;264;g279ef9b7fc5_0_25"/>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2800" u="none" cap="none" strike="noStrike">
                <a:solidFill>
                  <a:srgbClr val="BF9000"/>
                </a:solidFill>
                <a:latin typeface="Calibri"/>
                <a:ea typeface="Calibri"/>
                <a:cs typeface="Calibri"/>
                <a:sym typeface="Calibri"/>
              </a:rPr>
              <a:t>Where java is used?</a:t>
            </a:r>
            <a:endParaRPr b="1" i="0" sz="2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279ef9b7fc5_0_35"/>
          <p:cNvSpPr txBox="1"/>
          <p:nvPr/>
        </p:nvSpPr>
        <p:spPr>
          <a:xfrm>
            <a:off x="405721" y="3140927"/>
            <a:ext cx="10864500" cy="1624800"/>
          </a:xfrm>
          <a:prstGeom prst="rect">
            <a:avLst/>
          </a:prstGeom>
          <a:noFill/>
          <a:ln>
            <a:noFill/>
          </a:ln>
        </p:spPr>
        <p:txBody>
          <a:bodyPr anchorCtr="0" anchor="t" bIns="0" lIns="0" spcFirstLastPara="1" rIns="0" wrap="square" tIns="16925">
            <a:spAutoFit/>
          </a:bodyPr>
          <a:lstStyle/>
          <a:p>
            <a:pPr indent="-711182" lvl="0" marL="727268" marR="6772" rtl="0" algn="just">
              <a:lnSpc>
                <a:spcPct val="1131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Standalone software is a computer software that can  work offline i.e it doesn’t necessarily require  network connection.</a:t>
            </a:r>
            <a:endParaRPr b="0" i="0" sz="3200" u="none" cap="none" strike="noStrike">
              <a:solidFill>
                <a:schemeClr val="dk1"/>
              </a:solidFill>
              <a:latin typeface="Arial"/>
              <a:ea typeface="Arial"/>
              <a:cs typeface="Arial"/>
              <a:sym typeface="Arial"/>
            </a:endParaRPr>
          </a:p>
        </p:txBody>
      </p:sp>
      <p:sp>
        <p:nvSpPr>
          <p:cNvPr id="270" name="Google Shape;270;g279ef9b7fc5_0_35"/>
          <p:cNvSpPr txBox="1"/>
          <p:nvPr/>
        </p:nvSpPr>
        <p:spPr>
          <a:xfrm>
            <a:off x="438233" y="1398186"/>
            <a:ext cx="440400" cy="5097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3200"/>
              <a:buFont typeface="Arial"/>
              <a:buNone/>
            </a:pPr>
            <a:r>
              <a:rPr b="0" i="0" lang="en-IN" sz="3200" u="none" cap="none" strike="noStrike">
                <a:solidFill>
                  <a:srgbClr val="F3F3F3"/>
                </a:solidFill>
                <a:highlight>
                  <a:srgbClr val="000000"/>
                </a:highlight>
                <a:latin typeface="MS PGothic"/>
                <a:ea typeface="MS PGothic"/>
                <a:cs typeface="MS PGothic"/>
                <a:sym typeface="MS PGothic"/>
              </a:rPr>
              <a:t>➢</a:t>
            </a:r>
            <a:endParaRPr b="0" i="0" sz="3200" u="none" cap="none" strike="noStrike">
              <a:solidFill>
                <a:schemeClr val="dk1"/>
              </a:solidFill>
              <a:highlight>
                <a:srgbClr val="000000"/>
              </a:highlight>
              <a:latin typeface="MS PGothic"/>
              <a:ea typeface="MS PGothic"/>
              <a:cs typeface="MS PGothic"/>
              <a:sym typeface="MS PGothic"/>
            </a:endParaRPr>
          </a:p>
        </p:txBody>
      </p:sp>
      <p:sp>
        <p:nvSpPr>
          <p:cNvPr id="271" name="Google Shape;271;g279ef9b7fc5_0_35"/>
          <p:cNvSpPr txBox="1"/>
          <p:nvPr/>
        </p:nvSpPr>
        <p:spPr>
          <a:xfrm>
            <a:off x="1145370" y="1172294"/>
            <a:ext cx="10023600" cy="1248900"/>
          </a:xfrm>
          <a:prstGeom prst="rect">
            <a:avLst/>
          </a:prstGeom>
          <a:noFill/>
          <a:ln>
            <a:noFill/>
          </a:ln>
        </p:spPr>
        <p:txBody>
          <a:bodyPr anchorCtr="0" anchor="t" bIns="0" lIns="0" spcFirstLastPara="1" rIns="0" wrap="square" tIns="16925">
            <a:spAutoFit/>
          </a:bodyPr>
          <a:lstStyle/>
          <a:p>
            <a:pPr indent="0" lvl="0" marL="16932" marR="6772" rtl="0" algn="l">
              <a:lnSpc>
                <a:spcPct val="150100"/>
              </a:lnSpc>
              <a:spcBef>
                <a:spcPts val="0"/>
              </a:spcBef>
              <a:spcAft>
                <a:spcPts val="0"/>
              </a:spcAft>
              <a:buClr>
                <a:srgbClr val="000000"/>
              </a:buClr>
              <a:buSzPts val="3200"/>
              <a:buFont typeface="Arial"/>
              <a:buNone/>
            </a:pPr>
            <a:r>
              <a:rPr b="1" i="0" lang="en-IN" sz="3200" u="none" cap="none" strike="noStrike">
                <a:solidFill>
                  <a:srgbClr val="92D050"/>
                </a:solidFill>
                <a:latin typeface="Arial"/>
                <a:ea typeface="Arial"/>
                <a:cs typeface="Arial"/>
                <a:sym typeface="Arial"/>
              </a:rPr>
              <a:t>Standalone application: </a:t>
            </a:r>
            <a:r>
              <a:rPr b="1" i="0" lang="en-IN" sz="3200" u="none" cap="none" strike="noStrike">
                <a:solidFill>
                  <a:schemeClr val="dk1"/>
                </a:solidFill>
                <a:latin typeface="Arial"/>
                <a:ea typeface="Arial"/>
                <a:cs typeface="Arial"/>
                <a:sym typeface="Arial"/>
              </a:rPr>
              <a:t>It is also known as desktop  application (or) window-based application.</a:t>
            </a:r>
            <a:endParaRPr b="0" i="0" sz="3200" u="none" cap="none" strike="noStrike">
              <a:solidFill>
                <a:schemeClr val="dk1"/>
              </a:solidFill>
              <a:latin typeface="Arial"/>
              <a:ea typeface="Arial"/>
              <a:cs typeface="Arial"/>
              <a:sym typeface="Arial"/>
            </a:endParaRPr>
          </a:p>
        </p:txBody>
      </p:sp>
      <p:sp>
        <p:nvSpPr>
          <p:cNvPr id="272" name="Google Shape;272;g279ef9b7fc5_0_35"/>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3000" u="none" cap="none" strike="noStrike">
                <a:solidFill>
                  <a:srgbClr val="BF9000"/>
                </a:solidFill>
                <a:latin typeface="Calibri"/>
                <a:ea typeface="Calibri"/>
                <a:cs typeface="Calibri"/>
                <a:sym typeface="Calibri"/>
              </a:rPr>
              <a:t>Types of Java Applications</a:t>
            </a:r>
            <a:endParaRPr b="1" i="0" sz="3000" u="none" cap="none" strike="noStrike">
              <a:solidFill>
                <a:srgbClr val="BF9000"/>
              </a:solidFill>
              <a:latin typeface="Cantarell"/>
              <a:ea typeface="Cantarell"/>
              <a:cs typeface="Cantarell"/>
              <a:sym typeface="Cantare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279ef9b7fc5_0_42"/>
          <p:cNvSpPr txBox="1"/>
          <p:nvPr/>
        </p:nvSpPr>
        <p:spPr>
          <a:xfrm>
            <a:off x="539022" y="1109301"/>
            <a:ext cx="10882200" cy="4409400"/>
          </a:xfrm>
          <a:prstGeom prst="rect">
            <a:avLst/>
          </a:prstGeom>
          <a:noFill/>
          <a:ln>
            <a:noFill/>
          </a:ln>
        </p:spPr>
        <p:txBody>
          <a:bodyPr anchorCtr="0" anchor="t" bIns="0" lIns="0" spcFirstLastPara="1" rIns="0" wrap="square" tIns="16075">
            <a:spAutoFit/>
          </a:bodyPr>
          <a:lstStyle/>
          <a:p>
            <a:pPr indent="-712029" lvl="0" marL="728115" marR="11005" rtl="0" algn="just">
              <a:lnSpc>
                <a:spcPct val="111100"/>
              </a:lnSpc>
              <a:spcBef>
                <a:spcPts val="0"/>
              </a:spcBef>
              <a:spcAft>
                <a:spcPts val="0"/>
              </a:spcAft>
              <a:buClr>
                <a:srgbClr val="F3F3F3"/>
              </a:buClr>
              <a:buSzPts val="3200"/>
              <a:buFont typeface="MS PGothic"/>
              <a:buChar char="➢"/>
            </a:pPr>
            <a:r>
              <a:rPr b="1" i="0" lang="en-IN" sz="3200" u="none" cap="none" strike="noStrike">
                <a:solidFill>
                  <a:srgbClr val="92D050"/>
                </a:solidFill>
                <a:latin typeface="Arial"/>
                <a:ea typeface="Arial"/>
                <a:cs typeface="Arial"/>
                <a:sym typeface="Arial"/>
              </a:rPr>
              <a:t>Web application: </a:t>
            </a:r>
            <a:r>
              <a:rPr b="1" i="0" lang="en-IN" sz="3200" u="none" cap="none" strike="noStrike">
                <a:solidFill>
                  <a:schemeClr val="dk1"/>
                </a:solidFill>
                <a:latin typeface="Arial"/>
                <a:ea typeface="Arial"/>
                <a:cs typeface="Arial"/>
                <a:sym typeface="Arial"/>
              </a:rPr>
              <a:t>An application that is stored on a  remote server and delivered over the internet  through a browser interface.</a:t>
            </a:r>
            <a:endParaRPr b="0" i="0" sz="3200" u="none" cap="none" strike="noStrike">
              <a:solidFill>
                <a:schemeClr val="dk1"/>
              </a:solidFill>
              <a:latin typeface="Arial"/>
              <a:ea typeface="Arial"/>
              <a:cs typeface="Arial"/>
              <a:sym typeface="Arial"/>
            </a:endParaRPr>
          </a:p>
          <a:p>
            <a:pPr indent="-712029" lvl="0" marL="728115" marR="6772" rtl="0" algn="just">
              <a:lnSpc>
                <a:spcPct val="113999"/>
              </a:lnSpc>
              <a:spcBef>
                <a:spcPts val="100"/>
              </a:spcBef>
              <a:spcAft>
                <a:spcPts val="0"/>
              </a:spcAft>
              <a:buClr>
                <a:srgbClr val="F3F3F3"/>
              </a:buClr>
              <a:buSzPts val="3200"/>
              <a:buFont typeface="MS PGothic"/>
              <a:buChar char="➢"/>
            </a:pPr>
            <a:r>
              <a:rPr b="1" i="0" lang="en-IN" sz="3200" u="none" cap="none" strike="noStrike">
                <a:solidFill>
                  <a:srgbClr val="92D050"/>
                </a:solidFill>
                <a:latin typeface="Arial"/>
                <a:ea typeface="Arial"/>
                <a:cs typeface="Arial"/>
                <a:sym typeface="Arial"/>
              </a:rPr>
              <a:t>Enterprise application:</a:t>
            </a:r>
            <a:r>
              <a:rPr b="1" i="0" lang="en-IN" sz="3200" u="none" cap="none" strike="noStrike">
                <a:solidFill>
                  <a:schemeClr val="dk1"/>
                </a:solidFill>
                <a:latin typeface="Arial"/>
                <a:ea typeface="Arial"/>
                <a:cs typeface="Arial"/>
                <a:sym typeface="Arial"/>
              </a:rPr>
              <a:t> Enterprise software is  computer software used to satisfy the needs of an  organization rather than individual users. Such  organizations would include business, schools,  clubs, charities or governments.</a:t>
            </a:r>
            <a:endParaRPr b="0" i="0" sz="3200" u="none" cap="none" strike="noStrike">
              <a:solidFill>
                <a:schemeClr val="dk1"/>
              </a:solidFill>
              <a:latin typeface="Arial"/>
              <a:ea typeface="Arial"/>
              <a:cs typeface="Arial"/>
              <a:sym typeface="Arial"/>
            </a:endParaRPr>
          </a:p>
        </p:txBody>
      </p:sp>
      <p:sp>
        <p:nvSpPr>
          <p:cNvPr id="278" name="Google Shape;278;g279ef9b7fc5_0_42"/>
          <p:cNvSpPr/>
          <p:nvPr/>
        </p:nvSpPr>
        <p:spPr>
          <a:xfrm>
            <a:off x="3309590" y="219025"/>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3000" u="none" cap="none" strike="noStrike">
                <a:solidFill>
                  <a:srgbClr val="BF9000"/>
                </a:solidFill>
                <a:latin typeface="Calibri"/>
                <a:ea typeface="Calibri"/>
                <a:cs typeface="Calibri"/>
                <a:sym typeface="Calibri"/>
              </a:rPr>
              <a:t>Types of Java Applications</a:t>
            </a:r>
            <a:endParaRPr b="1" i="0" sz="3000" u="none" cap="none" strike="noStrike">
              <a:solidFill>
                <a:srgbClr val="BF9000"/>
              </a:solidFill>
              <a:latin typeface="Cantarell"/>
              <a:ea typeface="Cantarell"/>
              <a:cs typeface="Cantarell"/>
              <a:sym typeface="Cantare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279ef9b7fc5_0_47"/>
          <p:cNvSpPr txBox="1"/>
          <p:nvPr/>
        </p:nvSpPr>
        <p:spPr>
          <a:xfrm>
            <a:off x="539022" y="1037337"/>
            <a:ext cx="9572400" cy="709800"/>
          </a:xfrm>
          <a:prstGeom prst="rect">
            <a:avLst/>
          </a:prstGeom>
          <a:noFill/>
          <a:ln>
            <a:noFill/>
          </a:ln>
        </p:spPr>
        <p:txBody>
          <a:bodyPr anchorCtr="0" anchor="t" bIns="0" lIns="0" spcFirstLastPara="1" rIns="0" wrap="square" tIns="16925">
            <a:spAutoFit/>
          </a:bodyPr>
          <a:lstStyle/>
          <a:p>
            <a:pPr indent="0" lvl="0" marL="0" marR="0" rtl="0" algn="l">
              <a:lnSpc>
                <a:spcPct val="100000"/>
              </a:lnSpc>
              <a:spcBef>
                <a:spcPts val="0"/>
              </a:spcBef>
              <a:spcAft>
                <a:spcPts val="0"/>
              </a:spcAft>
              <a:buClr>
                <a:srgbClr val="000000"/>
              </a:buClr>
              <a:buSzPts val="4500"/>
              <a:buFont typeface="Arial"/>
              <a:buNone/>
            </a:pPr>
            <a:r>
              <a:rPr b="1" baseline="30000" i="0" lang="en-IN" sz="4500" u="none" cap="none" strike="noStrike">
                <a:solidFill>
                  <a:srgbClr val="00FF00"/>
                </a:solidFill>
                <a:latin typeface="Arial"/>
                <a:ea typeface="Arial"/>
                <a:cs typeface="Arial"/>
                <a:sym typeface="Arial"/>
              </a:rPr>
              <a:t>Mobile Application</a:t>
            </a:r>
            <a:endParaRPr b="0" i="0" sz="3200" u="none" cap="none" strike="noStrike">
              <a:solidFill>
                <a:schemeClr val="dk1"/>
              </a:solidFill>
              <a:latin typeface="Arial"/>
              <a:ea typeface="Arial"/>
              <a:cs typeface="Arial"/>
              <a:sym typeface="Arial"/>
            </a:endParaRPr>
          </a:p>
        </p:txBody>
      </p:sp>
      <p:sp>
        <p:nvSpPr>
          <p:cNvPr id="284" name="Google Shape;284;g279ef9b7fc5_0_47"/>
          <p:cNvSpPr txBox="1"/>
          <p:nvPr/>
        </p:nvSpPr>
        <p:spPr>
          <a:xfrm>
            <a:off x="10243717" y="1037337"/>
            <a:ext cx="1044900" cy="5097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most</a:t>
            </a:r>
            <a:endParaRPr b="0" i="0" sz="3200" u="none" cap="none" strike="noStrike">
              <a:solidFill>
                <a:schemeClr val="dk1"/>
              </a:solidFill>
              <a:latin typeface="Arial"/>
              <a:ea typeface="Arial"/>
              <a:cs typeface="Arial"/>
              <a:sym typeface="Arial"/>
            </a:endParaRPr>
          </a:p>
        </p:txBody>
      </p:sp>
      <p:sp>
        <p:nvSpPr>
          <p:cNvPr id="285" name="Google Shape;285;g279ef9b7fc5_0_47"/>
          <p:cNvSpPr txBox="1"/>
          <p:nvPr/>
        </p:nvSpPr>
        <p:spPr>
          <a:xfrm>
            <a:off x="1195900" y="1747126"/>
            <a:ext cx="10170300" cy="2989800"/>
          </a:xfrm>
          <a:prstGeom prst="rect">
            <a:avLst/>
          </a:prstGeom>
          <a:noFill/>
          <a:ln>
            <a:noFill/>
          </a:ln>
        </p:spPr>
        <p:txBody>
          <a:bodyPr anchorCtr="0" anchor="t" bIns="0" lIns="0" spcFirstLastPara="1" rIns="0" wrap="square" tIns="15225">
            <a:spAutoFit/>
          </a:bodyPr>
          <a:lstStyle/>
          <a:p>
            <a:pPr indent="0" lvl="0" marL="16932" marR="11005" rtl="0" algn="just">
              <a:lnSpc>
                <a:spcPct val="111900"/>
              </a:lnSpc>
              <a:spcBef>
                <a:spcPts val="0"/>
              </a:spcBef>
              <a:spcAft>
                <a:spcPts val="0"/>
              </a:spcAft>
              <a:buClr>
                <a:srgbClr val="000000"/>
              </a:buClr>
              <a:buSzPts val="3200"/>
              <a:buFont typeface="Arial"/>
              <a:buNone/>
            </a:pPr>
            <a:r>
              <a:rPr b="1" i="0" lang="en-IN" sz="2400" u="none" cap="none" strike="noStrike">
                <a:solidFill>
                  <a:schemeClr val="dk1"/>
                </a:solidFill>
                <a:latin typeface="Arial"/>
                <a:ea typeface="Arial"/>
                <a:cs typeface="Arial"/>
                <a:sym typeface="Arial"/>
              </a:rPr>
              <a:t>Mobile application commonly referred to as an app, is a type of  application software designed to run on a mobile  device, such as smartphone or tablet computer.</a:t>
            </a:r>
            <a:endParaRPr b="0" i="0" sz="2400" u="none" cap="none" strike="noStrike">
              <a:solidFill>
                <a:schemeClr val="dk1"/>
              </a:solidFill>
              <a:latin typeface="Arial"/>
              <a:ea typeface="Arial"/>
              <a:cs typeface="Arial"/>
              <a:sym typeface="Arial"/>
            </a:endParaRPr>
          </a:p>
          <a:p>
            <a:pPr indent="0" lvl="0" marL="16932" marR="6772" rtl="0" algn="just">
              <a:lnSpc>
                <a:spcPct val="113199"/>
              </a:lnSpc>
              <a:spcBef>
                <a:spcPts val="113"/>
              </a:spcBef>
              <a:spcAft>
                <a:spcPts val="0"/>
              </a:spcAft>
              <a:buClr>
                <a:srgbClr val="000000"/>
              </a:buClr>
              <a:buSzPts val="3200"/>
              <a:buFont typeface="Arial"/>
              <a:buNone/>
            </a:pPr>
            <a:r>
              <a:rPr b="1" i="0" lang="en-IN" sz="2400" u="none" cap="none" strike="noStrike">
                <a:solidFill>
                  <a:schemeClr val="dk1"/>
                </a:solidFill>
                <a:latin typeface="Arial"/>
                <a:ea typeface="Arial"/>
                <a:cs typeface="Arial"/>
                <a:sym typeface="Arial"/>
              </a:rPr>
              <a:t>Mobile applications frequently serve to provide  users with similar services to those accessed on  PCs.</a:t>
            </a:r>
            <a:endParaRPr b="0" i="0" sz="2400" u="none" cap="none" strike="noStrike">
              <a:solidFill>
                <a:schemeClr val="dk1"/>
              </a:solidFill>
              <a:latin typeface="Arial"/>
              <a:ea typeface="Arial"/>
              <a:cs typeface="Arial"/>
              <a:sym typeface="Arial"/>
            </a:endParaRPr>
          </a:p>
          <a:p>
            <a:pPr indent="0" lvl="0" marL="16932" marR="0" rtl="0" algn="just">
              <a:lnSpc>
                <a:spcPct val="100000"/>
              </a:lnSpc>
              <a:spcBef>
                <a:spcPts val="707"/>
              </a:spcBef>
              <a:spcAft>
                <a:spcPts val="0"/>
              </a:spcAft>
              <a:buClr>
                <a:srgbClr val="000000"/>
              </a:buClr>
              <a:buSzPts val="3200"/>
              <a:buFont typeface="Arial"/>
              <a:buNone/>
            </a:pPr>
            <a:r>
              <a:rPr b="1" i="0" lang="en-IN" sz="2400" u="none" cap="none" strike="noStrike">
                <a:solidFill>
                  <a:schemeClr val="dk1"/>
                </a:solidFill>
                <a:latin typeface="Arial"/>
                <a:ea typeface="Arial"/>
                <a:cs typeface="Arial"/>
                <a:sym typeface="Arial"/>
              </a:rPr>
              <a:t>Apps are generally small, individual software units</a:t>
            </a:r>
            <a:endParaRPr b="0" i="0" sz="2400" u="none" cap="none" strike="noStrike">
              <a:solidFill>
                <a:schemeClr val="dk1"/>
              </a:solidFill>
              <a:latin typeface="Arial"/>
              <a:ea typeface="Arial"/>
              <a:cs typeface="Arial"/>
              <a:sym typeface="Arial"/>
            </a:endParaRPr>
          </a:p>
          <a:p>
            <a:pPr indent="0" lvl="0" marL="16932" marR="0" rtl="0" algn="just">
              <a:lnSpc>
                <a:spcPct val="100000"/>
              </a:lnSpc>
              <a:spcBef>
                <a:spcPts val="420"/>
              </a:spcBef>
              <a:spcAft>
                <a:spcPts val="0"/>
              </a:spcAft>
              <a:buClr>
                <a:srgbClr val="000000"/>
              </a:buClr>
              <a:buSzPts val="3200"/>
              <a:buFont typeface="Arial"/>
              <a:buNone/>
            </a:pPr>
            <a:r>
              <a:rPr b="1" i="0" lang="en-IN" sz="2400" u="none" cap="none" strike="noStrike">
                <a:solidFill>
                  <a:schemeClr val="dk1"/>
                </a:solidFill>
                <a:latin typeface="Arial"/>
                <a:ea typeface="Arial"/>
                <a:cs typeface="Arial"/>
                <a:sym typeface="Arial"/>
              </a:rPr>
              <a:t>with limited function.</a:t>
            </a:r>
            <a:endParaRPr b="0" i="0" sz="2400" u="none" cap="none" strike="noStrike">
              <a:solidFill>
                <a:schemeClr val="dk1"/>
              </a:solidFill>
              <a:latin typeface="Arial"/>
              <a:ea typeface="Arial"/>
              <a:cs typeface="Arial"/>
              <a:sym typeface="Arial"/>
            </a:endParaRPr>
          </a:p>
        </p:txBody>
      </p:sp>
      <p:sp>
        <p:nvSpPr>
          <p:cNvPr id="286" name="Google Shape;286;g279ef9b7fc5_0_47"/>
          <p:cNvSpPr/>
          <p:nvPr/>
        </p:nvSpPr>
        <p:spPr>
          <a:xfrm>
            <a:off x="3051721" y="204981"/>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3000" u="none" cap="none" strike="noStrike">
                <a:solidFill>
                  <a:srgbClr val="BF9000"/>
                </a:solidFill>
                <a:latin typeface="Calibri"/>
                <a:ea typeface="Calibri"/>
                <a:cs typeface="Calibri"/>
                <a:sym typeface="Calibri"/>
              </a:rPr>
              <a:t>Types of Java Applications</a:t>
            </a:r>
            <a:endParaRPr b="1" i="0" sz="3000" u="none" cap="none" strike="noStrike">
              <a:solidFill>
                <a:srgbClr val="BF9000"/>
              </a:solidFill>
              <a:latin typeface="Cantarell"/>
              <a:ea typeface="Cantarell"/>
              <a:cs typeface="Cantarell"/>
              <a:sym typeface="Cantare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279ef9b7fc5_0_54"/>
          <p:cNvSpPr txBox="1"/>
          <p:nvPr/>
        </p:nvSpPr>
        <p:spPr>
          <a:xfrm>
            <a:off x="539022" y="980778"/>
            <a:ext cx="5315400" cy="4364700"/>
          </a:xfrm>
          <a:prstGeom prst="rect">
            <a:avLst/>
          </a:prstGeom>
          <a:noFill/>
          <a:ln>
            <a:noFill/>
          </a:ln>
        </p:spPr>
        <p:txBody>
          <a:bodyPr anchorCtr="0" anchor="t" bIns="0" lIns="0" spcFirstLastPara="1" rIns="0" wrap="square" tIns="63500">
            <a:spAutoFit/>
          </a:bodyPr>
          <a:lstStyle/>
          <a:p>
            <a:pPr indent="-712029" lvl="0" marL="728115" marR="0" rtl="0" algn="l">
              <a:lnSpc>
                <a:spcPct val="1000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Simple</a:t>
            </a:r>
            <a:endParaRPr b="0" i="0" sz="3200" u="none" cap="none" strike="noStrike">
              <a:solidFill>
                <a:schemeClr val="dk1"/>
              </a:solidFill>
              <a:latin typeface="Arial"/>
              <a:ea typeface="Arial"/>
              <a:cs typeface="Arial"/>
              <a:sym typeface="Arial"/>
            </a:endParaRPr>
          </a:p>
          <a:p>
            <a:pPr indent="-712029" lvl="0" marL="728115" marR="0" rtl="0" algn="l">
              <a:lnSpc>
                <a:spcPct val="100000"/>
              </a:lnSpc>
              <a:spcBef>
                <a:spcPts val="367"/>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Object - Oriented</a:t>
            </a:r>
            <a:endParaRPr b="0" i="0" sz="3200" u="none" cap="none" strike="noStrike">
              <a:solidFill>
                <a:schemeClr val="dk1"/>
              </a:solidFill>
              <a:latin typeface="Arial"/>
              <a:ea typeface="Arial"/>
              <a:cs typeface="Arial"/>
              <a:sym typeface="Arial"/>
            </a:endParaRPr>
          </a:p>
          <a:p>
            <a:pPr indent="-712029" lvl="0" marL="728115" marR="0" rtl="0" algn="l">
              <a:lnSpc>
                <a:spcPct val="100000"/>
              </a:lnSpc>
              <a:spcBef>
                <a:spcPts val="407"/>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Platform	independent</a:t>
            </a:r>
            <a:endParaRPr b="0" i="0" sz="3200" u="none" cap="none" strike="noStrike">
              <a:solidFill>
                <a:schemeClr val="dk1"/>
              </a:solidFill>
              <a:latin typeface="Arial"/>
              <a:ea typeface="Arial"/>
              <a:cs typeface="Arial"/>
              <a:sym typeface="Arial"/>
            </a:endParaRPr>
          </a:p>
          <a:p>
            <a:pPr indent="-712029" lvl="0" marL="728115" marR="0" rtl="0" algn="l">
              <a:lnSpc>
                <a:spcPct val="100000"/>
              </a:lnSpc>
              <a:spcBef>
                <a:spcPts val="427"/>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Secured</a:t>
            </a:r>
            <a:endParaRPr b="0" i="0" sz="3200" u="none" cap="none" strike="noStrike">
              <a:solidFill>
                <a:schemeClr val="dk1"/>
              </a:solidFill>
              <a:latin typeface="Arial"/>
              <a:ea typeface="Arial"/>
              <a:cs typeface="Arial"/>
              <a:sym typeface="Arial"/>
            </a:endParaRPr>
          </a:p>
          <a:p>
            <a:pPr indent="-712029" lvl="0" marL="728115" marR="0" rtl="0" algn="l">
              <a:lnSpc>
                <a:spcPct val="100000"/>
              </a:lnSpc>
              <a:spcBef>
                <a:spcPts val="40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Robust</a:t>
            </a:r>
            <a:endParaRPr b="0" i="0" sz="3200" u="none" cap="none" strike="noStrike">
              <a:solidFill>
                <a:schemeClr val="dk1"/>
              </a:solidFill>
              <a:latin typeface="Arial"/>
              <a:ea typeface="Arial"/>
              <a:cs typeface="Arial"/>
              <a:sym typeface="Arial"/>
            </a:endParaRPr>
          </a:p>
          <a:p>
            <a:pPr indent="-712029" lvl="0" marL="728115" marR="0" rtl="0" algn="l">
              <a:lnSpc>
                <a:spcPct val="100000"/>
              </a:lnSpc>
              <a:spcBef>
                <a:spcPts val="373"/>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Architecture neutral</a:t>
            </a:r>
            <a:endParaRPr b="0" i="0" sz="3200" u="none" cap="none" strike="noStrike">
              <a:solidFill>
                <a:schemeClr val="dk1"/>
              </a:solidFill>
              <a:latin typeface="Arial"/>
              <a:ea typeface="Arial"/>
              <a:cs typeface="Arial"/>
              <a:sym typeface="Arial"/>
            </a:endParaRPr>
          </a:p>
          <a:p>
            <a:pPr indent="-712029" lvl="0" marL="728115" marR="0" rtl="0" algn="l">
              <a:lnSpc>
                <a:spcPct val="100000"/>
              </a:lnSpc>
              <a:spcBef>
                <a:spcPts val="433"/>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Portable</a:t>
            </a:r>
            <a:endParaRPr b="0" i="0" sz="3200" u="none" cap="none" strike="noStrike">
              <a:solidFill>
                <a:schemeClr val="dk1"/>
              </a:solidFill>
              <a:latin typeface="Arial"/>
              <a:ea typeface="Arial"/>
              <a:cs typeface="Arial"/>
              <a:sym typeface="Arial"/>
            </a:endParaRPr>
          </a:p>
          <a:p>
            <a:pPr indent="-712029" lvl="0" marL="728115" marR="0" rtl="0" algn="l">
              <a:lnSpc>
                <a:spcPct val="100000"/>
              </a:lnSpc>
              <a:spcBef>
                <a:spcPts val="40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Dynamic</a:t>
            </a:r>
            <a:endParaRPr b="0" i="0" sz="3200" u="none" cap="none" strike="noStrike">
              <a:solidFill>
                <a:schemeClr val="dk1"/>
              </a:solidFill>
              <a:latin typeface="Arial"/>
              <a:ea typeface="Arial"/>
              <a:cs typeface="Arial"/>
              <a:sym typeface="Arial"/>
            </a:endParaRPr>
          </a:p>
        </p:txBody>
      </p:sp>
      <p:sp>
        <p:nvSpPr>
          <p:cNvPr id="292" name="Google Shape;292;g279ef9b7fc5_0_54"/>
          <p:cNvSpPr txBox="1"/>
          <p:nvPr/>
        </p:nvSpPr>
        <p:spPr>
          <a:xfrm>
            <a:off x="6909307" y="1015628"/>
            <a:ext cx="4374000" cy="2190000"/>
          </a:xfrm>
          <a:prstGeom prst="rect">
            <a:avLst/>
          </a:prstGeom>
          <a:noFill/>
          <a:ln>
            <a:noFill/>
          </a:ln>
        </p:spPr>
        <p:txBody>
          <a:bodyPr anchorCtr="0" anchor="t" bIns="0" lIns="0" spcFirstLastPara="1" rIns="0" wrap="square" tIns="64325">
            <a:spAutoFit/>
          </a:bodyPr>
          <a:lstStyle/>
          <a:p>
            <a:pPr indent="-711182" lvl="0" marL="728115" marR="0" rtl="0" algn="l">
              <a:lnSpc>
                <a:spcPct val="1000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Interpreted</a:t>
            </a:r>
            <a:endParaRPr b="0" i="0" sz="3200" u="none" cap="none" strike="noStrike">
              <a:solidFill>
                <a:schemeClr val="dk1"/>
              </a:solidFill>
              <a:latin typeface="Arial"/>
              <a:ea typeface="Arial"/>
              <a:cs typeface="Arial"/>
              <a:sym typeface="Arial"/>
            </a:endParaRPr>
          </a:p>
          <a:p>
            <a:pPr indent="-711182" lvl="0" marL="728115" marR="0" rtl="0" algn="l">
              <a:lnSpc>
                <a:spcPct val="100000"/>
              </a:lnSpc>
              <a:spcBef>
                <a:spcPts val="373"/>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High Performance</a:t>
            </a:r>
            <a:endParaRPr b="0" i="0" sz="3200" u="none" cap="none" strike="noStrike">
              <a:solidFill>
                <a:schemeClr val="dk1"/>
              </a:solidFill>
              <a:latin typeface="Arial"/>
              <a:ea typeface="Arial"/>
              <a:cs typeface="Arial"/>
              <a:sym typeface="Arial"/>
            </a:endParaRPr>
          </a:p>
          <a:p>
            <a:pPr indent="-711182" lvl="0" marL="728115" marR="0" rtl="0" algn="l">
              <a:lnSpc>
                <a:spcPct val="100000"/>
              </a:lnSpc>
              <a:spcBef>
                <a:spcPts val="40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Multi Threaded</a:t>
            </a:r>
            <a:endParaRPr b="0" i="0" sz="3200" u="none" cap="none" strike="noStrike">
              <a:solidFill>
                <a:schemeClr val="dk1"/>
              </a:solidFill>
              <a:latin typeface="Arial"/>
              <a:ea typeface="Arial"/>
              <a:cs typeface="Arial"/>
              <a:sym typeface="Arial"/>
            </a:endParaRPr>
          </a:p>
          <a:p>
            <a:pPr indent="-711182" lvl="0" marL="728115" marR="0" rtl="0" algn="l">
              <a:lnSpc>
                <a:spcPct val="100000"/>
              </a:lnSpc>
              <a:spcBef>
                <a:spcPts val="433"/>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Distributed</a:t>
            </a:r>
            <a:endParaRPr b="0" i="0" sz="3200" u="none" cap="none" strike="noStrike">
              <a:solidFill>
                <a:schemeClr val="dk1"/>
              </a:solidFill>
              <a:latin typeface="Arial"/>
              <a:ea typeface="Arial"/>
              <a:cs typeface="Arial"/>
              <a:sym typeface="Arial"/>
            </a:endParaRPr>
          </a:p>
        </p:txBody>
      </p:sp>
      <p:sp>
        <p:nvSpPr>
          <p:cNvPr id="293" name="Google Shape;293;g279ef9b7fc5_0_54"/>
          <p:cNvSpPr/>
          <p:nvPr/>
        </p:nvSpPr>
        <p:spPr>
          <a:xfrm>
            <a:off x="2881392" y="149772"/>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3400" u="none" cap="none" strike="noStrike">
                <a:solidFill>
                  <a:srgbClr val="BF9000"/>
                </a:solidFill>
                <a:latin typeface="Calibri"/>
                <a:ea typeface="Calibri"/>
                <a:cs typeface="Calibri"/>
                <a:sym typeface="Calibri"/>
              </a:rPr>
              <a:t>Features of Java </a:t>
            </a:r>
            <a:endParaRPr b="1" i="0" sz="3400" u="none" cap="none" strike="noStrike">
              <a:solidFill>
                <a:srgbClr val="BF9000"/>
              </a:solidFill>
              <a:latin typeface="Cantarell"/>
              <a:ea typeface="Cantarell"/>
              <a:cs typeface="Cantarell"/>
              <a:sym typeface="Cantare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279ef9b7fc5_0_60"/>
          <p:cNvSpPr txBox="1"/>
          <p:nvPr/>
        </p:nvSpPr>
        <p:spPr>
          <a:xfrm>
            <a:off x="601508" y="1134122"/>
            <a:ext cx="10989000" cy="5592000"/>
          </a:xfrm>
          <a:prstGeom prst="rect">
            <a:avLst/>
          </a:prstGeom>
          <a:noFill/>
          <a:ln>
            <a:noFill/>
          </a:ln>
        </p:spPr>
        <p:txBody>
          <a:bodyPr anchorCtr="0" anchor="t" bIns="0" lIns="0" spcFirstLastPara="1" rIns="0" wrap="square" tIns="90575">
            <a:spAutoFit/>
          </a:bodyPr>
          <a:lstStyle/>
          <a:p>
            <a:pPr indent="0" lvl="0" marL="0" marR="0" rtl="0" algn="l">
              <a:lnSpc>
                <a:spcPct val="100000"/>
              </a:lnSpc>
              <a:spcBef>
                <a:spcPts val="0"/>
              </a:spcBef>
              <a:spcAft>
                <a:spcPts val="0"/>
              </a:spcAft>
              <a:buClr>
                <a:srgbClr val="000000"/>
              </a:buClr>
              <a:buSzPts val="2800"/>
              <a:buFont typeface="Arial"/>
              <a:buNone/>
            </a:pPr>
            <a:r>
              <a:rPr b="1" i="0" lang="en-IN" sz="2800" u="none" cap="none" strike="noStrike">
                <a:solidFill>
                  <a:schemeClr val="dk1"/>
                </a:solidFill>
                <a:latin typeface="Calibri"/>
                <a:ea typeface="Calibri"/>
                <a:cs typeface="Calibri"/>
                <a:sym typeface="Calibri"/>
              </a:rPr>
              <a:t>Simple</a:t>
            </a:r>
            <a:r>
              <a:rPr b="0" i="0" lang="en-IN" sz="2800" u="none" cap="none" strike="noStrike">
                <a:solidFill>
                  <a:schemeClr val="dk1"/>
                </a:solidFill>
                <a:latin typeface="Calibri"/>
                <a:ea typeface="Calibri"/>
                <a:cs typeface="Calibri"/>
                <a:sym typeface="Calibri"/>
              </a:rPr>
              <a:t>- Java is very easy to learn and its syntax is simple, clean and easy to understand.</a:t>
            </a:r>
            <a:endParaRPr b="0" i="0" sz="2800" u="none" cap="none" strike="noStrike">
              <a:solidFill>
                <a:schemeClr val="dk1"/>
              </a:solidFill>
              <a:latin typeface="Calibri"/>
              <a:ea typeface="Calibri"/>
              <a:cs typeface="Calibri"/>
              <a:sym typeface="Calibri"/>
            </a:endParaRPr>
          </a:p>
          <a:p>
            <a:pPr indent="0" lvl="0" marL="16932" marR="0" rtl="0" algn="l">
              <a:lnSpc>
                <a:spcPct val="100000"/>
              </a:lnSpc>
              <a:spcBef>
                <a:spcPts val="579"/>
              </a:spcBef>
              <a:spcAft>
                <a:spcPts val="0"/>
              </a:spcAft>
              <a:buClr>
                <a:srgbClr val="000000"/>
              </a:buClr>
              <a:buSzPts val="2400"/>
              <a:buFont typeface="Arial"/>
              <a:buNone/>
            </a:pPr>
            <a:r>
              <a:rPr b="0" i="0" lang="en-IN" sz="2800" u="none" cap="none" strike="noStrike">
                <a:solidFill>
                  <a:schemeClr val="dk1"/>
                </a:solidFill>
                <a:latin typeface="Calibri"/>
                <a:ea typeface="Calibri"/>
                <a:cs typeface="Calibri"/>
                <a:sym typeface="Calibri"/>
              </a:rPr>
              <a:t>According to Sun, Java language is a simple programming language because:</a:t>
            </a:r>
            <a:endParaRPr b="0" i="0" sz="1800" u="none" cap="none" strike="noStrike">
              <a:solidFill>
                <a:srgbClr val="000000"/>
              </a:solidFill>
              <a:latin typeface="Arial"/>
              <a:ea typeface="Arial"/>
              <a:cs typeface="Arial"/>
              <a:sym typeface="Arial"/>
            </a:endParaRPr>
          </a:p>
          <a:p>
            <a:pPr indent="-169354" lvl="0" marL="124457" marR="0" rtl="0" algn="l">
              <a:lnSpc>
                <a:spcPct val="100000"/>
              </a:lnSpc>
              <a:spcBef>
                <a:spcPts val="1907"/>
              </a:spcBef>
              <a:spcAft>
                <a:spcPts val="0"/>
              </a:spcAft>
              <a:buClr>
                <a:srgbClr val="B71E42"/>
              </a:buClr>
              <a:buSzPts val="2667"/>
              <a:buFont typeface="Arial"/>
              <a:buChar char="•"/>
            </a:pPr>
            <a:r>
              <a:rPr b="0" i="0" lang="en-IN" sz="2800" u="none" cap="none" strike="noStrike">
                <a:solidFill>
                  <a:schemeClr val="dk1"/>
                </a:solidFill>
                <a:latin typeface="Calibri"/>
                <a:ea typeface="Calibri"/>
                <a:cs typeface="Calibri"/>
                <a:sym typeface="Calibri"/>
              </a:rPr>
              <a:t>Java syntax is based on C++ (so easier for programmers to learn it after C++).</a:t>
            </a:r>
            <a:endParaRPr b="0" i="0" sz="2800" u="none" cap="none" strike="noStrike">
              <a:solidFill>
                <a:schemeClr val="dk1"/>
              </a:solidFill>
              <a:latin typeface="Calibri"/>
              <a:ea typeface="Calibri"/>
              <a:cs typeface="Calibri"/>
              <a:sym typeface="Calibri"/>
            </a:endParaRPr>
          </a:p>
          <a:p>
            <a:pPr indent="-169354" lvl="0" marL="16932" marR="856805" rtl="0" algn="l">
              <a:lnSpc>
                <a:spcPct val="120000"/>
              </a:lnSpc>
              <a:spcBef>
                <a:spcPts val="1347"/>
              </a:spcBef>
              <a:spcAft>
                <a:spcPts val="0"/>
              </a:spcAft>
              <a:buClr>
                <a:srgbClr val="B71E42"/>
              </a:buClr>
              <a:buSzPts val="2667"/>
              <a:buFont typeface="Arial"/>
              <a:buChar char="•"/>
            </a:pPr>
            <a:r>
              <a:rPr b="0" i="0" lang="en-IN" sz="2800" u="none" cap="none" strike="noStrike">
                <a:solidFill>
                  <a:schemeClr val="dk1"/>
                </a:solidFill>
                <a:latin typeface="Calibri"/>
                <a:ea typeface="Calibri"/>
                <a:cs typeface="Calibri"/>
                <a:sym typeface="Calibri"/>
              </a:rPr>
              <a:t>Java has removed many confusing and rarely-used features e.g. explicit pointers,  operator overloading etc.</a:t>
            </a:r>
            <a:endParaRPr b="0" i="0" sz="1800" u="none" cap="none" strike="noStrike">
              <a:solidFill>
                <a:srgbClr val="000000"/>
              </a:solidFill>
              <a:latin typeface="Arial"/>
              <a:ea typeface="Arial"/>
              <a:cs typeface="Arial"/>
              <a:sym typeface="Arial"/>
            </a:endParaRPr>
          </a:p>
          <a:p>
            <a:pPr indent="-169354" lvl="0" marL="16932" marR="149856" rtl="0" algn="l">
              <a:lnSpc>
                <a:spcPct val="120100"/>
              </a:lnSpc>
              <a:spcBef>
                <a:spcPts val="1327"/>
              </a:spcBef>
              <a:spcAft>
                <a:spcPts val="0"/>
              </a:spcAft>
              <a:buClr>
                <a:srgbClr val="B71E42"/>
              </a:buClr>
              <a:buSzPts val="2667"/>
              <a:buFont typeface="Arial"/>
              <a:buChar char="•"/>
            </a:pPr>
            <a:r>
              <a:rPr b="0" i="0" lang="en-IN" sz="2800" u="none" cap="none" strike="noStrike">
                <a:solidFill>
                  <a:schemeClr val="dk1"/>
                </a:solidFill>
                <a:latin typeface="Calibri"/>
                <a:ea typeface="Calibri"/>
                <a:cs typeface="Calibri"/>
                <a:sym typeface="Calibri"/>
              </a:rPr>
              <a:t>There is no need to remove unreferenced objects because there is Automatic Garbage  Collection in java.</a:t>
            </a:r>
            <a:endParaRPr b="0" i="0" sz="2800" u="none" cap="none" strike="noStrike">
              <a:solidFill>
                <a:schemeClr val="dk1"/>
              </a:solidFill>
              <a:latin typeface="Calibri"/>
              <a:ea typeface="Calibri"/>
              <a:cs typeface="Calibri"/>
              <a:sym typeface="Calibri"/>
            </a:endParaRPr>
          </a:p>
          <a:p>
            <a:pPr indent="0" lvl="0" marL="18625" marR="0" rtl="0" algn="l">
              <a:lnSpc>
                <a:spcPct val="100000"/>
              </a:lnSpc>
              <a:spcBef>
                <a:spcPts val="1907"/>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99" name="Google Shape;299;g279ef9b7fc5_0_60"/>
          <p:cNvSpPr/>
          <p:nvPr/>
        </p:nvSpPr>
        <p:spPr>
          <a:xfrm>
            <a:off x="2845885" y="74173"/>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2400" u="none" cap="none" strike="noStrike">
                <a:solidFill>
                  <a:srgbClr val="BF9000"/>
                </a:solidFill>
                <a:latin typeface="Calibri"/>
                <a:ea typeface="Calibri"/>
                <a:cs typeface="Calibri"/>
                <a:sym typeface="Calibri"/>
              </a:rPr>
              <a:t>Features of Java</a:t>
            </a:r>
            <a:endParaRPr b="1" i="0" sz="2400" u="none" cap="none" strike="noStrike">
              <a:solidFill>
                <a:srgbClr val="BF9000"/>
              </a:solidFill>
              <a:latin typeface="Cantarell"/>
              <a:ea typeface="Cantarell"/>
              <a:cs typeface="Cantarell"/>
              <a:sym typeface="Cantare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279ef9b7fc5_0_65"/>
          <p:cNvSpPr txBox="1"/>
          <p:nvPr/>
        </p:nvSpPr>
        <p:spPr>
          <a:xfrm>
            <a:off x="539022" y="988362"/>
            <a:ext cx="10755300" cy="3594000"/>
          </a:xfrm>
          <a:prstGeom prst="rect">
            <a:avLst/>
          </a:prstGeom>
          <a:noFill/>
          <a:ln>
            <a:noFill/>
          </a:ln>
        </p:spPr>
        <p:txBody>
          <a:bodyPr anchorCtr="0" anchor="t" bIns="0" lIns="0" spcFirstLastPara="1" rIns="0" wrap="square" tIns="68575">
            <a:spAutoFit/>
          </a:bodyPr>
          <a:lstStyle/>
          <a:p>
            <a:pPr indent="-712029" lvl="0" marL="728115" marR="0" rtl="0" algn="l">
              <a:lnSpc>
                <a:spcPct val="100000"/>
              </a:lnSpc>
              <a:spcBef>
                <a:spcPts val="0"/>
              </a:spcBef>
              <a:spcAft>
                <a:spcPts val="0"/>
              </a:spcAft>
              <a:buClr>
                <a:srgbClr val="FFFFFF"/>
              </a:buClr>
              <a:buSzPts val="3200"/>
              <a:buFont typeface="MS PGothic"/>
              <a:buChar char="➢"/>
            </a:pPr>
            <a:r>
              <a:rPr b="1" i="0" lang="en-IN" sz="3200" u="none" cap="none" strike="noStrike">
                <a:solidFill>
                  <a:srgbClr val="00FF00"/>
                </a:solidFill>
                <a:latin typeface="Arial"/>
                <a:ea typeface="Arial"/>
                <a:cs typeface="Arial"/>
                <a:sym typeface="Arial"/>
              </a:rPr>
              <a:t>Object Oriented	</a:t>
            </a:r>
            <a:r>
              <a:rPr b="1" i="0" lang="en-IN" sz="3200" u="none" cap="none" strike="noStrike">
                <a:solidFill>
                  <a:srgbClr val="FFFFFF"/>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a:p>
            <a:pPr indent="0" lvl="0" marL="329345" marR="0" rtl="0" algn="l">
              <a:lnSpc>
                <a:spcPct val="100000"/>
              </a:lnSpc>
              <a:spcBef>
                <a:spcPts val="400"/>
              </a:spcBef>
              <a:spcAft>
                <a:spcPts val="0"/>
              </a:spcAft>
              <a:buClr>
                <a:srgbClr val="000000"/>
              </a:buClr>
              <a:buSzPts val="3200"/>
              <a:buFont typeface="Arial"/>
              <a:buNone/>
            </a:pPr>
            <a:r>
              <a:rPr b="0" i="0" lang="en-IN" sz="2700" u="none" cap="none" strike="noStrike">
                <a:solidFill>
                  <a:schemeClr val="dk1"/>
                </a:solidFill>
                <a:latin typeface="Arial"/>
                <a:ea typeface="Arial"/>
                <a:cs typeface="Arial"/>
                <a:sym typeface="Arial"/>
              </a:rPr>
              <a:t>Basic concepts of Object Oriented programming are</a:t>
            </a:r>
            <a:endParaRPr b="0" i="0" sz="2700" u="none" cap="none" strike="noStrike">
              <a:solidFill>
                <a:schemeClr val="dk1"/>
              </a:solidFill>
              <a:latin typeface="Arial"/>
              <a:ea typeface="Arial"/>
              <a:cs typeface="Arial"/>
              <a:sym typeface="Arial"/>
            </a:endParaRPr>
          </a:p>
          <a:p>
            <a:pPr indent="-400050" lvl="0" marL="457200" marR="0" rtl="0" algn="l">
              <a:lnSpc>
                <a:spcPct val="100000"/>
              </a:lnSpc>
              <a:spcBef>
                <a:spcPts val="560"/>
              </a:spcBef>
              <a:spcAft>
                <a:spcPts val="0"/>
              </a:spcAft>
              <a:buClr>
                <a:schemeClr val="dk1"/>
              </a:buClr>
              <a:buSzPts val="2700"/>
              <a:buFont typeface="Arial"/>
              <a:buChar char="●"/>
            </a:pPr>
            <a:r>
              <a:rPr b="0" i="0" lang="en-IN" sz="2700" u="none" cap="none" strike="noStrike">
                <a:solidFill>
                  <a:schemeClr val="dk1"/>
                </a:solidFill>
                <a:latin typeface="Arial"/>
                <a:ea typeface="Arial"/>
                <a:cs typeface="Arial"/>
                <a:sym typeface="Arial"/>
              </a:rPr>
              <a:t>Object</a:t>
            </a:r>
            <a:endParaRPr b="0" i="0" sz="2700" u="none" cap="none" strike="noStrike">
              <a:solidFill>
                <a:schemeClr val="dk1"/>
              </a:solidFill>
              <a:latin typeface="Arial"/>
              <a:ea typeface="Arial"/>
              <a:cs typeface="Arial"/>
              <a:sym typeface="Arial"/>
            </a:endParaRPr>
          </a:p>
          <a:p>
            <a:pPr indent="-400050" lvl="0" marL="457200" marR="0" rtl="0" algn="l">
              <a:lnSpc>
                <a:spcPct val="100000"/>
              </a:lnSpc>
              <a:spcBef>
                <a:spcPts val="0"/>
              </a:spcBef>
              <a:spcAft>
                <a:spcPts val="0"/>
              </a:spcAft>
              <a:buClr>
                <a:schemeClr val="dk1"/>
              </a:buClr>
              <a:buSzPts val="2700"/>
              <a:buFont typeface="Arial"/>
              <a:buChar char="●"/>
            </a:pPr>
            <a:r>
              <a:rPr b="0" i="0" lang="en-IN" sz="2700" u="none" cap="none" strike="noStrike">
                <a:solidFill>
                  <a:schemeClr val="dk1"/>
                </a:solidFill>
                <a:latin typeface="Arial"/>
                <a:ea typeface="Arial"/>
                <a:cs typeface="Arial"/>
                <a:sym typeface="Arial"/>
              </a:rPr>
              <a:t>Class</a:t>
            </a:r>
            <a:endParaRPr b="0" i="0" sz="2700" u="none" cap="none" strike="noStrike">
              <a:solidFill>
                <a:schemeClr val="dk1"/>
              </a:solidFill>
              <a:latin typeface="Arial"/>
              <a:ea typeface="Arial"/>
              <a:cs typeface="Arial"/>
              <a:sym typeface="Arial"/>
            </a:endParaRPr>
          </a:p>
          <a:p>
            <a:pPr indent="-400050" lvl="0" marL="457200" marR="0" rtl="0" algn="l">
              <a:lnSpc>
                <a:spcPct val="100000"/>
              </a:lnSpc>
              <a:spcBef>
                <a:spcPts val="0"/>
              </a:spcBef>
              <a:spcAft>
                <a:spcPts val="0"/>
              </a:spcAft>
              <a:buClr>
                <a:schemeClr val="dk1"/>
              </a:buClr>
              <a:buSzPts val="2700"/>
              <a:buFont typeface="Arial"/>
              <a:buChar char="●"/>
            </a:pPr>
            <a:r>
              <a:rPr b="0" i="0" lang="en-IN" sz="2700" u="none" cap="none" strike="noStrike">
                <a:solidFill>
                  <a:schemeClr val="dk1"/>
                </a:solidFill>
                <a:latin typeface="Arial"/>
                <a:ea typeface="Arial"/>
                <a:cs typeface="Arial"/>
                <a:sym typeface="Arial"/>
              </a:rPr>
              <a:t>Inheritance</a:t>
            </a:r>
            <a:endParaRPr b="0" i="0" sz="2700" u="none" cap="none" strike="noStrike">
              <a:solidFill>
                <a:schemeClr val="dk1"/>
              </a:solidFill>
              <a:latin typeface="Arial"/>
              <a:ea typeface="Arial"/>
              <a:cs typeface="Arial"/>
              <a:sym typeface="Arial"/>
            </a:endParaRPr>
          </a:p>
          <a:p>
            <a:pPr indent="-400050" lvl="0" marL="457200" marR="0" rtl="0" algn="l">
              <a:lnSpc>
                <a:spcPct val="100000"/>
              </a:lnSpc>
              <a:spcBef>
                <a:spcPts val="0"/>
              </a:spcBef>
              <a:spcAft>
                <a:spcPts val="0"/>
              </a:spcAft>
              <a:buClr>
                <a:schemeClr val="dk1"/>
              </a:buClr>
              <a:buSzPts val="2700"/>
              <a:buFont typeface="Arial"/>
              <a:buChar char="●"/>
            </a:pPr>
            <a:r>
              <a:rPr b="0" i="0" lang="en-IN" sz="2700" u="none" cap="none" strike="noStrike">
                <a:solidFill>
                  <a:schemeClr val="dk1"/>
                </a:solidFill>
                <a:latin typeface="Arial"/>
                <a:ea typeface="Arial"/>
                <a:cs typeface="Arial"/>
                <a:sym typeface="Arial"/>
              </a:rPr>
              <a:t>Polymorphism</a:t>
            </a:r>
            <a:endParaRPr b="0" i="0" sz="2700" u="none" cap="none" strike="noStrike">
              <a:solidFill>
                <a:schemeClr val="dk1"/>
              </a:solidFill>
              <a:latin typeface="Arial"/>
              <a:ea typeface="Arial"/>
              <a:cs typeface="Arial"/>
              <a:sym typeface="Arial"/>
            </a:endParaRPr>
          </a:p>
          <a:p>
            <a:pPr indent="-400050" lvl="0" marL="457200" marR="0" rtl="0" algn="l">
              <a:lnSpc>
                <a:spcPct val="100000"/>
              </a:lnSpc>
              <a:spcBef>
                <a:spcPts val="0"/>
              </a:spcBef>
              <a:spcAft>
                <a:spcPts val="0"/>
              </a:spcAft>
              <a:buClr>
                <a:schemeClr val="dk1"/>
              </a:buClr>
              <a:buSzPts val="2700"/>
              <a:buFont typeface="Arial"/>
              <a:buChar char="●"/>
            </a:pPr>
            <a:r>
              <a:rPr b="0" i="0" lang="en-IN" sz="2700" u="none" cap="none" strike="noStrike">
                <a:solidFill>
                  <a:schemeClr val="dk1"/>
                </a:solidFill>
                <a:latin typeface="Arial"/>
                <a:ea typeface="Arial"/>
                <a:cs typeface="Arial"/>
                <a:sym typeface="Arial"/>
              </a:rPr>
              <a:t>Abstraction</a:t>
            </a:r>
            <a:endParaRPr b="0" i="0" sz="2700" u="none" cap="none" strike="noStrike">
              <a:solidFill>
                <a:schemeClr val="dk1"/>
              </a:solidFill>
              <a:latin typeface="Arial"/>
              <a:ea typeface="Arial"/>
              <a:cs typeface="Arial"/>
              <a:sym typeface="Arial"/>
            </a:endParaRPr>
          </a:p>
          <a:p>
            <a:pPr indent="-400050" lvl="0" marL="457200" marR="0" rtl="0" algn="l">
              <a:lnSpc>
                <a:spcPct val="100000"/>
              </a:lnSpc>
              <a:spcBef>
                <a:spcPts val="0"/>
              </a:spcBef>
              <a:spcAft>
                <a:spcPts val="0"/>
              </a:spcAft>
              <a:buClr>
                <a:schemeClr val="dk1"/>
              </a:buClr>
              <a:buSzPts val="2700"/>
              <a:buFont typeface="Arial"/>
              <a:buChar char="●"/>
            </a:pPr>
            <a:r>
              <a:rPr b="0" i="0" lang="en-IN" sz="2700" u="none" cap="none" strike="noStrike">
                <a:solidFill>
                  <a:schemeClr val="dk1"/>
                </a:solidFill>
                <a:latin typeface="Arial"/>
                <a:ea typeface="Arial"/>
                <a:cs typeface="Arial"/>
                <a:sym typeface="Arial"/>
              </a:rPr>
              <a:t>Encapsulation</a:t>
            </a:r>
            <a:endParaRPr b="0" i="0" sz="2700" u="none" cap="none" strike="noStrike">
              <a:solidFill>
                <a:schemeClr val="dk1"/>
              </a:solidFill>
              <a:latin typeface="Arial"/>
              <a:ea typeface="Arial"/>
              <a:cs typeface="Arial"/>
              <a:sym typeface="Arial"/>
            </a:endParaRPr>
          </a:p>
        </p:txBody>
      </p:sp>
      <p:sp>
        <p:nvSpPr>
          <p:cNvPr id="305" name="Google Shape;305;g279ef9b7fc5_0_65"/>
          <p:cNvSpPr/>
          <p:nvPr/>
        </p:nvSpPr>
        <p:spPr>
          <a:xfrm>
            <a:off x="2361438" y="176666"/>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3500" u="none" cap="none" strike="noStrike">
                <a:solidFill>
                  <a:srgbClr val="BF9000"/>
                </a:solidFill>
                <a:latin typeface="Calibri"/>
                <a:ea typeface="Calibri"/>
                <a:cs typeface="Calibri"/>
                <a:sym typeface="Calibri"/>
              </a:rPr>
              <a:t>Features of Java</a:t>
            </a:r>
            <a:endParaRPr b="1" i="0" sz="3500" u="none" cap="none" strike="noStrike">
              <a:solidFill>
                <a:srgbClr val="BF9000"/>
              </a:solidFill>
              <a:latin typeface="Cantarell"/>
              <a:ea typeface="Cantarell"/>
              <a:cs typeface="Cantarell"/>
              <a:sym typeface="Cantare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279ef9b7fc5_0_76"/>
          <p:cNvSpPr txBox="1"/>
          <p:nvPr/>
        </p:nvSpPr>
        <p:spPr>
          <a:xfrm>
            <a:off x="636550" y="1349725"/>
            <a:ext cx="11366400" cy="3707100"/>
          </a:xfrm>
          <a:prstGeom prst="rect">
            <a:avLst/>
          </a:prstGeom>
          <a:noFill/>
          <a:ln>
            <a:noFill/>
          </a:ln>
        </p:spPr>
        <p:txBody>
          <a:bodyPr anchorCtr="0" anchor="t" bIns="0" lIns="0" spcFirstLastPara="1" rIns="0" wrap="square" tIns="16925">
            <a:spAutoFit/>
          </a:bodyPr>
          <a:lstStyle/>
          <a:p>
            <a:pPr indent="0" lvl="0" marL="0" marR="0" rtl="0" algn="l">
              <a:lnSpc>
                <a:spcPct val="100000"/>
              </a:lnSpc>
              <a:spcBef>
                <a:spcPts val="200"/>
              </a:spcBef>
              <a:spcAft>
                <a:spcPts val="0"/>
              </a:spcAft>
              <a:buClr>
                <a:schemeClr val="dk1"/>
              </a:buClr>
              <a:buSzPts val="1100"/>
              <a:buFont typeface="Arial"/>
              <a:buNone/>
            </a:pPr>
            <a:r>
              <a:rPr b="1" i="0" lang="en-IN" sz="2500" u="none" cap="none" strike="noStrike">
                <a:solidFill>
                  <a:srgbClr val="00FF00"/>
                </a:solidFill>
                <a:latin typeface="Arial"/>
                <a:ea typeface="Arial"/>
                <a:cs typeface="Arial"/>
                <a:sym typeface="Arial"/>
              </a:rPr>
              <a:t>Platform independent:</a:t>
            </a:r>
            <a:endParaRPr b="1" i="0" sz="2500" u="none" cap="none" strike="noStrike">
              <a:solidFill>
                <a:srgbClr val="00FF00"/>
              </a:solidFill>
              <a:latin typeface="Arial"/>
              <a:ea typeface="Arial"/>
              <a:cs typeface="Arial"/>
              <a:sym typeface="Arial"/>
            </a:endParaRPr>
          </a:p>
          <a:p>
            <a:pPr indent="0" lvl="0" marL="0" marR="0" rtl="0" algn="l">
              <a:lnSpc>
                <a:spcPct val="100000"/>
              </a:lnSpc>
              <a:spcBef>
                <a:spcPts val="200"/>
              </a:spcBef>
              <a:spcAft>
                <a:spcPts val="0"/>
              </a:spcAft>
              <a:buClr>
                <a:schemeClr val="dk1"/>
              </a:buClr>
              <a:buSzPts val="1100"/>
              <a:buFont typeface="Arial"/>
              <a:buNone/>
            </a:pPr>
            <a:r>
              <a:rPr b="1" i="0" lang="en-IN" sz="2600" u="none" cap="none" strike="noStrike">
                <a:solidFill>
                  <a:schemeClr val="dk1"/>
                </a:solidFill>
                <a:latin typeface="Arial"/>
                <a:ea typeface="Arial"/>
                <a:cs typeface="Arial"/>
                <a:sym typeface="Arial"/>
              </a:rPr>
              <a:t>A  platform  is  the  hardware or software environment in which a program runs. Java	code	can	be	run	on	multiple	platforms e.g.  Windows, Linux, Mac/OS etc. </a:t>
            </a:r>
            <a:endParaRPr b="1" i="0" sz="2600" u="none" cap="none" strike="noStrike">
              <a:solidFill>
                <a:schemeClr val="dk1"/>
              </a:solidFill>
              <a:latin typeface="Arial"/>
              <a:ea typeface="Arial"/>
              <a:cs typeface="Arial"/>
              <a:sym typeface="Arial"/>
            </a:endParaRPr>
          </a:p>
          <a:p>
            <a:pPr indent="0" lvl="0" marL="0" marR="0" rtl="0" algn="l">
              <a:lnSpc>
                <a:spcPct val="100000"/>
              </a:lnSpc>
              <a:spcBef>
                <a:spcPts val="200"/>
              </a:spcBef>
              <a:spcAft>
                <a:spcPts val="0"/>
              </a:spcAft>
              <a:buClr>
                <a:schemeClr val="dk1"/>
              </a:buClr>
              <a:buSzPts val="1100"/>
              <a:buFont typeface="Arial"/>
              <a:buNone/>
            </a:pPr>
            <a:r>
              <a:t/>
            </a:r>
            <a:endParaRPr b="1" i="0" sz="2600" u="none" cap="none" strike="noStrike">
              <a:solidFill>
                <a:schemeClr val="dk1"/>
              </a:solidFill>
              <a:latin typeface="Arial"/>
              <a:ea typeface="Arial"/>
              <a:cs typeface="Arial"/>
              <a:sym typeface="Arial"/>
            </a:endParaRPr>
          </a:p>
          <a:p>
            <a:pPr indent="0" lvl="0" marL="0" marR="0" rtl="0" algn="l">
              <a:lnSpc>
                <a:spcPct val="100000"/>
              </a:lnSpc>
              <a:spcBef>
                <a:spcPts val="200"/>
              </a:spcBef>
              <a:spcAft>
                <a:spcPts val="0"/>
              </a:spcAft>
              <a:buClr>
                <a:schemeClr val="dk1"/>
              </a:buClr>
              <a:buSzPts val="1100"/>
              <a:buFont typeface="Arial"/>
              <a:buNone/>
            </a:pPr>
            <a:r>
              <a:rPr b="1" i="0" lang="en-IN" sz="2600" u="none" cap="none" strike="noStrike">
                <a:solidFill>
                  <a:schemeClr val="dk1"/>
                </a:solidFill>
                <a:latin typeface="Arial"/>
                <a:ea typeface="Arial"/>
                <a:cs typeface="Arial"/>
                <a:sym typeface="Arial"/>
              </a:rPr>
              <a:t> Java code is compiled by the compiler and converted into  bytecode.</a:t>
            </a:r>
            <a:endParaRPr b="1" i="0" sz="2600" u="none" cap="none" strike="noStrike">
              <a:solidFill>
                <a:schemeClr val="dk1"/>
              </a:solidFill>
              <a:latin typeface="Arial"/>
              <a:ea typeface="Arial"/>
              <a:cs typeface="Arial"/>
              <a:sym typeface="Arial"/>
            </a:endParaRPr>
          </a:p>
          <a:p>
            <a:pPr indent="0" lvl="0" marL="0" marR="0" rtl="0" algn="l">
              <a:lnSpc>
                <a:spcPct val="100000"/>
              </a:lnSpc>
              <a:spcBef>
                <a:spcPts val="200"/>
              </a:spcBef>
              <a:spcAft>
                <a:spcPts val="0"/>
              </a:spcAft>
              <a:buClr>
                <a:schemeClr val="dk1"/>
              </a:buClr>
              <a:buSzPts val="1100"/>
              <a:buFont typeface="Arial"/>
              <a:buNone/>
            </a:pPr>
            <a:r>
              <a:rPr b="1" i="0" lang="en-IN" sz="2600" u="none" cap="none" strike="noStrike">
                <a:solidFill>
                  <a:schemeClr val="dk1"/>
                </a:solidFill>
                <a:latin typeface="Arial"/>
                <a:ea typeface="Arial"/>
                <a:cs typeface="Arial"/>
                <a:sym typeface="Arial"/>
              </a:rPr>
              <a:t>This	byte code is platform-independent	code</a:t>
            </a:r>
            <a:endParaRPr b="0" i="0" sz="2600" u="none" cap="none" strike="noStrike">
              <a:solidFill>
                <a:schemeClr val="dk1"/>
              </a:solidFill>
              <a:latin typeface="Arial"/>
              <a:ea typeface="Arial"/>
              <a:cs typeface="Arial"/>
              <a:sym typeface="Arial"/>
            </a:endParaRPr>
          </a:p>
          <a:p>
            <a:pPr indent="0" lvl="0" marL="16932" marR="6772" rtl="0" algn="l">
              <a:lnSpc>
                <a:spcPct val="100000"/>
              </a:lnSpc>
              <a:spcBef>
                <a:spcPts val="7"/>
              </a:spcBef>
              <a:spcAft>
                <a:spcPts val="0"/>
              </a:spcAft>
              <a:buClr>
                <a:srgbClr val="000000"/>
              </a:buClr>
              <a:buSzPts val="3200"/>
              <a:buFont typeface="Arial"/>
              <a:buNone/>
            </a:pPr>
            <a:r>
              <a:rPr b="1" i="0" lang="en-IN" sz="2600" u="none" cap="none" strike="noStrike">
                <a:solidFill>
                  <a:schemeClr val="dk1"/>
                </a:solidFill>
                <a:latin typeface="Arial"/>
                <a:ea typeface="Arial"/>
                <a:cs typeface="Arial"/>
                <a:sym typeface="Arial"/>
              </a:rPr>
              <a:t>because	it	can	be	run	on	multiple	platforms	i.e. Write  Once and Run Anywhere(WORA).</a:t>
            </a:r>
            <a:endParaRPr b="0" i="0" sz="2600" u="none" cap="none" strike="noStrike">
              <a:solidFill>
                <a:schemeClr val="dk1"/>
              </a:solidFill>
              <a:latin typeface="Arial"/>
              <a:ea typeface="Arial"/>
              <a:cs typeface="Arial"/>
              <a:sym typeface="Arial"/>
            </a:endParaRPr>
          </a:p>
        </p:txBody>
      </p:sp>
      <p:sp>
        <p:nvSpPr>
          <p:cNvPr id="311" name="Google Shape;311;g279ef9b7fc5_0_76"/>
          <p:cNvSpPr/>
          <p:nvPr/>
        </p:nvSpPr>
        <p:spPr>
          <a:xfrm>
            <a:off x="2370403" y="266365"/>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3300" u="none" cap="none" strike="noStrike">
                <a:solidFill>
                  <a:srgbClr val="BF9000"/>
                </a:solidFill>
                <a:latin typeface="Calibri"/>
                <a:ea typeface="Calibri"/>
                <a:cs typeface="Calibri"/>
                <a:sym typeface="Calibri"/>
              </a:rPr>
              <a:t>Features of Java</a:t>
            </a:r>
            <a:endParaRPr b="1" i="0" sz="3300" u="none" cap="none" strike="noStrike">
              <a:solidFill>
                <a:srgbClr val="BF9000"/>
              </a:solidFill>
              <a:latin typeface="Cantarell"/>
              <a:ea typeface="Cantarell"/>
              <a:cs typeface="Cantarell"/>
              <a:sym typeface="Cantare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grpSp>
        <p:nvGrpSpPr>
          <p:cNvPr id="316" name="Google Shape;316;g279ef9b7fc5_0_82"/>
          <p:cNvGrpSpPr/>
          <p:nvPr/>
        </p:nvGrpSpPr>
        <p:grpSpPr>
          <a:xfrm>
            <a:off x="5130669" y="3222667"/>
            <a:ext cx="948243" cy="242141"/>
            <a:chOff x="3848099" y="2417063"/>
            <a:chExt cx="711200" cy="181610"/>
          </a:xfrm>
        </p:grpSpPr>
        <p:sp>
          <p:nvSpPr>
            <p:cNvPr id="317" name="Google Shape;317;g279ef9b7fc5_0_82"/>
            <p:cNvSpPr/>
            <p:nvPr/>
          </p:nvSpPr>
          <p:spPr>
            <a:xfrm>
              <a:off x="3848099" y="2417063"/>
              <a:ext cx="711200" cy="181610"/>
            </a:xfrm>
            <a:custGeom>
              <a:rect b="b" l="l" r="r" t="t"/>
              <a:pathLst>
                <a:path extrusionOk="0" h="181610" w="711200">
                  <a:moveTo>
                    <a:pt x="620140" y="0"/>
                  </a:moveTo>
                  <a:lnTo>
                    <a:pt x="620140" y="45338"/>
                  </a:lnTo>
                  <a:lnTo>
                    <a:pt x="0" y="45338"/>
                  </a:lnTo>
                  <a:lnTo>
                    <a:pt x="0" y="136017"/>
                  </a:lnTo>
                  <a:lnTo>
                    <a:pt x="620140" y="136017"/>
                  </a:lnTo>
                  <a:lnTo>
                    <a:pt x="620140" y="181356"/>
                  </a:lnTo>
                  <a:lnTo>
                    <a:pt x="711073" y="90678"/>
                  </a:lnTo>
                  <a:lnTo>
                    <a:pt x="62014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18" name="Google Shape;318;g279ef9b7fc5_0_82"/>
            <p:cNvSpPr/>
            <p:nvPr/>
          </p:nvSpPr>
          <p:spPr>
            <a:xfrm>
              <a:off x="3848099" y="2417063"/>
              <a:ext cx="711200" cy="181610"/>
            </a:xfrm>
            <a:custGeom>
              <a:rect b="b" l="l" r="r" t="t"/>
              <a:pathLst>
                <a:path extrusionOk="0" h="181610" w="711200">
                  <a:moveTo>
                    <a:pt x="0" y="45338"/>
                  </a:moveTo>
                  <a:lnTo>
                    <a:pt x="620140" y="45338"/>
                  </a:lnTo>
                  <a:lnTo>
                    <a:pt x="620140" y="0"/>
                  </a:lnTo>
                  <a:lnTo>
                    <a:pt x="711073" y="90678"/>
                  </a:lnTo>
                  <a:lnTo>
                    <a:pt x="620140" y="181356"/>
                  </a:lnTo>
                  <a:lnTo>
                    <a:pt x="620140" y="136017"/>
                  </a:lnTo>
                  <a:lnTo>
                    <a:pt x="0" y="136017"/>
                  </a:lnTo>
                  <a:lnTo>
                    <a:pt x="0" y="45338"/>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grpSp>
        <p:nvGrpSpPr>
          <p:cNvPr id="319" name="Google Shape;319;g279ef9b7fc5_0_82"/>
          <p:cNvGrpSpPr/>
          <p:nvPr/>
        </p:nvGrpSpPr>
        <p:grpSpPr>
          <a:xfrm>
            <a:off x="8928383" y="3088565"/>
            <a:ext cx="1597620" cy="382682"/>
            <a:chOff x="6696455" y="2316479"/>
            <a:chExt cx="1198245" cy="287019"/>
          </a:xfrm>
        </p:grpSpPr>
        <p:sp>
          <p:nvSpPr>
            <p:cNvPr id="320" name="Google Shape;320;g279ef9b7fc5_0_82"/>
            <p:cNvSpPr/>
            <p:nvPr/>
          </p:nvSpPr>
          <p:spPr>
            <a:xfrm>
              <a:off x="6696455" y="2316479"/>
              <a:ext cx="1198245" cy="287019"/>
            </a:xfrm>
            <a:custGeom>
              <a:rect b="b" l="l" r="r" t="t"/>
              <a:pathLst>
                <a:path extrusionOk="0" h="287019" w="1198245">
                  <a:moveTo>
                    <a:pt x="1054353" y="0"/>
                  </a:moveTo>
                  <a:lnTo>
                    <a:pt x="1054353" y="71500"/>
                  </a:lnTo>
                  <a:lnTo>
                    <a:pt x="0" y="71500"/>
                  </a:lnTo>
                  <a:lnTo>
                    <a:pt x="0" y="215011"/>
                  </a:lnTo>
                  <a:lnTo>
                    <a:pt x="1054353" y="215011"/>
                  </a:lnTo>
                  <a:lnTo>
                    <a:pt x="1054353" y="286512"/>
                  </a:lnTo>
                  <a:lnTo>
                    <a:pt x="1197864" y="143637"/>
                  </a:lnTo>
                  <a:lnTo>
                    <a:pt x="105435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21" name="Google Shape;321;g279ef9b7fc5_0_82"/>
            <p:cNvSpPr/>
            <p:nvPr/>
          </p:nvSpPr>
          <p:spPr>
            <a:xfrm>
              <a:off x="6696455" y="2316479"/>
              <a:ext cx="1198245" cy="287019"/>
            </a:xfrm>
            <a:custGeom>
              <a:rect b="b" l="l" r="r" t="t"/>
              <a:pathLst>
                <a:path extrusionOk="0" h="287019" w="1198245">
                  <a:moveTo>
                    <a:pt x="0" y="71500"/>
                  </a:moveTo>
                  <a:lnTo>
                    <a:pt x="1054353" y="71500"/>
                  </a:lnTo>
                  <a:lnTo>
                    <a:pt x="1054353" y="0"/>
                  </a:lnTo>
                  <a:lnTo>
                    <a:pt x="1197864" y="143637"/>
                  </a:lnTo>
                  <a:lnTo>
                    <a:pt x="1054353" y="286512"/>
                  </a:lnTo>
                  <a:lnTo>
                    <a:pt x="1054353" y="215011"/>
                  </a:lnTo>
                  <a:lnTo>
                    <a:pt x="0" y="215011"/>
                  </a:lnTo>
                  <a:lnTo>
                    <a:pt x="0" y="715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grpSp>
        <p:nvGrpSpPr>
          <p:cNvPr id="322" name="Google Shape;322;g279ef9b7fc5_0_82"/>
          <p:cNvGrpSpPr/>
          <p:nvPr/>
        </p:nvGrpSpPr>
        <p:grpSpPr>
          <a:xfrm>
            <a:off x="6351872" y="1028165"/>
            <a:ext cx="2233449" cy="1099793"/>
            <a:chOff x="4764023" y="771143"/>
            <a:chExt cx="1675129" cy="824865"/>
          </a:xfrm>
        </p:grpSpPr>
        <p:sp>
          <p:nvSpPr>
            <p:cNvPr id="323" name="Google Shape;323;g279ef9b7fc5_0_82"/>
            <p:cNvSpPr/>
            <p:nvPr/>
          </p:nvSpPr>
          <p:spPr>
            <a:xfrm>
              <a:off x="4764023" y="771143"/>
              <a:ext cx="1675129" cy="824865"/>
            </a:xfrm>
            <a:custGeom>
              <a:rect b="b" l="l" r="r" t="t"/>
              <a:pathLst>
                <a:path extrusionOk="0" h="824865" w="1675129">
                  <a:moveTo>
                    <a:pt x="837438" y="0"/>
                  </a:moveTo>
                  <a:lnTo>
                    <a:pt x="775208" y="1269"/>
                  </a:lnTo>
                  <a:lnTo>
                    <a:pt x="713486" y="4444"/>
                  </a:lnTo>
                  <a:lnTo>
                    <a:pt x="653796" y="10159"/>
                  </a:lnTo>
                  <a:lnTo>
                    <a:pt x="596011" y="17144"/>
                  </a:lnTo>
                  <a:lnTo>
                    <a:pt x="539368" y="26669"/>
                  </a:lnTo>
                  <a:lnTo>
                    <a:pt x="484759" y="38100"/>
                  </a:lnTo>
                  <a:lnTo>
                    <a:pt x="432053" y="51434"/>
                  </a:lnTo>
                  <a:lnTo>
                    <a:pt x="381888" y="66039"/>
                  </a:lnTo>
                  <a:lnTo>
                    <a:pt x="333501" y="83184"/>
                  </a:lnTo>
                  <a:lnTo>
                    <a:pt x="288416" y="100964"/>
                  </a:lnTo>
                  <a:lnTo>
                    <a:pt x="245237" y="120650"/>
                  </a:lnTo>
                  <a:lnTo>
                    <a:pt x="205866" y="141604"/>
                  </a:lnTo>
                  <a:lnTo>
                    <a:pt x="169037" y="163829"/>
                  </a:lnTo>
                  <a:lnTo>
                    <a:pt x="135381" y="188086"/>
                  </a:lnTo>
                  <a:lnTo>
                    <a:pt x="104775" y="212851"/>
                  </a:lnTo>
                  <a:lnTo>
                    <a:pt x="54610" y="265556"/>
                  </a:lnTo>
                  <a:lnTo>
                    <a:pt x="20320" y="322071"/>
                  </a:lnTo>
                  <a:lnTo>
                    <a:pt x="2539" y="381761"/>
                  </a:lnTo>
                  <a:lnTo>
                    <a:pt x="0" y="412241"/>
                  </a:lnTo>
                  <a:lnTo>
                    <a:pt x="2539" y="442721"/>
                  </a:lnTo>
                  <a:lnTo>
                    <a:pt x="20320" y="502411"/>
                  </a:lnTo>
                  <a:lnTo>
                    <a:pt x="54610" y="559053"/>
                  </a:lnTo>
                  <a:lnTo>
                    <a:pt x="104775" y="611758"/>
                  </a:lnTo>
                  <a:lnTo>
                    <a:pt x="135381" y="637158"/>
                  </a:lnTo>
                  <a:lnTo>
                    <a:pt x="169037" y="660653"/>
                  </a:lnTo>
                  <a:lnTo>
                    <a:pt x="205866" y="682878"/>
                  </a:lnTo>
                  <a:lnTo>
                    <a:pt x="245237" y="703833"/>
                  </a:lnTo>
                  <a:lnTo>
                    <a:pt x="288416" y="723518"/>
                  </a:lnTo>
                  <a:lnTo>
                    <a:pt x="333501" y="741933"/>
                  </a:lnTo>
                  <a:lnTo>
                    <a:pt x="381888" y="758443"/>
                  </a:lnTo>
                  <a:lnTo>
                    <a:pt x="432053" y="773048"/>
                  </a:lnTo>
                  <a:lnTo>
                    <a:pt x="484759" y="786383"/>
                  </a:lnTo>
                  <a:lnTo>
                    <a:pt x="539368" y="797813"/>
                  </a:lnTo>
                  <a:lnTo>
                    <a:pt x="596011" y="807338"/>
                  </a:lnTo>
                  <a:lnTo>
                    <a:pt x="653796" y="814958"/>
                  </a:lnTo>
                  <a:lnTo>
                    <a:pt x="713486" y="820038"/>
                  </a:lnTo>
                  <a:lnTo>
                    <a:pt x="775208" y="823213"/>
                  </a:lnTo>
                  <a:lnTo>
                    <a:pt x="837438" y="824483"/>
                  </a:lnTo>
                  <a:lnTo>
                    <a:pt x="899667" y="823213"/>
                  </a:lnTo>
                  <a:lnTo>
                    <a:pt x="961263" y="820038"/>
                  </a:lnTo>
                  <a:lnTo>
                    <a:pt x="1021079" y="814958"/>
                  </a:lnTo>
                  <a:lnTo>
                    <a:pt x="1079500" y="807338"/>
                  </a:lnTo>
                  <a:lnTo>
                    <a:pt x="1136014" y="797813"/>
                  </a:lnTo>
                  <a:lnTo>
                    <a:pt x="1190752" y="786383"/>
                  </a:lnTo>
                  <a:lnTo>
                    <a:pt x="1242822" y="773048"/>
                  </a:lnTo>
                  <a:lnTo>
                    <a:pt x="1293622" y="758443"/>
                  </a:lnTo>
                  <a:lnTo>
                    <a:pt x="1341247" y="741933"/>
                  </a:lnTo>
                  <a:lnTo>
                    <a:pt x="1387093" y="723518"/>
                  </a:lnTo>
                  <a:lnTo>
                    <a:pt x="1429639" y="703833"/>
                  </a:lnTo>
                  <a:lnTo>
                    <a:pt x="1469643" y="682878"/>
                  </a:lnTo>
                  <a:lnTo>
                    <a:pt x="1506474" y="660653"/>
                  </a:lnTo>
                  <a:lnTo>
                    <a:pt x="1540128" y="637158"/>
                  </a:lnTo>
                  <a:lnTo>
                    <a:pt x="1569974" y="611758"/>
                  </a:lnTo>
                  <a:lnTo>
                    <a:pt x="1620265" y="559053"/>
                  </a:lnTo>
                  <a:lnTo>
                    <a:pt x="1654555" y="502411"/>
                  </a:lnTo>
                  <a:lnTo>
                    <a:pt x="1672336" y="442721"/>
                  </a:lnTo>
                  <a:lnTo>
                    <a:pt x="1674876" y="412241"/>
                  </a:lnTo>
                  <a:lnTo>
                    <a:pt x="1672336" y="381761"/>
                  </a:lnTo>
                  <a:lnTo>
                    <a:pt x="1654555" y="322071"/>
                  </a:lnTo>
                  <a:lnTo>
                    <a:pt x="1620265" y="265556"/>
                  </a:lnTo>
                  <a:lnTo>
                    <a:pt x="1569974" y="212851"/>
                  </a:lnTo>
                  <a:lnTo>
                    <a:pt x="1540128" y="188086"/>
                  </a:lnTo>
                  <a:lnTo>
                    <a:pt x="1506474" y="163829"/>
                  </a:lnTo>
                  <a:lnTo>
                    <a:pt x="1469643" y="141604"/>
                  </a:lnTo>
                  <a:lnTo>
                    <a:pt x="1429639" y="120650"/>
                  </a:lnTo>
                  <a:lnTo>
                    <a:pt x="1387093" y="100964"/>
                  </a:lnTo>
                  <a:lnTo>
                    <a:pt x="1341247" y="83184"/>
                  </a:lnTo>
                  <a:lnTo>
                    <a:pt x="1293622" y="66039"/>
                  </a:lnTo>
                  <a:lnTo>
                    <a:pt x="1242822" y="51434"/>
                  </a:lnTo>
                  <a:lnTo>
                    <a:pt x="1190752" y="38100"/>
                  </a:lnTo>
                  <a:lnTo>
                    <a:pt x="1136014" y="26669"/>
                  </a:lnTo>
                  <a:lnTo>
                    <a:pt x="1079500" y="17144"/>
                  </a:lnTo>
                  <a:lnTo>
                    <a:pt x="1021079" y="10159"/>
                  </a:lnTo>
                  <a:lnTo>
                    <a:pt x="961263" y="4444"/>
                  </a:lnTo>
                  <a:lnTo>
                    <a:pt x="899667" y="1269"/>
                  </a:lnTo>
                  <a:lnTo>
                    <a:pt x="837438" y="0"/>
                  </a:lnTo>
                  <a:close/>
                </a:path>
              </a:pathLst>
            </a:custGeom>
            <a:solidFill>
              <a:srgbClr val="FFB32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24" name="Google Shape;324;g279ef9b7fc5_0_82"/>
            <p:cNvSpPr/>
            <p:nvPr/>
          </p:nvSpPr>
          <p:spPr>
            <a:xfrm>
              <a:off x="4764023" y="771143"/>
              <a:ext cx="1675129" cy="824865"/>
            </a:xfrm>
            <a:custGeom>
              <a:rect b="b" l="l" r="r" t="t"/>
              <a:pathLst>
                <a:path extrusionOk="0" h="824865" w="1675129">
                  <a:moveTo>
                    <a:pt x="0" y="412241"/>
                  </a:moveTo>
                  <a:lnTo>
                    <a:pt x="9525" y="351281"/>
                  </a:lnTo>
                  <a:lnTo>
                    <a:pt x="35560" y="293496"/>
                  </a:lnTo>
                  <a:lnTo>
                    <a:pt x="78104" y="238251"/>
                  </a:lnTo>
                  <a:lnTo>
                    <a:pt x="135381" y="188086"/>
                  </a:lnTo>
                  <a:lnTo>
                    <a:pt x="169037" y="163829"/>
                  </a:lnTo>
                  <a:lnTo>
                    <a:pt x="205866" y="141604"/>
                  </a:lnTo>
                  <a:lnTo>
                    <a:pt x="245237" y="120650"/>
                  </a:lnTo>
                  <a:lnTo>
                    <a:pt x="288416" y="100964"/>
                  </a:lnTo>
                  <a:lnTo>
                    <a:pt x="333501" y="83184"/>
                  </a:lnTo>
                  <a:lnTo>
                    <a:pt x="381888" y="66039"/>
                  </a:lnTo>
                  <a:lnTo>
                    <a:pt x="432053" y="51434"/>
                  </a:lnTo>
                  <a:lnTo>
                    <a:pt x="484759" y="38100"/>
                  </a:lnTo>
                  <a:lnTo>
                    <a:pt x="539368" y="26669"/>
                  </a:lnTo>
                  <a:lnTo>
                    <a:pt x="596011" y="17144"/>
                  </a:lnTo>
                  <a:lnTo>
                    <a:pt x="653796" y="10159"/>
                  </a:lnTo>
                  <a:lnTo>
                    <a:pt x="713486" y="4444"/>
                  </a:lnTo>
                  <a:lnTo>
                    <a:pt x="775208" y="1269"/>
                  </a:lnTo>
                  <a:lnTo>
                    <a:pt x="837438" y="0"/>
                  </a:lnTo>
                  <a:lnTo>
                    <a:pt x="899667" y="1269"/>
                  </a:lnTo>
                  <a:lnTo>
                    <a:pt x="961263" y="4444"/>
                  </a:lnTo>
                  <a:lnTo>
                    <a:pt x="1021079" y="10159"/>
                  </a:lnTo>
                  <a:lnTo>
                    <a:pt x="1079500" y="17144"/>
                  </a:lnTo>
                  <a:lnTo>
                    <a:pt x="1136014" y="26669"/>
                  </a:lnTo>
                  <a:lnTo>
                    <a:pt x="1190752" y="38100"/>
                  </a:lnTo>
                  <a:lnTo>
                    <a:pt x="1242822" y="51434"/>
                  </a:lnTo>
                  <a:lnTo>
                    <a:pt x="1293622" y="66039"/>
                  </a:lnTo>
                  <a:lnTo>
                    <a:pt x="1341247" y="83184"/>
                  </a:lnTo>
                  <a:lnTo>
                    <a:pt x="1387093" y="100964"/>
                  </a:lnTo>
                  <a:lnTo>
                    <a:pt x="1429639" y="120650"/>
                  </a:lnTo>
                  <a:lnTo>
                    <a:pt x="1469643" y="141604"/>
                  </a:lnTo>
                  <a:lnTo>
                    <a:pt x="1506474" y="163829"/>
                  </a:lnTo>
                  <a:lnTo>
                    <a:pt x="1540128" y="188086"/>
                  </a:lnTo>
                  <a:lnTo>
                    <a:pt x="1569974" y="212851"/>
                  </a:lnTo>
                  <a:lnTo>
                    <a:pt x="1620265" y="265556"/>
                  </a:lnTo>
                  <a:lnTo>
                    <a:pt x="1654555" y="322071"/>
                  </a:lnTo>
                  <a:lnTo>
                    <a:pt x="1672336" y="381761"/>
                  </a:lnTo>
                  <a:lnTo>
                    <a:pt x="1674876" y="412241"/>
                  </a:lnTo>
                  <a:lnTo>
                    <a:pt x="1665986" y="473201"/>
                  </a:lnTo>
                  <a:lnTo>
                    <a:pt x="1639315" y="531621"/>
                  </a:lnTo>
                  <a:lnTo>
                    <a:pt x="1597405" y="586358"/>
                  </a:lnTo>
                  <a:lnTo>
                    <a:pt x="1540128" y="637158"/>
                  </a:lnTo>
                  <a:lnTo>
                    <a:pt x="1506474" y="660653"/>
                  </a:lnTo>
                  <a:lnTo>
                    <a:pt x="1469643" y="682878"/>
                  </a:lnTo>
                  <a:lnTo>
                    <a:pt x="1429639" y="703833"/>
                  </a:lnTo>
                  <a:lnTo>
                    <a:pt x="1387093" y="723518"/>
                  </a:lnTo>
                  <a:lnTo>
                    <a:pt x="1341247" y="741933"/>
                  </a:lnTo>
                  <a:lnTo>
                    <a:pt x="1293622" y="758443"/>
                  </a:lnTo>
                  <a:lnTo>
                    <a:pt x="1242822" y="773048"/>
                  </a:lnTo>
                  <a:lnTo>
                    <a:pt x="1190752" y="786383"/>
                  </a:lnTo>
                  <a:lnTo>
                    <a:pt x="1136014" y="797813"/>
                  </a:lnTo>
                  <a:lnTo>
                    <a:pt x="1079500" y="807338"/>
                  </a:lnTo>
                  <a:lnTo>
                    <a:pt x="1021079" y="814958"/>
                  </a:lnTo>
                  <a:lnTo>
                    <a:pt x="961263" y="820038"/>
                  </a:lnTo>
                  <a:lnTo>
                    <a:pt x="899667" y="823213"/>
                  </a:lnTo>
                  <a:lnTo>
                    <a:pt x="837438" y="824483"/>
                  </a:lnTo>
                  <a:lnTo>
                    <a:pt x="775208" y="823213"/>
                  </a:lnTo>
                  <a:lnTo>
                    <a:pt x="713486" y="820038"/>
                  </a:lnTo>
                  <a:lnTo>
                    <a:pt x="653796" y="814958"/>
                  </a:lnTo>
                  <a:lnTo>
                    <a:pt x="596011" y="807338"/>
                  </a:lnTo>
                  <a:lnTo>
                    <a:pt x="539368" y="797813"/>
                  </a:lnTo>
                  <a:lnTo>
                    <a:pt x="484759" y="786383"/>
                  </a:lnTo>
                  <a:lnTo>
                    <a:pt x="432053" y="773048"/>
                  </a:lnTo>
                  <a:lnTo>
                    <a:pt x="381888" y="758443"/>
                  </a:lnTo>
                  <a:lnTo>
                    <a:pt x="333501" y="741933"/>
                  </a:lnTo>
                  <a:lnTo>
                    <a:pt x="288416" y="723518"/>
                  </a:lnTo>
                  <a:lnTo>
                    <a:pt x="245237" y="703833"/>
                  </a:lnTo>
                  <a:lnTo>
                    <a:pt x="205866" y="682878"/>
                  </a:lnTo>
                  <a:lnTo>
                    <a:pt x="169037" y="660653"/>
                  </a:lnTo>
                  <a:lnTo>
                    <a:pt x="135381" y="637158"/>
                  </a:lnTo>
                  <a:lnTo>
                    <a:pt x="104775" y="611758"/>
                  </a:lnTo>
                  <a:lnTo>
                    <a:pt x="54610" y="559053"/>
                  </a:lnTo>
                  <a:lnTo>
                    <a:pt x="20320" y="502411"/>
                  </a:lnTo>
                  <a:lnTo>
                    <a:pt x="2539" y="442721"/>
                  </a:lnTo>
                  <a:lnTo>
                    <a:pt x="0" y="412241"/>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grpSp>
        <p:nvGrpSpPr>
          <p:cNvPr id="325" name="Google Shape;325;g279ef9b7fc5_0_82"/>
          <p:cNvGrpSpPr/>
          <p:nvPr/>
        </p:nvGrpSpPr>
        <p:grpSpPr>
          <a:xfrm>
            <a:off x="3078401" y="1922223"/>
            <a:ext cx="5508952" cy="3103465"/>
            <a:chOff x="2308859" y="1441703"/>
            <a:chExt cx="4131817" cy="2327657"/>
          </a:xfrm>
        </p:grpSpPr>
        <p:sp>
          <p:nvSpPr>
            <p:cNvPr id="326" name="Google Shape;326;g279ef9b7fc5_0_82"/>
            <p:cNvSpPr/>
            <p:nvPr/>
          </p:nvSpPr>
          <p:spPr>
            <a:xfrm>
              <a:off x="4765547" y="2083308"/>
              <a:ext cx="1675129" cy="822960"/>
            </a:xfrm>
            <a:custGeom>
              <a:rect b="b" l="l" r="r" t="t"/>
              <a:pathLst>
                <a:path extrusionOk="0" h="822960" w="1675129">
                  <a:moveTo>
                    <a:pt x="837438" y="0"/>
                  </a:moveTo>
                  <a:lnTo>
                    <a:pt x="775207" y="635"/>
                  </a:lnTo>
                  <a:lnTo>
                    <a:pt x="714121" y="4444"/>
                  </a:lnTo>
                  <a:lnTo>
                    <a:pt x="653796" y="9525"/>
                  </a:lnTo>
                  <a:lnTo>
                    <a:pt x="596011" y="17144"/>
                  </a:lnTo>
                  <a:lnTo>
                    <a:pt x="539496" y="26669"/>
                  </a:lnTo>
                  <a:lnTo>
                    <a:pt x="484759" y="38100"/>
                  </a:lnTo>
                  <a:lnTo>
                    <a:pt x="432053" y="51308"/>
                  </a:lnTo>
                  <a:lnTo>
                    <a:pt x="381888" y="65912"/>
                  </a:lnTo>
                  <a:lnTo>
                    <a:pt x="333628" y="82423"/>
                  </a:lnTo>
                  <a:lnTo>
                    <a:pt x="288416" y="100837"/>
                  </a:lnTo>
                  <a:lnTo>
                    <a:pt x="245237" y="120523"/>
                  </a:lnTo>
                  <a:lnTo>
                    <a:pt x="205866" y="141350"/>
                  </a:lnTo>
                  <a:lnTo>
                    <a:pt x="169037" y="163575"/>
                  </a:lnTo>
                  <a:lnTo>
                    <a:pt x="135381" y="187071"/>
                  </a:lnTo>
                  <a:lnTo>
                    <a:pt x="104901" y="211836"/>
                  </a:lnTo>
                  <a:lnTo>
                    <a:pt x="54610" y="265049"/>
                  </a:lnTo>
                  <a:lnTo>
                    <a:pt x="20319" y="321437"/>
                  </a:lnTo>
                  <a:lnTo>
                    <a:pt x="2539" y="380365"/>
                  </a:lnTo>
                  <a:lnTo>
                    <a:pt x="0" y="411480"/>
                  </a:lnTo>
                  <a:lnTo>
                    <a:pt x="2539" y="441960"/>
                  </a:lnTo>
                  <a:lnTo>
                    <a:pt x="20319" y="501523"/>
                  </a:lnTo>
                  <a:lnTo>
                    <a:pt x="54610" y="557911"/>
                  </a:lnTo>
                  <a:lnTo>
                    <a:pt x="104901" y="610616"/>
                  </a:lnTo>
                  <a:lnTo>
                    <a:pt x="135381" y="635254"/>
                  </a:lnTo>
                  <a:lnTo>
                    <a:pt x="169037" y="658749"/>
                  </a:lnTo>
                  <a:lnTo>
                    <a:pt x="205866" y="681609"/>
                  </a:lnTo>
                  <a:lnTo>
                    <a:pt x="245237" y="702564"/>
                  </a:lnTo>
                  <a:lnTo>
                    <a:pt x="288416" y="722122"/>
                  </a:lnTo>
                  <a:lnTo>
                    <a:pt x="333628" y="739902"/>
                  </a:lnTo>
                  <a:lnTo>
                    <a:pt x="381888" y="756412"/>
                  </a:lnTo>
                  <a:lnTo>
                    <a:pt x="432053" y="771652"/>
                  </a:lnTo>
                  <a:lnTo>
                    <a:pt x="484759" y="784987"/>
                  </a:lnTo>
                  <a:lnTo>
                    <a:pt x="539496" y="796290"/>
                  </a:lnTo>
                  <a:lnTo>
                    <a:pt x="596011" y="805180"/>
                  </a:lnTo>
                  <a:lnTo>
                    <a:pt x="653796" y="812800"/>
                  </a:lnTo>
                  <a:lnTo>
                    <a:pt x="714121" y="818515"/>
                  </a:lnTo>
                  <a:lnTo>
                    <a:pt x="775207" y="821690"/>
                  </a:lnTo>
                  <a:lnTo>
                    <a:pt x="837438" y="822960"/>
                  </a:lnTo>
                  <a:lnTo>
                    <a:pt x="900302" y="821690"/>
                  </a:lnTo>
                  <a:lnTo>
                    <a:pt x="961389" y="818515"/>
                  </a:lnTo>
                  <a:lnTo>
                    <a:pt x="1021079" y="812800"/>
                  </a:lnTo>
                  <a:lnTo>
                    <a:pt x="1079500" y="805180"/>
                  </a:lnTo>
                  <a:lnTo>
                    <a:pt x="1136014" y="796290"/>
                  </a:lnTo>
                  <a:lnTo>
                    <a:pt x="1190752" y="784987"/>
                  </a:lnTo>
                  <a:lnTo>
                    <a:pt x="1243456" y="771652"/>
                  </a:lnTo>
                  <a:lnTo>
                    <a:pt x="1293622" y="756412"/>
                  </a:lnTo>
                  <a:lnTo>
                    <a:pt x="1341247" y="739902"/>
                  </a:lnTo>
                  <a:lnTo>
                    <a:pt x="1387093" y="722122"/>
                  </a:lnTo>
                  <a:lnTo>
                    <a:pt x="1429639" y="702564"/>
                  </a:lnTo>
                  <a:lnTo>
                    <a:pt x="1469643" y="681609"/>
                  </a:lnTo>
                  <a:lnTo>
                    <a:pt x="1506474" y="658749"/>
                  </a:lnTo>
                  <a:lnTo>
                    <a:pt x="1540128" y="635254"/>
                  </a:lnTo>
                  <a:lnTo>
                    <a:pt x="1569974" y="610616"/>
                  </a:lnTo>
                  <a:lnTo>
                    <a:pt x="1620265" y="557911"/>
                  </a:lnTo>
                  <a:lnTo>
                    <a:pt x="1654555" y="501523"/>
                  </a:lnTo>
                  <a:lnTo>
                    <a:pt x="1672971" y="441960"/>
                  </a:lnTo>
                  <a:lnTo>
                    <a:pt x="1674876" y="411480"/>
                  </a:lnTo>
                  <a:lnTo>
                    <a:pt x="1672971" y="380365"/>
                  </a:lnTo>
                  <a:lnTo>
                    <a:pt x="1654555" y="321437"/>
                  </a:lnTo>
                  <a:lnTo>
                    <a:pt x="1620265" y="265049"/>
                  </a:lnTo>
                  <a:lnTo>
                    <a:pt x="1569974" y="211836"/>
                  </a:lnTo>
                  <a:lnTo>
                    <a:pt x="1540128" y="187071"/>
                  </a:lnTo>
                  <a:lnTo>
                    <a:pt x="1506474" y="163575"/>
                  </a:lnTo>
                  <a:lnTo>
                    <a:pt x="1469643" y="141350"/>
                  </a:lnTo>
                  <a:lnTo>
                    <a:pt x="1429639" y="120523"/>
                  </a:lnTo>
                  <a:lnTo>
                    <a:pt x="1387093" y="100837"/>
                  </a:lnTo>
                  <a:lnTo>
                    <a:pt x="1341247" y="82423"/>
                  </a:lnTo>
                  <a:lnTo>
                    <a:pt x="1293622" y="65912"/>
                  </a:lnTo>
                  <a:lnTo>
                    <a:pt x="1243456" y="51308"/>
                  </a:lnTo>
                  <a:lnTo>
                    <a:pt x="1190752" y="38100"/>
                  </a:lnTo>
                  <a:lnTo>
                    <a:pt x="1136014" y="26669"/>
                  </a:lnTo>
                  <a:lnTo>
                    <a:pt x="1079500" y="17144"/>
                  </a:lnTo>
                  <a:lnTo>
                    <a:pt x="1021079" y="9525"/>
                  </a:lnTo>
                  <a:lnTo>
                    <a:pt x="961389" y="4444"/>
                  </a:lnTo>
                  <a:lnTo>
                    <a:pt x="900302" y="635"/>
                  </a:lnTo>
                  <a:lnTo>
                    <a:pt x="837438" y="0"/>
                  </a:lnTo>
                  <a:close/>
                </a:path>
              </a:pathLst>
            </a:custGeom>
            <a:solidFill>
              <a:srgbClr val="FFB32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27" name="Google Shape;327;g279ef9b7fc5_0_82"/>
            <p:cNvSpPr/>
            <p:nvPr/>
          </p:nvSpPr>
          <p:spPr>
            <a:xfrm>
              <a:off x="4765547" y="2083308"/>
              <a:ext cx="1675129" cy="822960"/>
            </a:xfrm>
            <a:custGeom>
              <a:rect b="b" l="l" r="r" t="t"/>
              <a:pathLst>
                <a:path extrusionOk="0" h="822960" w="1675129">
                  <a:moveTo>
                    <a:pt x="0" y="411480"/>
                  </a:moveTo>
                  <a:lnTo>
                    <a:pt x="9525" y="350647"/>
                  </a:lnTo>
                  <a:lnTo>
                    <a:pt x="35560" y="292354"/>
                  </a:lnTo>
                  <a:lnTo>
                    <a:pt x="78104" y="237744"/>
                  </a:lnTo>
                  <a:lnTo>
                    <a:pt x="135381" y="187071"/>
                  </a:lnTo>
                  <a:lnTo>
                    <a:pt x="169037" y="163575"/>
                  </a:lnTo>
                  <a:lnTo>
                    <a:pt x="205866" y="141350"/>
                  </a:lnTo>
                  <a:lnTo>
                    <a:pt x="245237" y="120523"/>
                  </a:lnTo>
                  <a:lnTo>
                    <a:pt x="288416" y="100837"/>
                  </a:lnTo>
                  <a:lnTo>
                    <a:pt x="333628" y="82423"/>
                  </a:lnTo>
                  <a:lnTo>
                    <a:pt x="381888" y="65912"/>
                  </a:lnTo>
                  <a:lnTo>
                    <a:pt x="432053" y="51308"/>
                  </a:lnTo>
                  <a:lnTo>
                    <a:pt x="484759" y="38100"/>
                  </a:lnTo>
                  <a:lnTo>
                    <a:pt x="539496" y="26669"/>
                  </a:lnTo>
                  <a:lnTo>
                    <a:pt x="596011" y="17144"/>
                  </a:lnTo>
                  <a:lnTo>
                    <a:pt x="653796" y="9525"/>
                  </a:lnTo>
                  <a:lnTo>
                    <a:pt x="714121" y="4444"/>
                  </a:lnTo>
                  <a:lnTo>
                    <a:pt x="775207" y="635"/>
                  </a:lnTo>
                  <a:lnTo>
                    <a:pt x="837438" y="0"/>
                  </a:lnTo>
                  <a:lnTo>
                    <a:pt x="900302" y="635"/>
                  </a:lnTo>
                  <a:lnTo>
                    <a:pt x="961389" y="4444"/>
                  </a:lnTo>
                  <a:lnTo>
                    <a:pt x="1021079" y="9525"/>
                  </a:lnTo>
                  <a:lnTo>
                    <a:pt x="1079500" y="17144"/>
                  </a:lnTo>
                  <a:lnTo>
                    <a:pt x="1136014" y="26669"/>
                  </a:lnTo>
                  <a:lnTo>
                    <a:pt x="1190752" y="38100"/>
                  </a:lnTo>
                  <a:lnTo>
                    <a:pt x="1243456" y="51308"/>
                  </a:lnTo>
                  <a:lnTo>
                    <a:pt x="1293622" y="65912"/>
                  </a:lnTo>
                  <a:lnTo>
                    <a:pt x="1341247" y="82423"/>
                  </a:lnTo>
                  <a:lnTo>
                    <a:pt x="1387093" y="100837"/>
                  </a:lnTo>
                  <a:lnTo>
                    <a:pt x="1429639" y="120523"/>
                  </a:lnTo>
                  <a:lnTo>
                    <a:pt x="1469643" y="141350"/>
                  </a:lnTo>
                  <a:lnTo>
                    <a:pt x="1506474" y="163575"/>
                  </a:lnTo>
                  <a:lnTo>
                    <a:pt x="1540128" y="187071"/>
                  </a:lnTo>
                  <a:lnTo>
                    <a:pt x="1569974" y="211836"/>
                  </a:lnTo>
                  <a:lnTo>
                    <a:pt x="1620265" y="265049"/>
                  </a:lnTo>
                  <a:lnTo>
                    <a:pt x="1654555" y="321437"/>
                  </a:lnTo>
                  <a:lnTo>
                    <a:pt x="1672971" y="380365"/>
                  </a:lnTo>
                  <a:lnTo>
                    <a:pt x="1674876" y="411480"/>
                  </a:lnTo>
                  <a:lnTo>
                    <a:pt x="1665986" y="472313"/>
                  </a:lnTo>
                  <a:lnTo>
                    <a:pt x="1639315" y="530098"/>
                  </a:lnTo>
                  <a:lnTo>
                    <a:pt x="1597405" y="584581"/>
                  </a:lnTo>
                  <a:lnTo>
                    <a:pt x="1540128" y="635254"/>
                  </a:lnTo>
                  <a:lnTo>
                    <a:pt x="1506474" y="658749"/>
                  </a:lnTo>
                  <a:lnTo>
                    <a:pt x="1469643" y="681609"/>
                  </a:lnTo>
                  <a:lnTo>
                    <a:pt x="1429639" y="702564"/>
                  </a:lnTo>
                  <a:lnTo>
                    <a:pt x="1387093" y="722122"/>
                  </a:lnTo>
                  <a:lnTo>
                    <a:pt x="1341247" y="739902"/>
                  </a:lnTo>
                  <a:lnTo>
                    <a:pt x="1293622" y="756412"/>
                  </a:lnTo>
                  <a:lnTo>
                    <a:pt x="1243456" y="771652"/>
                  </a:lnTo>
                  <a:lnTo>
                    <a:pt x="1190752" y="784987"/>
                  </a:lnTo>
                  <a:lnTo>
                    <a:pt x="1136014" y="796290"/>
                  </a:lnTo>
                  <a:lnTo>
                    <a:pt x="1079500" y="805180"/>
                  </a:lnTo>
                  <a:lnTo>
                    <a:pt x="1021079" y="812800"/>
                  </a:lnTo>
                  <a:lnTo>
                    <a:pt x="961389" y="818515"/>
                  </a:lnTo>
                  <a:lnTo>
                    <a:pt x="900302" y="821690"/>
                  </a:lnTo>
                  <a:lnTo>
                    <a:pt x="837438" y="822960"/>
                  </a:lnTo>
                  <a:lnTo>
                    <a:pt x="775207" y="821690"/>
                  </a:lnTo>
                  <a:lnTo>
                    <a:pt x="714121" y="818515"/>
                  </a:lnTo>
                  <a:lnTo>
                    <a:pt x="653796" y="812800"/>
                  </a:lnTo>
                  <a:lnTo>
                    <a:pt x="596011" y="805180"/>
                  </a:lnTo>
                  <a:lnTo>
                    <a:pt x="539496" y="796290"/>
                  </a:lnTo>
                  <a:lnTo>
                    <a:pt x="484759" y="784987"/>
                  </a:lnTo>
                  <a:lnTo>
                    <a:pt x="432053" y="771652"/>
                  </a:lnTo>
                  <a:lnTo>
                    <a:pt x="381888" y="756412"/>
                  </a:lnTo>
                  <a:lnTo>
                    <a:pt x="333628" y="739902"/>
                  </a:lnTo>
                  <a:lnTo>
                    <a:pt x="288416" y="722122"/>
                  </a:lnTo>
                  <a:lnTo>
                    <a:pt x="245237" y="702564"/>
                  </a:lnTo>
                  <a:lnTo>
                    <a:pt x="205866" y="681609"/>
                  </a:lnTo>
                  <a:lnTo>
                    <a:pt x="169037" y="658749"/>
                  </a:lnTo>
                  <a:lnTo>
                    <a:pt x="135381" y="635254"/>
                  </a:lnTo>
                  <a:lnTo>
                    <a:pt x="104901" y="610616"/>
                  </a:lnTo>
                  <a:lnTo>
                    <a:pt x="54610" y="557911"/>
                  </a:lnTo>
                  <a:lnTo>
                    <a:pt x="20319" y="501523"/>
                  </a:lnTo>
                  <a:lnTo>
                    <a:pt x="2539" y="441960"/>
                  </a:lnTo>
                  <a:lnTo>
                    <a:pt x="0" y="411480"/>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28" name="Google Shape;328;g279ef9b7fc5_0_82"/>
            <p:cNvSpPr/>
            <p:nvPr/>
          </p:nvSpPr>
          <p:spPr>
            <a:xfrm>
              <a:off x="3785616" y="1441703"/>
              <a:ext cx="986154" cy="859789"/>
            </a:xfrm>
            <a:custGeom>
              <a:rect b="b" l="l" r="r" t="t"/>
              <a:pathLst>
                <a:path extrusionOk="0" h="859789" w="986154">
                  <a:moveTo>
                    <a:pt x="986028" y="10160"/>
                  </a:moveTo>
                  <a:lnTo>
                    <a:pt x="858520" y="0"/>
                  </a:lnTo>
                  <a:lnTo>
                    <a:pt x="887730" y="34290"/>
                  </a:lnTo>
                  <a:lnTo>
                    <a:pt x="0" y="790956"/>
                  </a:lnTo>
                  <a:lnTo>
                    <a:pt x="58420" y="859536"/>
                  </a:lnTo>
                  <a:lnTo>
                    <a:pt x="946658" y="102870"/>
                  </a:lnTo>
                  <a:lnTo>
                    <a:pt x="975868" y="137160"/>
                  </a:lnTo>
                  <a:lnTo>
                    <a:pt x="978662" y="102870"/>
                  </a:lnTo>
                  <a:lnTo>
                    <a:pt x="986028" y="1016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29" name="Google Shape;329;g279ef9b7fc5_0_82"/>
            <p:cNvSpPr/>
            <p:nvPr/>
          </p:nvSpPr>
          <p:spPr>
            <a:xfrm>
              <a:off x="3785615" y="1441704"/>
              <a:ext cx="986154" cy="859789"/>
            </a:xfrm>
            <a:custGeom>
              <a:rect b="b" l="l" r="r" t="t"/>
              <a:pathLst>
                <a:path extrusionOk="0" h="859789" w="986154">
                  <a:moveTo>
                    <a:pt x="0" y="790956"/>
                  </a:moveTo>
                  <a:lnTo>
                    <a:pt x="887730" y="34290"/>
                  </a:lnTo>
                  <a:lnTo>
                    <a:pt x="858520" y="0"/>
                  </a:lnTo>
                  <a:lnTo>
                    <a:pt x="986028" y="10160"/>
                  </a:lnTo>
                  <a:lnTo>
                    <a:pt x="975868" y="137160"/>
                  </a:lnTo>
                  <a:lnTo>
                    <a:pt x="946658" y="102870"/>
                  </a:lnTo>
                  <a:lnTo>
                    <a:pt x="58420" y="859536"/>
                  </a:lnTo>
                  <a:lnTo>
                    <a:pt x="0" y="790956"/>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30" name="Google Shape;330;g279ef9b7fc5_0_82"/>
            <p:cNvSpPr/>
            <p:nvPr/>
          </p:nvSpPr>
          <p:spPr>
            <a:xfrm>
              <a:off x="3793236" y="2804159"/>
              <a:ext cx="913129" cy="965200"/>
            </a:xfrm>
            <a:custGeom>
              <a:rect b="b" l="l" r="r" t="t"/>
              <a:pathLst>
                <a:path extrusionOk="0" h="965200" w="913129">
                  <a:moveTo>
                    <a:pt x="912876" y="837184"/>
                  </a:moveTo>
                  <a:lnTo>
                    <a:pt x="879856" y="868172"/>
                  </a:lnTo>
                  <a:lnTo>
                    <a:pt x="66040" y="0"/>
                  </a:lnTo>
                  <a:lnTo>
                    <a:pt x="0" y="61595"/>
                  </a:lnTo>
                  <a:lnTo>
                    <a:pt x="813689" y="929767"/>
                  </a:lnTo>
                  <a:lnTo>
                    <a:pt x="781304" y="960882"/>
                  </a:lnTo>
                  <a:lnTo>
                    <a:pt x="909066" y="964692"/>
                  </a:lnTo>
                  <a:lnTo>
                    <a:pt x="911987" y="868172"/>
                  </a:lnTo>
                  <a:lnTo>
                    <a:pt x="912876" y="837184"/>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31" name="Google Shape;331;g279ef9b7fc5_0_82"/>
            <p:cNvSpPr/>
            <p:nvPr/>
          </p:nvSpPr>
          <p:spPr>
            <a:xfrm>
              <a:off x="3793235" y="2804160"/>
              <a:ext cx="913129" cy="965200"/>
            </a:xfrm>
            <a:custGeom>
              <a:rect b="b" l="l" r="r" t="t"/>
              <a:pathLst>
                <a:path extrusionOk="0" h="965200" w="913129">
                  <a:moveTo>
                    <a:pt x="66039" y="0"/>
                  </a:moveTo>
                  <a:lnTo>
                    <a:pt x="879855" y="868171"/>
                  </a:lnTo>
                  <a:lnTo>
                    <a:pt x="912876" y="837183"/>
                  </a:lnTo>
                  <a:lnTo>
                    <a:pt x="909065" y="964691"/>
                  </a:lnTo>
                  <a:lnTo>
                    <a:pt x="781303" y="960881"/>
                  </a:lnTo>
                  <a:lnTo>
                    <a:pt x="813688" y="929766"/>
                  </a:lnTo>
                  <a:lnTo>
                    <a:pt x="0" y="61594"/>
                  </a:lnTo>
                  <a:lnTo>
                    <a:pt x="66039" y="0"/>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32" name="Google Shape;332;g279ef9b7fc5_0_82"/>
            <p:cNvSpPr/>
            <p:nvPr/>
          </p:nvSpPr>
          <p:spPr>
            <a:xfrm>
              <a:off x="2308859" y="2033016"/>
              <a:ext cx="1435735" cy="1058545"/>
            </a:xfrm>
            <a:custGeom>
              <a:rect b="b" l="l" r="r" t="t"/>
              <a:pathLst>
                <a:path extrusionOk="0" h="1058545" w="1435735">
                  <a:moveTo>
                    <a:pt x="1435607" y="0"/>
                  </a:moveTo>
                  <a:lnTo>
                    <a:pt x="176529" y="0"/>
                  </a:lnTo>
                  <a:lnTo>
                    <a:pt x="129539" y="6350"/>
                  </a:lnTo>
                  <a:lnTo>
                    <a:pt x="87629" y="24129"/>
                  </a:lnTo>
                  <a:lnTo>
                    <a:pt x="51434" y="52069"/>
                  </a:lnTo>
                  <a:lnTo>
                    <a:pt x="24129" y="87629"/>
                  </a:lnTo>
                  <a:lnTo>
                    <a:pt x="6350" y="129666"/>
                  </a:lnTo>
                  <a:lnTo>
                    <a:pt x="0" y="176656"/>
                  </a:lnTo>
                  <a:lnTo>
                    <a:pt x="0" y="1058545"/>
                  </a:lnTo>
                  <a:lnTo>
                    <a:pt x="1259077" y="1058545"/>
                  </a:lnTo>
                  <a:lnTo>
                    <a:pt x="1306067" y="1052195"/>
                  </a:lnTo>
                  <a:lnTo>
                    <a:pt x="1347977" y="1034414"/>
                  </a:lnTo>
                  <a:lnTo>
                    <a:pt x="1383538" y="1007109"/>
                  </a:lnTo>
                  <a:lnTo>
                    <a:pt x="1411477" y="971550"/>
                  </a:lnTo>
                  <a:lnTo>
                    <a:pt x="1429257" y="928877"/>
                  </a:lnTo>
                  <a:lnTo>
                    <a:pt x="1435607" y="882522"/>
                  </a:lnTo>
                  <a:lnTo>
                    <a:pt x="1435607" y="0"/>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33" name="Google Shape;333;g279ef9b7fc5_0_82"/>
            <p:cNvSpPr/>
            <p:nvPr/>
          </p:nvSpPr>
          <p:spPr>
            <a:xfrm>
              <a:off x="2308859" y="2033016"/>
              <a:ext cx="1435735" cy="1058545"/>
            </a:xfrm>
            <a:custGeom>
              <a:rect b="b" l="l" r="r" t="t"/>
              <a:pathLst>
                <a:path extrusionOk="0" h="1058545" w="1435735">
                  <a:moveTo>
                    <a:pt x="176529" y="0"/>
                  </a:moveTo>
                  <a:lnTo>
                    <a:pt x="1435607" y="0"/>
                  </a:lnTo>
                  <a:lnTo>
                    <a:pt x="1435607" y="882522"/>
                  </a:lnTo>
                  <a:lnTo>
                    <a:pt x="1429257" y="928877"/>
                  </a:lnTo>
                  <a:lnTo>
                    <a:pt x="1411477" y="971550"/>
                  </a:lnTo>
                  <a:lnTo>
                    <a:pt x="1383538" y="1007109"/>
                  </a:lnTo>
                  <a:lnTo>
                    <a:pt x="1347977" y="1034414"/>
                  </a:lnTo>
                  <a:lnTo>
                    <a:pt x="1306067" y="1052195"/>
                  </a:lnTo>
                  <a:lnTo>
                    <a:pt x="1259077" y="1058545"/>
                  </a:lnTo>
                  <a:lnTo>
                    <a:pt x="0" y="1058545"/>
                  </a:lnTo>
                  <a:lnTo>
                    <a:pt x="0" y="176656"/>
                  </a:lnTo>
                  <a:lnTo>
                    <a:pt x="6350" y="129666"/>
                  </a:lnTo>
                  <a:lnTo>
                    <a:pt x="24129" y="87629"/>
                  </a:lnTo>
                  <a:lnTo>
                    <a:pt x="51434" y="52069"/>
                  </a:lnTo>
                  <a:lnTo>
                    <a:pt x="87629" y="24129"/>
                  </a:lnTo>
                  <a:lnTo>
                    <a:pt x="129539" y="6350"/>
                  </a:lnTo>
                  <a:lnTo>
                    <a:pt x="176529" y="0"/>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grpSp>
        <p:nvGrpSpPr>
          <p:cNvPr id="334" name="Google Shape;334;g279ef9b7fc5_0_82"/>
          <p:cNvGrpSpPr/>
          <p:nvPr/>
        </p:nvGrpSpPr>
        <p:grpSpPr>
          <a:xfrm>
            <a:off x="8928383" y="4649103"/>
            <a:ext cx="1597620" cy="382684"/>
            <a:chOff x="6696455" y="3486911"/>
            <a:chExt cx="1198245" cy="287020"/>
          </a:xfrm>
        </p:grpSpPr>
        <p:sp>
          <p:nvSpPr>
            <p:cNvPr id="335" name="Google Shape;335;g279ef9b7fc5_0_82"/>
            <p:cNvSpPr/>
            <p:nvPr/>
          </p:nvSpPr>
          <p:spPr>
            <a:xfrm>
              <a:off x="6696455" y="3486911"/>
              <a:ext cx="1198245" cy="287020"/>
            </a:xfrm>
            <a:custGeom>
              <a:rect b="b" l="l" r="r" t="t"/>
              <a:pathLst>
                <a:path extrusionOk="0" h="287020" w="1198245">
                  <a:moveTo>
                    <a:pt x="1054353" y="0"/>
                  </a:moveTo>
                  <a:lnTo>
                    <a:pt x="1054353" y="71500"/>
                  </a:lnTo>
                  <a:lnTo>
                    <a:pt x="0" y="71500"/>
                  </a:lnTo>
                  <a:lnTo>
                    <a:pt x="0" y="215010"/>
                  </a:lnTo>
                  <a:lnTo>
                    <a:pt x="1054353" y="215010"/>
                  </a:lnTo>
                  <a:lnTo>
                    <a:pt x="1054353" y="286512"/>
                  </a:lnTo>
                  <a:lnTo>
                    <a:pt x="1197864" y="143509"/>
                  </a:lnTo>
                  <a:lnTo>
                    <a:pt x="105435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36" name="Google Shape;336;g279ef9b7fc5_0_82"/>
            <p:cNvSpPr/>
            <p:nvPr/>
          </p:nvSpPr>
          <p:spPr>
            <a:xfrm>
              <a:off x="6696455" y="3486911"/>
              <a:ext cx="1198245" cy="287020"/>
            </a:xfrm>
            <a:custGeom>
              <a:rect b="b" l="l" r="r" t="t"/>
              <a:pathLst>
                <a:path extrusionOk="0" h="287020" w="1198245">
                  <a:moveTo>
                    <a:pt x="0" y="71500"/>
                  </a:moveTo>
                  <a:lnTo>
                    <a:pt x="1054353" y="71500"/>
                  </a:lnTo>
                  <a:lnTo>
                    <a:pt x="1054353" y="0"/>
                  </a:lnTo>
                  <a:lnTo>
                    <a:pt x="1197864" y="143509"/>
                  </a:lnTo>
                  <a:lnTo>
                    <a:pt x="1054353" y="286512"/>
                  </a:lnTo>
                  <a:lnTo>
                    <a:pt x="1054353" y="215010"/>
                  </a:lnTo>
                  <a:lnTo>
                    <a:pt x="0" y="215010"/>
                  </a:lnTo>
                  <a:lnTo>
                    <a:pt x="0" y="715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grpSp>
        <p:nvGrpSpPr>
          <p:cNvPr id="337" name="Google Shape;337;g279ef9b7fc5_0_82"/>
          <p:cNvGrpSpPr/>
          <p:nvPr/>
        </p:nvGrpSpPr>
        <p:grpSpPr>
          <a:xfrm>
            <a:off x="8928383" y="1463005"/>
            <a:ext cx="1597620" cy="382682"/>
            <a:chOff x="6696455" y="1097279"/>
            <a:chExt cx="1198245" cy="287019"/>
          </a:xfrm>
        </p:grpSpPr>
        <p:sp>
          <p:nvSpPr>
            <p:cNvPr id="338" name="Google Shape;338;g279ef9b7fc5_0_82"/>
            <p:cNvSpPr/>
            <p:nvPr/>
          </p:nvSpPr>
          <p:spPr>
            <a:xfrm>
              <a:off x="6696455" y="1097279"/>
              <a:ext cx="1198245" cy="287019"/>
            </a:xfrm>
            <a:custGeom>
              <a:rect b="b" l="l" r="r" t="t"/>
              <a:pathLst>
                <a:path extrusionOk="0" h="287019" w="1198245">
                  <a:moveTo>
                    <a:pt x="1054353" y="0"/>
                  </a:moveTo>
                  <a:lnTo>
                    <a:pt x="1054353" y="71500"/>
                  </a:lnTo>
                  <a:lnTo>
                    <a:pt x="0" y="71500"/>
                  </a:lnTo>
                  <a:lnTo>
                    <a:pt x="0" y="215011"/>
                  </a:lnTo>
                  <a:lnTo>
                    <a:pt x="1054353" y="215011"/>
                  </a:lnTo>
                  <a:lnTo>
                    <a:pt x="1054353" y="286512"/>
                  </a:lnTo>
                  <a:lnTo>
                    <a:pt x="1197864" y="143510"/>
                  </a:lnTo>
                  <a:lnTo>
                    <a:pt x="105435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39" name="Google Shape;339;g279ef9b7fc5_0_82"/>
            <p:cNvSpPr/>
            <p:nvPr/>
          </p:nvSpPr>
          <p:spPr>
            <a:xfrm>
              <a:off x="6696455" y="1097279"/>
              <a:ext cx="1198245" cy="287019"/>
            </a:xfrm>
            <a:custGeom>
              <a:rect b="b" l="l" r="r" t="t"/>
              <a:pathLst>
                <a:path extrusionOk="0" h="287019" w="1198245">
                  <a:moveTo>
                    <a:pt x="0" y="71500"/>
                  </a:moveTo>
                  <a:lnTo>
                    <a:pt x="1054353" y="71500"/>
                  </a:lnTo>
                  <a:lnTo>
                    <a:pt x="1054353" y="0"/>
                  </a:lnTo>
                  <a:lnTo>
                    <a:pt x="1197864" y="143510"/>
                  </a:lnTo>
                  <a:lnTo>
                    <a:pt x="1054353" y="286512"/>
                  </a:lnTo>
                  <a:lnTo>
                    <a:pt x="1054353" y="215011"/>
                  </a:lnTo>
                  <a:lnTo>
                    <a:pt x="0" y="215011"/>
                  </a:lnTo>
                  <a:lnTo>
                    <a:pt x="0" y="715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grpSp>
        <p:nvGrpSpPr>
          <p:cNvPr id="340" name="Google Shape;340;g279ef9b7fc5_0_82"/>
          <p:cNvGrpSpPr/>
          <p:nvPr/>
        </p:nvGrpSpPr>
        <p:grpSpPr>
          <a:xfrm>
            <a:off x="1036292" y="1605188"/>
            <a:ext cx="343738" cy="1126091"/>
            <a:chOff x="777239" y="1203921"/>
            <a:chExt cx="257810" cy="844589"/>
          </a:xfrm>
        </p:grpSpPr>
        <p:sp>
          <p:nvSpPr>
            <p:cNvPr id="341" name="Google Shape;341;g279ef9b7fc5_0_82"/>
            <p:cNvSpPr/>
            <p:nvPr/>
          </p:nvSpPr>
          <p:spPr>
            <a:xfrm>
              <a:off x="777240" y="1203921"/>
              <a:ext cx="257809" cy="844550"/>
            </a:xfrm>
            <a:custGeom>
              <a:rect b="b" l="l" r="r" t="t"/>
              <a:pathLst>
                <a:path extrusionOk="0" h="844550" w="257809">
                  <a:moveTo>
                    <a:pt x="257556" y="715429"/>
                  </a:moveTo>
                  <a:lnTo>
                    <a:pt x="193014" y="715429"/>
                  </a:lnTo>
                  <a:lnTo>
                    <a:pt x="193014" y="0"/>
                  </a:lnTo>
                  <a:lnTo>
                    <a:pt x="64541" y="0"/>
                  </a:lnTo>
                  <a:lnTo>
                    <a:pt x="64541" y="715429"/>
                  </a:lnTo>
                  <a:lnTo>
                    <a:pt x="0" y="715429"/>
                  </a:lnTo>
                  <a:lnTo>
                    <a:pt x="128460" y="844334"/>
                  </a:lnTo>
                  <a:lnTo>
                    <a:pt x="257556" y="715429"/>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42" name="Google Shape;342;g279ef9b7fc5_0_82"/>
            <p:cNvSpPr/>
            <p:nvPr/>
          </p:nvSpPr>
          <p:spPr>
            <a:xfrm>
              <a:off x="777239" y="1203960"/>
              <a:ext cx="257809" cy="844550"/>
            </a:xfrm>
            <a:custGeom>
              <a:rect b="b" l="l" r="r" t="t"/>
              <a:pathLst>
                <a:path extrusionOk="0" h="844550" w="257809">
                  <a:moveTo>
                    <a:pt x="193014" y="0"/>
                  </a:moveTo>
                  <a:lnTo>
                    <a:pt x="193014" y="715390"/>
                  </a:lnTo>
                  <a:lnTo>
                    <a:pt x="257556" y="715390"/>
                  </a:lnTo>
                  <a:lnTo>
                    <a:pt x="128460" y="844295"/>
                  </a:lnTo>
                  <a:lnTo>
                    <a:pt x="0" y="715390"/>
                  </a:lnTo>
                  <a:lnTo>
                    <a:pt x="64541" y="715390"/>
                  </a:lnTo>
                  <a:lnTo>
                    <a:pt x="64541" y="0"/>
                  </a:lnTo>
                  <a:lnTo>
                    <a:pt x="193014" y="0"/>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sp>
        <p:nvSpPr>
          <p:cNvPr id="343" name="Google Shape;343;g279ef9b7fc5_0_82"/>
          <p:cNvSpPr txBox="1"/>
          <p:nvPr/>
        </p:nvSpPr>
        <p:spPr>
          <a:xfrm>
            <a:off x="54187" y="1222247"/>
            <a:ext cx="5353500" cy="3864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2400"/>
              <a:buFont typeface="Arial"/>
              <a:buNone/>
            </a:pPr>
            <a:r>
              <a:rPr b="1" i="0" lang="en-IN" sz="2400" u="none" cap="none" strike="noStrike">
                <a:solidFill>
                  <a:srgbClr val="FFFFFF"/>
                </a:solidFill>
                <a:latin typeface="Arial"/>
                <a:ea typeface="Arial"/>
                <a:cs typeface="Arial"/>
                <a:sym typeface="Arial"/>
              </a:rPr>
              <a:t>system.out.println(1+2);	</a:t>
            </a:r>
            <a:r>
              <a:rPr b="1" i="0" lang="en-IN" sz="2400" u="none" cap="none" strike="noStrike">
                <a:solidFill>
                  <a:srgbClr val="FFFF00"/>
                </a:solidFill>
                <a:latin typeface="Arial"/>
                <a:ea typeface="Arial"/>
                <a:cs typeface="Arial"/>
                <a:sym typeface="Arial"/>
              </a:rPr>
              <a:t>.java file</a:t>
            </a:r>
            <a:endParaRPr b="0" i="0" sz="2400" u="none" cap="none" strike="noStrike">
              <a:solidFill>
                <a:schemeClr val="dk1"/>
              </a:solidFill>
              <a:latin typeface="Arial"/>
              <a:ea typeface="Arial"/>
              <a:cs typeface="Arial"/>
              <a:sym typeface="Arial"/>
            </a:endParaRPr>
          </a:p>
        </p:txBody>
      </p:sp>
      <p:sp>
        <p:nvSpPr>
          <p:cNvPr id="344" name="Google Shape;344;g279ef9b7fc5_0_82"/>
          <p:cNvSpPr txBox="1"/>
          <p:nvPr/>
        </p:nvSpPr>
        <p:spPr>
          <a:xfrm>
            <a:off x="3195997" y="3078243"/>
            <a:ext cx="1742400" cy="3864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2400"/>
              <a:buFont typeface="Arial"/>
              <a:buNone/>
            </a:pPr>
            <a:r>
              <a:rPr b="1" i="0" lang="en-IN" sz="2400" u="none" cap="none" strike="noStrike">
                <a:solidFill>
                  <a:schemeClr val="dk1"/>
                </a:solidFill>
                <a:latin typeface="Times New Roman"/>
                <a:ea typeface="Times New Roman"/>
                <a:cs typeface="Times New Roman"/>
                <a:sym typeface="Times New Roman"/>
              </a:rPr>
              <a:t>BYTECODE</a:t>
            </a:r>
            <a:endParaRPr b="0" i="0" sz="2400" u="none" cap="none" strike="noStrike">
              <a:solidFill>
                <a:schemeClr val="dk1"/>
              </a:solidFill>
              <a:latin typeface="Times New Roman"/>
              <a:ea typeface="Times New Roman"/>
              <a:cs typeface="Times New Roman"/>
              <a:sym typeface="Times New Roman"/>
            </a:endParaRPr>
          </a:p>
        </p:txBody>
      </p:sp>
      <p:sp>
        <p:nvSpPr>
          <p:cNvPr id="345" name="Google Shape;345;g279ef9b7fc5_0_82"/>
          <p:cNvSpPr txBox="1"/>
          <p:nvPr/>
        </p:nvSpPr>
        <p:spPr>
          <a:xfrm>
            <a:off x="3553629" y="4088044"/>
            <a:ext cx="1126200" cy="3864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2400"/>
              <a:buFont typeface="Arial"/>
              <a:buNone/>
            </a:pPr>
            <a:r>
              <a:rPr b="1" i="0" lang="en-IN" sz="2400" u="none" cap="none" strike="noStrike">
                <a:solidFill>
                  <a:srgbClr val="FFFF00"/>
                </a:solidFill>
                <a:latin typeface="Times New Roman"/>
                <a:ea typeface="Times New Roman"/>
                <a:cs typeface="Times New Roman"/>
                <a:sym typeface="Times New Roman"/>
              </a:rPr>
              <a:t>.classfile</a:t>
            </a:r>
            <a:endParaRPr b="0" i="0" sz="2400" u="none" cap="none" strike="noStrike">
              <a:solidFill>
                <a:schemeClr val="dk1"/>
              </a:solidFill>
              <a:latin typeface="Times New Roman"/>
              <a:ea typeface="Times New Roman"/>
              <a:cs typeface="Times New Roman"/>
              <a:sym typeface="Times New Roman"/>
            </a:endParaRPr>
          </a:p>
        </p:txBody>
      </p:sp>
      <p:sp>
        <p:nvSpPr>
          <p:cNvPr id="346" name="Google Shape;346;g279ef9b7fc5_0_82"/>
          <p:cNvSpPr txBox="1"/>
          <p:nvPr/>
        </p:nvSpPr>
        <p:spPr>
          <a:xfrm>
            <a:off x="6786540" y="1104392"/>
            <a:ext cx="1374900" cy="759300"/>
          </a:xfrm>
          <a:prstGeom prst="rect">
            <a:avLst/>
          </a:prstGeom>
          <a:noFill/>
          <a:ln>
            <a:noFill/>
          </a:ln>
        </p:spPr>
        <p:txBody>
          <a:bodyPr anchorCtr="0" anchor="t" bIns="0" lIns="0" spcFirstLastPara="1" rIns="0" wrap="square" tIns="16925">
            <a:spAutoFit/>
          </a:bodyPr>
          <a:lstStyle/>
          <a:p>
            <a:pPr indent="0" lvl="0" marL="0" marR="0" rtl="0" algn="ctr">
              <a:lnSpc>
                <a:spcPct val="100000"/>
              </a:lnSpc>
              <a:spcBef>
                <a:spcPts val="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Windows</a:t>
            </a:r>
            <a:endParaRPr b="0" i="0" sz="2400" u="none" cap="none" strike="noStrike">
              <a:solidFill>
                <a:schemeClr val="dk1"/>
              </a:solidFill>
              <a:latin typeface="Arial"/>
              <a:ea typeface="Arial"/>
              <a:cs typeface="Arial"/>
              <a:sym typeface="Arial"/>
            </a:endParaRPr>
          </a:p>
          <a:p>
            <a:pPr indent="0" lvl="0" marL="0" marR="0" rtl="0" algn="ctr">
              <a:lnSpc>
                <a:spcPct val="100000"/>
              </a:lnSpc>
              <a:spcBef>
                <a:spcPts val="27"/>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JVM</a:t>
            </a:r>
            <a:endParaRPr b="0" i="0" sz="2400" u="none" cap="none" strike="noStrike">
              <a:solidFill>
                <a:schemeClr val="dk1"/>
              </a:solidFill>
              <a:latin typeface="Arial"/>
              <a:ea typeface="Arial"/>
              <a:cs typeface="Arial"/>
              <a:sym typeface="Arial"/>
            </a:endParaRPr>
          </a:p>
        </p:txBody>
      </p:sp>
      <p:sp>
        <p:nvSpPr>
          <p:cNvPr id="347" name="Google Shape;347;g279ef9b7fc5_0_82"/>
          <p:cNvSpPr txBox="1"/>
          <p:nvPr/>
        </p:nvSpPr>
        <p:spPr>
          <a:xfrm>
            <a:off x="7051210" y="2851064"/>
            <a:ext cx="850800" cy="756000"/>
          </a:xfrm>
          <a:prstGeom prst="rect">
            <a:avLst/>
          </a:prstGeom>
          <a:noFill/>
          <a:ln>
            <a:noFill/>
          </a:ln>
        </p:spPr>
        <p:txBody>
          <a:bodyPr anchorCtr="0" anchor="t" bIns="0" lIns="0" spcFirstLastPara="1" rIns="0" wrap="square" tIns="12700">
            <a:spAutoFit/>
          </a:bodyPr>
          <a:lstStyle/>
          <a:p>
            <a:pPr indent="-91438" lvl="0" marL="107524" marR="6772" rtl="0" algn="l">
              <a:lnSpc>
                <a:spcPct val="101200"/>
              </a:lnSpc>
              <a:spcBef>
                <a:spcPts val="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Linux  JVM</a:t>
            </a:r>
            <a:endParaRPr b="0" i="0" sz="2400" u="none" cap="none" strike="noStrike">
              <a:solidFill>
                <a:schemeClr val="dk1"/>
              </a:solidFill>
              <a:latin typeface="Arial"/>
              <a:ea typeface="Arial"/>
              <a:cs typeface="Arial"/>
              <a:sym typeface="Arial"/>
            </a:endParaRPr>
          </a:p>
        </p:txBody>
      </p:sp>
      <p:sp>
        <p:nvSpPr>
          <p:cNvPr id="348" name="Google Shape;348;g279ef9b7fc5_0_82"/>
          <p:cNvSpPr txBox="1"/>
          <p:nvPr/>
        </p:nvSpPr>
        <p:spPr>
          <a:xfrm>
            <a:off x="8685275" y="1270168"/>
            <a:ext cx="1425000" cy="305400"/>
          </a:xfrm>
          <a:prstGeom prst="rect">
            <a:avLst/>
          </a:prstGeom>
          <a:noFill/>
          <a:ln>
            <a:noFill/>
          </a:ln>
        </p:spPr>
        <p:txBody>
          <a:bodyPr anchorCtr="0" anchor="t" bIns="0" lIns="0" spcFirstLastPara="1" rIns="0" wrap="square" tIns="17775">
            <a:spAutoFit/>
          </a:bodyPr>
          <a:lstStyle/>
          <a:p>
            <a:pPr indent="0" lvl="0" marL="16932" marR="0" rtl="0" algn="l">
              <a:lnSpc>
                <a:spcPct val="100000"/>
              </a:lnSpc>
              <a:spcBef>
                <a:spcPts val="0"/>
              </a:spcBef>
              <a:spcAft>
                <a:spcPts val="0"/>
              </a:spcAft>
              <a:buClr>
                <a:srgbClr val="000000"/>
              </a:buClr>
              <a:buSzPts val="1867"/>
              <a:buFont typeface="Arial"/>
              <a:buNone/>
            </a:pPr>
            <a:r>
              <a:rPr b="1" i="0" lang="en-IN" sz="1867" u="none" cap="none" strike="noStrike">
                <a:solidFill>
                  <a:srgbClr val="FFB32B"/>
                </a:solidFill>
                <a:latin typeface="Times New Roman"/>
                <a:ea typeface="Times New Roman"/>
                <a:cs typeface="Times New Roman"/>
                <a:sym typeface="Times New Roman"/>
              </a:rPr>
              <a:t>101110101010</a:t>
            </a:r>
            <a:endParaRPr b="0" i="0" sz="1867" u="none" cap="none" strike="noStrike">
              <a:solidFill>
                <a:schemeClr val="dk1"/>
              </a:solidFill>
              <a:latin typeface="Times New Roman"/>
              <a:ea typeface="Times New Roman"/>
              <a:cs typeface="Times New Roman"/>
              <a:sym typeface="Times New Roman"/>
            </a:endParaRPr>
          </a:p>
        </p:txBody>
      </p:sp>
      <p:sp>
        <p:nvSpPr>
          <p:cNvPr id="349" name="Google Shape;349;g279ef9b7fc5_0_82"/>
          <p:cNvSpPr txBox="1"/>
          <p:nvPr/>
        </p:nvSpPr>
        <p:spPr>
          <a:xfrm>
            <a:off x="8583676" y="2828206"/>
            <a:ext cx="1359600" cy="3045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1867"/>
              <a:buFont typeface="Arial"/>
              <a:buNone/>
            </a:pPr>
            <a:r>
              <a:rPr b="1" i="0" lang="en-IN" sz="1867" u="none" cap="none" strike="noStrike">
                <a:solidFill>
                  <a:srgbClr val="FFB32B"/>
                </a:solidFill>
                <a:latin typeface="Times New Roman"/>
                <a:ea typeface="Times New Roman"/>
                <a:cs typeface="Times New Roman"/>
                <a:sym typeface="Times New Roman"/>
              </a:rPr>
              <a:t>111110101111</a:t>
            </a:r>
            <a:endParaRPr b="0" i="0" sz="1867" u="none" cap="none" strike="noStrike">
              <a:solidFill>
                <a:schemeClr val="dk1"/>
              </a:solidFill>
              <a:latin typeface="Times New Roman"/>
              <a:ea typeface="Times New Roman"/>
              <a:cs typeface="Times New Roman"/>
              <a:sym typeface="Times New Roman"/>
            </a:endParaRPr>
          </a:p>
        </p:txBody>
      </p:sp>
      <p:grpSp>
        <p:nvGrpSpPr>
          <p:cNvPr id="350" name="Google Shape;350;g279ef9b7fc5_0_82"/>
          <p:cNvGrpSpPr/>
          <p:nvPr/>
        </p:nvGrpSpPr>
        <p:grpSpPr>
          <a:xfrm>
            <a:off x="81277" y="2814250"/>
            <a:ext cx="2233451" cy="1099791"/>
            <a:chOff x="60959" y="2110740"/>
            <a:chExt cx="1675130" cy="824864"/>
          </a:xfrm>
        </p:grpSpPr>
        <p:sp>
          <p:nvSpPr>
            <p:cNvPr id="351" name="Google Shape;351;g279ef9b7fc5_0_82"/>
            <p:cNvSpPr/>
            <p:nvPr/>
          </p:nvSpPr>
          <p:spPr>
            <a:xfrm>
              <a:off x="60959" y="2110740"/>
              <a:ext cx="1675130" cy="824864"/>
            </a:xfrm>
            <a:custGeom>
              <a:rect b="b" l="l" r="r" t="t"/>
              <a:pathLst>
                <a:path extrusionOk="0" h="824864" w="1675130">
                  <a:moveTo>
                    <a:pt x="837438" y="0"/>
                  </a:moveTo>
                  <a:lnTo>
                    <a:pt x="775169" y="635"/>
                  </a:lnTo>
                  <a:lnTo>
                    <a:pt x="713536" y="4445"/>
                  </a:lnTo>
                  <a:lnTo>
                    <a:pt x="653808" y="9525"/>
                  </a:lnTo>
                  <a:lnTo>
                    <a:pt x="595350" y="17145"/>
                  </a:lnTo>
                  <a:lnTo>
                    <a:pt x="538810" y="26670"/>
                  </a:lnTo>
                  <a:lnTo>
                    <a:pt x="484162" y="38100"/>
                  </a:lnTo>
                  <a:lnTo>
                    <a:pt x="432066" y="51435"/>
                  </a:lnTo>
                  <a:lnTo>
                    <a:pt x="381228" y="66040"/>
                  </a:lnTo>
                  <a:lnTo>
                    <a:pt x="333578" y="82550"/>
                  </a:lnTo>
                  <a:lnTo>
                    <a:pt x="287832" y="100965"/>
                  </a:lnTo>
                  <a:lnTo>
                    <a:pt x="245262" y="120650"/>
                  </a:lnTo>
                  <a:lnTo>
                    <a:pt x="205232" y="141605"/>
                  </a:lnTo>
                  <a:lnTo>
                    <a:pt x="168376" y="163830"/>
                  </a:lnTo>
                  <a:lnTo>
                    <a:pt x="134708" y="187325"/>
                  </a:lnTo>
                  <a:lnTo>
                    <a:pt x="104838" y="212090"/>
                  </a:lnTo>
                  <a:lnTo>
                    <a:pt x="54646" y="264922"/>
                  </a:lnTo>
                  <a:lnTo>
                    <a:pt x="20336" y="321437"/>
                  </a:lnTo>
                  <a:lnTo>
                    <a:pt x="2536" y="381127"/>
                  </a:lnTo>
                  <a:lnTo>
                    <a:pt x="0" y="412242"/>
                  </a:lnTo>
                  <a:lnTo>
                    <a:pt x="2536" y="442722"/>
                  </a:lnTo>
                  <a:lnTo>
                    <a:pt x="20336" y="502412"/>
                  </a:lnTo>
                  <a:lnTo>
                    <a:pt x="54646" y="558927"/>
                  </a:lnTo>
                  <a:lnTo>
                    <a:pt x="104838" y="611632"/>
                  </a:lnTo>
                  <a:lnTo>
                    <a:pt x="134708" y="636524"/>
                  </a:lnTo>
                  <a:lnTo>
                    <a:pt x="168376" y="660019"/>
                  </a:lnTo>
                  <a:lnTo>
                    <a:pt x="205232" y="682879"/>
                  </a:lnTo>
                  <a:lnTo>
                    <a:pt x="245262" y="703834"/>
                  </a:lnTo>
                  <a:lnTo>
                    <a:pt x="287832" y="723519"/>
                  </a:lnTo>
                  <a:lnTo>
                    <a:pt x="333578" y="741299"/>
                  </a:lnTo>
                  <a:lnTo>
                    <a:pt x="381228" y="757809"/>
                  </a:lnTo>
                  <a:lnTo>
                    <a:pt x="432066" y="773049"/>
                  </a:lnTo>
                  <a:lnTo>
                    <a:pt x="484162" y="785749"/>
                  </a:lnTo>
                  <a:lnTo>
                    <a:pt x="538810" y="797179"/>
                  </a:lnTo>
                  <a:lnTo>
                    <a:pt x="595350" y="806704"/>
                  </a:lnTo>
                  <a:lnTo>
                    <a:pt x="653808" y="814324"/>
                  </a:lnTo>
                  <a:lnTo>
                    <a:pt x="713536" y="820039"/>
                  </a:lnTo>
                  <a:lnTo>
                    <a:pt x="775169" y="823214"/>
                  </a:lnTo>
                  <a:lnTo>
                    <a:pt x="837438" y="824484"/>
                  </a:lnTo>
                  <a:lnTo>
                    <a:pt x="899706" y="823214"/>
                  </a:lnTo>
                  <a:lnTo>
                    <a:pt x="961339" y="820039"/>
                  </a:lnTo>
                  <a:lnTo>
                    <a:pt x="1021067" y="814324"/>
                  </a:lnTo>
                  <a:lnTo>
                    <a:pt x="1079512" y="806704"/>
                  </a:lnTo>
                  <a:lnTo>
                    <a:pt x="1136065" y="797179"/>
                  </a:lnTo>
                  <a:lnTo>
                    <a:pt x="1190713" y="785749"/>
                  </a:lnTo>
                  <a:lnTo>
                    <a:pt x="1242822" y="773049"/>
                  </a:lnTo>
                  <a:lnTo>
                    <a:pt x="1293622" y="757809"/>
                  </a:lnTo>
                  <a:lnTo>
                    <a:pt x="1341247" y="741299"/>
                  </a:lnTo>
                  <a:lnTo>
                    <a:pt x="1387094" y="723519"/>
                  </a:lnTo>
                  <a:lnTo>
                    <a:pt x="1429639" y="703834"/>
                  </a:lnTo>
                  <a:lnTo>
                    <a:pt x="1469644" y="682879"/>
                  </a:lnTo>
                  <a:lnTo>
                    <a:pt x="1506474" y="660019"/>
                  </a:lnTo>
                  <a:lnTo>
                    <a:pt x="1540129" y="636524"/>
                  </a:lnTo>
                  <a:lnTo>
                    <a:pt x="1570101" y="611632"/>
                  </a:lnTo>
                  <a:lnTo>
                    <a:pt x="1620266" y="558927"/>
                  </a:lnTo>
                  <a:lnTo>
                    <a:pt x="1654556" y="502412"/>
                  </a:lnTo>
                  <a:lnTo>
                    <a:pt x="1672335" y="442722"/>
                  </a:lnTo>
                  <a:lnTo>
                    <a:pt x="1674876" y="412242"/>
                  </a:lnTo>
                  <a:lnTo>
                    <a:pt x="1672335" y="381127"/>
                  </a:lnTo>
                  <a:lnTo>
                    <a:pt x="1654556" y="321437"/>
                  </a:lnTo>
                  <a:lnTo>
                    <a:pt x="1620266" y="264922"/>
                  </a:lnTo>
                  <a:lnTo>
                    <a:pt x="1570101" y="212090"/>
                  </a:lnTo>
                  <a:lnTo>
                    <a:pt x="1540129" y="187325"/>
                  </a:lnTo>
                  <a:lnTo>
                    <a:pt x="1506474" y="163830"/>
                  </a:lnTo>
                  <a:lnTo>
                    <a:pt x="1469644" y="141605"/>
                  </a:lnTo>
                  <a:lnTo>
                    <a:pt x="1429639" y="120650"/>
                  </a:lnTo>
                  <a:lnTo>
                    <a:pt x="1387094" y="100965"/>
                  </a:lnTo>
                  <a:lnTo>
                    <a:pt x="1341247" y="82550"/>
                  </a:lnTo>
                  <a:lnTo>
                    <a:pt x="1293622" y="66040"/>
                  </a:lnTo>
                  <a:lnTo>
                    <a:pt x="1242822" y="51435"/>
                  </a:lnTo>
                  <a:lnTo>
                    <a:pt x="1190713" y="38100"/>
                  </a:lnTo>
                  <a:lnTo>
                    <a:pt x="1136065" y="26670"/>
                  </a:lnTo>
                  <a:lnTo>
                    <a:pt x="1079512" y="17145"/>
                  </a:lnTo>
                  <a:lnTo>
                    <a:pt x="1021067" y="9525"/>
                  </a:lnTo>
                  <a:lnTo>
                    <a:pt x="961339" y="4445"/>
                  </a:lnTo>
                  <a:lnTo>
                    <a:pt x="899706" y="635"/>
                  </a:lnTo>
                  <a:lnTo>
                    <a:pt x="837438" y="0"/>
                  </a:lnTo>
                  <a:close/>
                </a:path>
              </a:pathLst>
            </a:custGeom>
            <a:solidFill>
              <a:srgbClr val="FFB32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52" name="Google Shape;352;g279ef9b7fc5_0_82"/>
            <p:cNvSpPr/>
            <p:nvPr/>
          </p:nvSpPr>
          <p:spPr>
            <a:xfrm>
              <a:off x="60959" y="2110740"/>
              <a:ext cx="1675130" cy="824864"/>
            </a:xfrm>
            <a:custGeom>
              <a:rect b="b" l="l" r="r" t="t"/>
              <a:pathLst>
                <a:path extrusionOk="0" h="824864" w="1675130">
                  <a:moveTo>
                    <a:pt x="0" y="412242"/>
                  </a:moveTo>
                  <a:lnTo>
                    <a:pt x="8898" y="351282"/>
                  </a:lnTo>
                  <a:lnTo>
                    <a:pt x="35585" y="292862"/>
                  </a:lnTo>
                  <a:lnTo>
                    <a:pt x="78155" y="238252"/>
                  </a:lnTo>
                  <a:lnTo>
                    <a:pt x="134708" y="187325"/>
                  </a:lnTo>
                  <a:lnTo>
                    <a:pt x="168376" y="163830"/>
                  </a:lnTo>
                  <a:lnTo>
                    <a:pt x="205232" y="141605"/>
                  </a:lnTo>
                  <a:lnTo>
                    <a:pt x="245262" y="120650"/>
                  </a:lnTo>
                  <a:lnTo>
                    <a:pt x="287832" y="100965"/>
                  </a:lnTo>
                  <a:lnTo>
                    <a:pt x="333578" y="82550"/>
                  </a:lnTo>
                  <a:lnTo>
                    <a:pt x="381228" y="66040"/>
                  </a:lnTo>
                  <a:lnTo>
                    <a:pt x="432066" y="51435"/>
                  </a:lnTo>
                  <a:lnTo>
                    <a:pt x="484162" y="38100"/>
                  </a:lnTo>
                  <a:lnTo>
                    <a:pt x="538810" y="26670"/>
                  </a:lnTo>
                  <a:lnTo>
                    <a:pt x="595350" y="17145"/>
                  </a:lnTo>
                  <a:lnTo>
                    <a:pt x="653808" y="9525"/>
                  </a:lnTo>
                  <a:lnTo>
                    <a:pt x="713536" y="4445"/>
                  </a:lnTo>
                  <a:lnTo>
                    <a:pt x="775169" y="635"/>
                  </a:lnTo>
                  <a:lnTo>
                    <a:pt x="837438" y="0"/>
                  </a:lnTo>
                  <a:lnTo>
                    <a:pt x="899706" y="635"/>
                  </a:lnTo>
                  <a:lnTo>
                    <a:pt x="961339" y="4445"/>
                  </a:lnTo>
                  <a:lnTo>
                    <a:pt x="1021067" y="9525"/>
                  </a:lnTo>
                  <a:lnTo>
                    <a:pt x="1079512" y="17145"/>
                  </a:lnTo>
                  <a:lnTo>
                    <a:pt x="1136065" y="26670"/>
                  </a:lnTo>
                  <a:lnTo>
                    <a:pt x="1190713" y="38100"/>
                  </a:lnTo>
                  <a:lnTo>
                    <a:pt x="1242822" y="51435"/>
                  </a:lnTo>
                  <a:lnTo>
                    <a:pt x="1293622" y="66040"/>
                  </a:lnTo>
                  <a:lnTo>
                    <a:pt x="1341247" y="82550"/>
                  </a:lnTo>
                  <a:lnTo>
                    <a:pt x="1387094" y="100965"/>
                  </a:lnTo>
                  <a:lnTo>
                    <a:pt x="1429639" y="120650"/>
                  </a:lnTo>
                  <a:lnTo>
                    <a:pt x="1469644" y="141605"/>
                  </a:lnTo>
                  <a:lnTo>
                    <a:pt x="1506474" y="163830"/>
                  </a:lnTo>
                  <a:lnTo>
                    <a:pt x="1540129" y="187325"/>
                  </a:lnTo>
                  <a:lnTo>
                    <a:pt x="1570101" y="212090"/>
                  </a:lnTo>
                  <a:lnTo>
                    <a:pt x="1620266" y="264922"/>
                  </a:lnTo>
                  <a:lnTo>
                    <a:pt x="1654556" y="321437"/>
                  </a:lnTo>
                  <a:lnTo>
                    <a:pt x="1672335" y="381127"/>
                  </a:lnTo>
                  <a:lnTo>
                    <a:pt x="1674876" y="412242"/>
                  </a:lnTo>
                  <a:lnTo>
                    <a:pt x="1665985" y="473202"/>
                  </a:lnTo>
                  <a:lnTo>
                    <a:pt x="1639315" y="530987"/>
                  </a:lnTo>
                  <a:lnTo>
                    <a:pt x="1596771" y="585597"/>
                  </a:lnTo>
                  <a:lnTo>
                    <a:pt x="1540129" y="636524"/>
                  </a:lnTo>
                  <a:lnTo>
                    <a:pt x="1506474" y="660019"/>
                  </a:lnTo>
                  <a:lnTo>
                    <a:pt x="1469644" y="682879"/>
                  </a:lnTo>
                  <a:lnTo>
                    <a:pt x="1429639" y="703834"/>
                  </a:lnTo>
                  <a:lnTo>
                    <a:pt x="1387094" y="723519"/>
                  </a:lnTo>
                  <a:lnTo>
                    <a:pt x="1341247" y="741299"/>
                  </a:lnTo>
                  <a:lnTo>
                    <a:pt x="1293622" y="757809"/>
                  </a:lnTo>
                  <a:lnTo>
                    <a:pt x="1242822" y="773049"/>
                  </a:lnTo>
                  <a:lnTo>
                    <a:pt x="1190713" y="785749"/>
                  </a:lnTo>
                  <a:lnTo>
                    <a:pt x="1136065" y="797179"/>
                  </a:lnTo>
                  <a:lnTo>
                    <a:pt x="1079512" y="806704"/>
                  </a:lnTo>
                  <a:lnTo>
                    <a:pt x="1021067" y="814324"/>
                  </a:lnTo>
                  <a:lnTo>
                    <a:pt x="961339" y="820039"/>
                  </a:lnTo>
                  <a:lnTo>
                    <a:pt x="899706" y="823214"/>
                  </a:lnTo>
                  <a:lnTo>
                    <a:pt x="837438" y="824484"/>
                  </a:lnTo>
                  <a:lnTo>
                    <a:pt x="775169" y="823214"/>
                  </a:lnTo>
                  <a:lnTo>
                    <a:pt x="713536" y="820039"/>
                  </a:lnTo>
                  <a:lnTo>
                    <a:pt x="653808" y="814324"/>
                  </a:lnTo>
                  <a:lnTo>
                    <a:pt x="595350" y="806704"/>
                  </a:lnTo>
                  <a:lnTo>
                    <a:pt x="538810" y="797179"/>
                  </a:lnTo>
                  <a:lnTo>
                    <a:pt x="484162" y="785749"/>
                  </a:lnTo>
                  <a:lnTo>
                    <a:pt x="432066" y="773049"/>
                  </a:lnTo>
                  <a:lnTo>
                    <a:pt x="381228" y="757809"/>
                  </a:lnTo>
                  <a:lnTo>
                    <a:pt x="333578" y="741299"/>
                  </a:lnTo>
                  <a:lnTo>
                    <a:pt x="287832" y="723519"/>
                  </a:lnTo>
                  <a:lnTo>
                    <a:pt x="245262" y="703834"/>
                  </a:lnTo>
                  <a:lnTo>
                    <a:pt x="205232" y="682879"/>
                  </a:lnTo>
                  <a:lnTo>
                    <a:pt x="168376" y="660019"/>
                  </a:lnTo>
                  <a:lnTo>
                    <a:pt x="134708" y="636524"/>
                  </a:lnTo>
                  <a:lnTo>
                    <a:pt x="104838" y="611632"/>
                  </a:lnTo>
                  <a:lnTo>
                    <a:pt x="54646" y="558927"/>
                  </a:lnTo>
                  <a:lnTo>
                    <a:pt x="20336" y="502412"/>
                  </a:lnTo>
                  <a:lnTo>
                    <a:pt x="2536" y="442722"/>
                  </a:lnTo>
                  <a:lnTo>
                    <a:pt x="0" y="412242"/>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sp>
        <p:nvSpPr>
          <p:cNvPr id="353" name="Google Shape;353;g279ef9b7fc5_0_82"/>
          <p:cNvSpPr txBox="1"/>
          <p:nvPr/>
        </p:nvSpPr>
        <p:spPr>
          <a:xfrm>
            <a:off x="517889" y="2883069"/>
            <a:ext cx="1356300" cy="774300"/>
          </a:xfrm>
          <a:prstGeom prst="rect">
            <a:avLst/>
          </a:prstGeom>
          <a:noFill/>
          <a:ln>
            <a:noFill/>
          </a:ln>
        </p:spPr>
        <p:txBody>
          <a:bodyPr anchorCtr="0" anchor="t" bIns="0" lIns="0" spcFirstLastPara="1" rIns="0" wrap="square" tIns="16925">
            <a:spAutoFit/>
          </a:bodyPr>
          <a:lstStyle/>
          <a:p>
            <a:pPr indent="320879" lvl="0" marL="16932" marR="6772" rtl="0" algn="l">
              <a:lnSpc>
                <a:spcPct val="105000"/>
              </a:lnSpc>
              <a:spcBef>
                <a:spcPts val="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Java  Compiler</a:t>
            </a:r>
            <a:endParaRPr b="0" i="0" sz="2400" u="none" cap="none" strike="noStrike">
              <a:solidFill>
                <a:schemeClr val="dk1"/>
              </a:solidFill>
              <a:latin typeface="Arial"/>
              <a:ea typeface="Arial"/>
              <a:cs typeface="Arial"/>
              <a:sym typeface="Arial"/>
            </a:endParaRPr>
          </a:p>
        </p:txBody>
      </p:sp>
      <p:grpSp>
        <p:nvGrpSpPr>
          <p:cNvPr id="354" name="Google Shape;354;g279ef9b7fc5_0_82"/>
          <p:cNvGrpSpPr/>
          <p:nvPr/>
        </p:nvGrpSpPr>
        <p:grpSpPr>
          <a:xfrm>
            <a:off x="6351872" y="4472319"/>
            <a:ext cx="2233449" cy="1099791"/>
            <a:chOff x="4764023" y="3354323"/>
            <a:chExt cx="1675129" cy="824864"/>
          </a:xfrm>
        </p:grpSpPr>
        <p:sp>
          <p:nvSpPr>
            <p:cNvPr id="355" name="Google Shape;355;g279ef9b7fc5_0_82"/>
            <p:cNvSpPr/>
            <p:nvPr/>
          </p:nvSpPr>
          <p:spPr>
            <a:xfrm>
              <a:off x="4764023" y="3354323"/>
              <a:ext cx="1675129" cy="824864"/>
            </a:xfrm>
            <a:custGeom>
              <a:rect b="b" l="l" r="r" t="t"/>
              <a:pathLst>
                <a:path extrusionOk="0" h="824864" w="1675129">
                  <a:moveTo>
                    <a:pt x="837438" y="0"/>
                  </a:moveTo>
                  <a:lnTo>
                    <a:pt x="775208" y="1269"/>
                  </a:lnTo>
                  <a:lnTo>
                    <a:pt x="713486" y="4444"/>
                  </a:lnTo>
                  <a:lnTo>
                    <a:pt x="653796" y="10159"/>
                  </a:lnTo>
                  <a:lnTo>
                    <a:pt x="596011" y="17144"/>
                  </a:lnTo>
                  <a:lnTo>
                    <a:pt x="539368" y="26669"/>
                  </a:lnTo>
                  <a:lnTo>
                    <a:pt x="484759" y="38100"/>
                  </a:lnTo>
                  <a:lnTo>
                    <a:pt x="432053" y="51434"/>
                  </a:lnTo>
                  <a:lnTo>
                    <a:pt x="381888" y="66039"/>
                  </a:lnTo>
                  <a:lnTo>
                    <a:pt x="333501" y="83184"/>
                  </a:lnTo>
                  <a:lnTo>
                    <a:pt x="288416" y="100964"/>
                  </a:lnTo>
                  <a:lnTo>
                    <a:pt x="245237" y="120650"/>
                  </a:lnTo>
                  <a:lnTo>
                    <a:pt x="205866" y="141605"/>
                  </a:lnTo>
                  <a:lnTo>
                    <a:pt x="169037" y="163829"/>
                  </a:lnTo>
                  <a:lnTo>
                    <a:pt x="135381" y="187959"/>
                  </a:lnTo>
                  <a:lnTo>
                    <a:pt x="104775" y="212851"/>
                  </a:lnTo>
                  <a:lnTo>
                    <a:pt x="54610" y="265556"/>
                  </a:lnTo>
                  <a:lnTo>
                    <a:pt x="20320" y="322072"/>
                  </a:lnTo>
                  <a:lnTo>
                    <a:pt x="2539" y="381762"/>
                  </a:lnTo>
                  <a:lnTo>
                    <a:pt x="0" y="412241"/>
                  </a:lnTo>
                  <a:lnTo>
                    <a:pt x="2539" y="442722"/>
                  </a:lnTo>
                  <a:lnTo>
                    <a:pt x="20320" y="502412"/>
                  </a:lnTo>
                  <a:lnTo>
                    <a:pt x="54610" y="558965"/>
                  </a:lnTo>
                  <a:lnTo>
                    <a:pt x="104775" y="611695"/>
                  </a:lnTo>
                  <a:lnTo>
                    <a:pt x="135381" y="636460"/>
                  </a:lnTo>
                  <a:lnTo>
                    <a:pt x="169037" y="660603"/>
                  </a:lnTo>
                  <a:lnTo>
                    <a:pt x="205866" y="682828"/>
                  </a:lnTo>
                  <a:lnTo>
                    <a:pt x="245237" y="703795"/>
                  </a:lnTo>
                  <a:lnTo>
                    <a:pt x="288416" y="723493"/>
                  </a:lnTo>
                  <a:lnTo>
                    <a:pt x="333501" y="741273"/>
                  </a:lnTo>
                  <a:lnTo>
                    <a:pt x="381888" y="758418"/>
                  </a:lnTo>
                  <a:lnTo>
                    <a:pt x="432053" y="773036"/>
                  </a:lnTo>
                  <a:lnTo>
                    <a:pt x="484759" y="786371"/>
                  </a:lnTo>
                  <a:lnTo>
                    <a:pt x="539368" y="797813"/>
                  </a:lnTo>
                  <a:lnTo>
                    <a:pt x="596011" y="807338"/>
                  </a:lnTo>
                  <a:lnTo>
                    <a:pt x="653796" y="814311"/>
                  </a:lnTo>
                  <a:lnTo>
                    <a:pt x="713486" y="820038"/>
                  </a:lnTo>
                  <a:lnTo>
                    <a:pt x="775208" y="823213"/>
                  </a:lnTo>
                  <a:lnTo>
                    <a:pt x="837438" y="824484"/>
                  </a:lnTo>
                  <a:lnTo>
                    <a:pt x="899667" y="823213"/>
                  </a:lnTo>
                  <a:lnTo>
                    <a:pt x="961263" y="820038"/>
                  </a:lnTo>
                  <a:lnTo>
                    <a:pt x="1021079" y="814311"/>
                  </a:lnTo>
                  <a:lnTo>
                    <a:pt x="1079500" y="807338"/>
                  </a:lnTo>
                  <a:lnTo>
                    <a:pt x="1136014" y="797813"/>
                  </a:lnTo>
                  <a:lnTo>
                    <a:pt x="1190752" y="786371"/>
                  </a:lnTo>
                  <a:lnTo>
                    <a:pt x="1242822" y="773036"/>
                  </a:lnTo>
                  <a:lnTo>
                    <a:pt x="1293622" y="758418"/>
                  </a:lnTo>
                  <a:lnTo>
                    <a:pt x="1341247" y="741273"/>
                  </a:lnTo>
                  <a:lnTo>
                    <a:pt x="1387093" y="723493"/>
                  </a:lnTo>
                  <a:lnTo>
                    <a:pt x="1429639" y="703795"/>
                  </a:lnTo>
                  <a:lnTo>
                    <a:pt x="1469643" y="682828"/>
                  </a:lnTo>
                  <a:lnTo>
                    <a:pt x="1506474" y="660603"/>
                  </a:lnTo>
                  <a:lnTo>
                    <a:pt x="1540128" y="636460"/>
                  </a:lnTo>
                  <a:lnTo>
                    <a:pt x="1569974" y="611695"/>
                  </a:lnTo>
                  <a:lnTo>
                    <a:pt x="1620265" y="558965"/>
                  </a:lnTo>
                  <a:lnTo>
                    <a:pt x="1654555" y="502412"/>
                  </a:lnTo>
                  <a:lnTo>
                    <a:pt x="1672336" y="442722"/>
                  </a:lnTo>
                  <a:lnTo>
                    <a:pt x="1674876" y="412241"/>
                  </a:lnTo>
                  <a:lnTo>
                    <a:pt x="1672336" y="381762"/>
                  </a:lnTo>
                  <a:lnTo>
                    <a:pt x="1654555" y="322072"/>
                  </a:lnTo>
                  <a:lnTo>
                    <a:pt x="1620265" y="265556"/>
                  </a:lnTo>
                  <a:lnTo>
                    <a:pt x="1569974" y="212851"/>
                  </a:lnTo>
                  <a:lnTo>
                    <a:pt x="1540128" y="187959"/>
                  </a:lnTo>
                  <a:lnTo>
                    <a:pt x="1506474" y="163829"/>
                  </a:lnTo>
                  <a:lnTo>
                    <a:pt x="1469643" y="141605"/>
                  </a:lnTo>
                  <a:lnTo>
                    <a:pt x="1429639" y="120650"/>
                  </a:lnTo>
                  <a:lnTo>
                    <a:pt x="1387093" y="100964"/>
                  </a:lnTo>
                  <a:lnTo>
                    <a:pt x="1341247" y="83184"/>
                  </a:lnTo>
                  <a:lnTo>
                    <a:pt x="1293622" y="66039"/>
                  </a:lnTo>
                  <a:lnTo>
                    <a:pt x="1242822" y="51434"/>
                  </a:lnTo>
                  <a:lnTo>
                    <a:pt x="1190752" y="38100"/>
                  </a:lnTo>
                  <a:lnTo>
                    <a:pt x="1136014" y="26669"/>
                  </a:lnTo>
                  <a:lnTo>
                    <a:pt x="1079500" y="17144"/>
                  </a:lnTo>
                  <a:lnTo>
                    <a:pt x="1021079" y="10159"/>
                  </a:lnTo>
                  <a:lnTo>
                    <a:pt x="961263" y="4444"/>
                  </a:lnTo>
                  <a:lnTo>
                    <a:pt x="899667" y="1269"/>
                  </a:lnTo>
                  <a:lnTo>
                    <a:pt x="837438" y="0"/>
                  </a:lnTo>
                  <a:close/>
                </a:path>
              </a:pathLst>
            </a:custGeom>
            <a:solidFill>
              <a:srgbClr val="FFB32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56" name="Google Shape;356;g279ef9b7fc5_0_82"/>
            <p:cNvSpPr/>
            <p:nvPr/>
          </p:nvSpPr>
          <p:spPr>
            <a:xfrm>
              <a:off x="4764023" y="3354323"/>
              <a:ext cx="1675129" cy="824864"/>
            </a:xfrm>
            <a:custGeom>
              <a:rect b="b" l="l" r="r" t="t"/>
              <a:pathLst>
                <a:path extrusionOk="0" h="824864" w="1675129">
                  <a:moveTo>
                    <a:pt x="0" y="412241"/>
                  </a:moveTo>
                  <a:lnTo>
                    <a:pt x="9525" y="351281"/>
                  </a:lnTo>
                  <a:lnTo>
                    <a:pt x="35560" y="293497"/>
                  </a:lnTo>
                  <a:lnTo>
                    <a:pt x="78104" y="238251"/>
                  </a:lnTo>
                  <a:lnTo>
                    <a:pt x="135381" y="187959"/>
                  </a:lnTo>
                  <a:lnTo>
                    <a:pt x="169037" y="163829"/>
                  </a:lnTo>
                  <a:lnTo>
                    <a:pt x="205866" y="141605"/>
                  </a:lnTo>
                  <a:lnTo>
                    <a:pt x="245237" y="120650"/>
                  </a:lnTo>
                  <a:lnTo>
                    <a:pt x="288416" y="100964"/>
                  </a:lnTo>
                  <a:lnTo>
                    <a:pt x="333501" y="83184"/>
                  </a:lnTo>
                  <a:lnTo>
                    <a:pt x="381888" y="66039"/>
                  </a:lnTo>
                  <a:lnTo>
                    <a:pt x="432053" y="51434"/>
                  </a:lnTo>
                  <a:lnTo>
                    <a:pt x="484759" y="38100"/>
                  </a:lnTo>
                  <a:lnTo>
                    <a:pt x="539368" y="26669"/>
                  </a:lnTo>
                  <a:lnTo>
                    <a:pt x="596011" y="17144"/>
                  </a:lnTo>
                  <a:lnTo>
                    <a:pt x="653796" y="10159"/>
                  </a:lnTo>
                  <a:lnTo>
                    <a:pt x="713486" y="4444"/>
                  </a:lnTo>
                  <a:lnTo>
                    <a:pt x="775208" y="1269"/>
                  </a:lnTo>
                  <a:lnTo>
                    <a:pt x="837438" y="0"/>
                  </a:lnTo>
                  <a:lnTo>
                    <a:pt x="899667" y="1269"/>
                  </a:lnTo>
                  <a:lnTo>
                    <a:pt x="961263" y="4444"/>
                  </a:lnTo>
                  <a:lnTo>
                    <a:pt x="1021079" y="10159"/>
                  </a:lnTo>
                  <a:lnTo>
                    <a:pt x="1079500" y="17144"/>
                  </a:lnTo>
                  <a:lnTo>
                    <a:pt x="1136014" y="26669"/>
                  </a:lnTo>
                  <a:lnTo>
                    <a:pt x="1190752" y="38100"/>
                  </a:lnTo>
                  <a:lnTo>
                    <a:pt x="1242822" y="51434"/>
                  </a:lnTo>
                  <a:lnTo>
                    <a:pt x="1293622" y="66039"/>
                  </a:lnTo>
                  <a:lnTo>
                    <a:pt x="1341247" y="83184"/>
                  </a:lnTo>
                  <a:lnTo>
                    <a:pt x="1387093" y="100964"/>
                  </a:lnTo>
                  <a:lnTo>
                    <a:pt x="1429639" y="120650"/>
                  </a:lnTo>
                  <a:lnTo>
                    <a:pt x="1469643" y="141605"/>
                  </a:lnTo>
                  <a:lnTo>
                    <a:pt x="1506474" y="163829"/>
                  </a:lnTo>
                  <a:lnTo>
                    <a:pt x="1540128" y="187959"/>
                  </a:lnTo>
                  <a:lnTo>
                    <a:pt x="1569974" y="212851"/>
                  </a:lnTo>
                  <a:lnTo>
                    <a:pt x="1620265" y="265556"/>
                  </a:lnTo>
                  <a:lnTo>
                    <a:pt x="1654555" y="322072"/>
                  </a:lnTo>
                  <a:lnTo>
                    <a:pt x="1672336" y="381762"/>
                  </a:lnTo>
                  <a:lnTo>
                    <a:pt x="1674876" y="412241"/>
                  </a:lnTo>
                  <a:lnTo>
                    <a:pt x="1665986" y="473201"/>
                  </a:lnTo>
                  <a:lnTo>
                    <a:pt x="1639315" y="531025"/>
                  </a:lnTo>
                  <a:lnTo>
                    <a:pt x="1597405" y="586295"/>
                  </a:lnTo>
                  <a:lnTo>
                    <a:pt x="1540128" y="636460"/>
                  </a:lnTo>
                  <a:lnTo>
                    <a:pt x="1506474" y="660603"/>
                  </a:lnTo>
                  <a:lnTo>
                    <a:pt x="1469643" y="682828"/>
                  </a:lnTo>
                  <a:lnTo>
                    <a:pt x="1429639" y="703795"/>
                  </a:lnTo>
                  <a:lnTo>
                    <a:pt x="1387093" y="723493"/>
                  </a:lnTo>
                  <a:lnTo>
                    <a:pt x="1341247" y="741273"/>
                  </a:lnTo>
                  <a:lnTo>
                    <a:pt x="1293622" y="758418"/>
                  </a:lnTo>
                  <a:lnTo>
                    <a:pt x="1242822" y="773036"/>
                  </a:lnTo>
                  <a:lnTo>
                    <a:pt x="1190752" y="786371"/>
                  </a:lnTo>
                  <a:lnTo>
                    <a:pt x="1136014" y="797813"/>
                  </a:lnTo>
                  <a:lnTo>
                    <a:pt x="1079500" y="807338"/>
                  </a:lnTo>
                  <a:lnTo>
                    <a:pt x="1021079" y="814311"/>
                  </a:lnTo>
                  <a:lnTo>
                    <a:pt x="961263" y="820038"/>
                  </a:lnTo>
                  <a:lnTo>
                    <a:pt x="899667" y="823213"/>
                  </a:lnTo>
                  <a:lnTo>
                    <a:pt x="837438" y="824484"/>
                  </a:lnTo>
                  <a:lnTo>
                    <a:pt x="775208" y="823213"/>
                  </a:lnTo>
                  <a:lnTo>
                    <a:pt x="713486" y="820038"/>
                  </a:lnTo>
                  <a:lnTo>
                    <a:pt x="653796" y="814311"/>
                  </a:lnTo>
                  <a:lnTo>
                    <a:pt x="596011" y="807338"/>
                  </a:lnTo>
                  <a:lnTo>
                    <a:pt x="539368" y="797813"/>
                  </a:lnTo>
                  <a:lnTo>
                    <a:pt x="484759" y="786371"/>
                  </a:lnTo>
                  <a:lnTo>
                    <a:pt x="432053" y="773036"/>
                  </a:lnTo>
                  <a:lnTo>
                    <a:pt x="381888" y="758418"/>
                  </a:lnTo>
                  <a:lnTo>
                    <a:pt x="333501" y="741273"/>
                  </a:lnTo>
                  <a:lnTo>
                    <a:pt x="288416" y="723493"/>
                  </a:lnTo>
                  <a:lnTo>
                    <a:pt x="245237" y="703795"/>
                  </a:lnTo>
                  <a:lnTo>
                    <a:pt x="205866" y="682828"/>
                  </a:lnTo>
                  <a:lnTo>
                    <a:pt x="169037" y="660603"/>
                  </a:lnTo>
                  <a:lnTo>
                    <a:pt x="135381" y="636460"/>
                  </a:lnTo>
                  <a:lnTo>
                    <a:pt x="104775" y="611695"/>
                  </a:lnTo>
                  <a:lnTo>
                    <a:pt x="54610" y="558965"/>
                  </a:lnTo>
                  <a:lnTo>
                    <a:pt x="20320" y="502412"/>
                  </a:lnTo>
                  <a:lnTo>
                    <a:pt x="2539" y="442722"/>
                  </a:lnTo>
                  <a:lnTo>
                    <a:pt x="0" y="412241"/>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sp>
        <p:nvSpPr>
          <p:cNvPr id="357" name="Google Shape;357;g279ef9b7fc5_0_82"/>
          <p:cNvSpPr txBox="1"/>
          <p:nvPr/>
        </p:nvSpPr>
        <p:spPr>
          <a:xfrm>
            <a:off x="6850041" y="4386005"/>
            <a:ext cx="3159000" cy="1177200"/>
          </a:xfrm>
          <a:prstGeom prst="rect">
            <a:avLst/>
          </a:prstGeom>
          <a:noFill/>
          <a:ln>
            <a:noFill/>
          </a:ln>
        </p:spPr>
        <p:txBody>
          <a:bodyPr anchorCtr="0" anchor="t" bIns="0" lIns="0" spcFirstLastPara="1" rIns="0" wrap="square" tIns="17775">
            <a:spAutoFit/>
          </a:bodyPr>
          <a:lstStyle/>
          <a:p>
            <a:pPr indent="0" lvl="0" marL="1750015" marR="0" rtl="0" algn="l">
              <a:lnSpc>
                <a:spcPct val="117461"/>
              </a:lnSpc>
              <a:spcBef>
                <a:spcPts val="0"/>
              </a:spcBef>
              <a:spcAft>
                <a:spcPts val="0"/>
              </a:spcAft>
              <a:buClr>
                <a:srgbClr val="000000"/>
              </a:buClr>
              <a:buSzPts val="1867"/>
              <a:buFont typeface="Arial"/>
              <a:buNone/>
            </a:pPr>
            <a:r>
              <a:rPr b="1" i="0" lang="en-IN" sz="1867" u="none" cap="none" strike="noStrike">
                <a:solidFill>
                  <a:srgbClr val="FFB32B"/>
                </a:solidFill>
                <a:latin typeface="Times New Roman"/>
                <a:ea typeface="Times New Roman"/>
                <a:cs typeface="Times New Roman"/>
                <a:sym typeface="Times New Roman"/>
              </a:rPr>
              <a:t>000110101100</a:t>
            </a:r>
            <a:endParaRPr b="0" i="0" sz="1867" u="none" cap="none" strike="noStrike">
              <a:solidFill>
                <a:schemeClr val="dk1"/>
              </a:solidFill>
              <a:latin typeface="Times New Roman"/>
              <a:ea typeface="Times New Roman"/>
              <a:cs typeface="Times New Roman"/>
              <a:sym typeface="Times New Roman"/>
            </a:endParaRPr>
          </a:p>
          <a:p>
            <a:pPr indent="0" lvl="0" marL="0" marR="1918498" rtl="0" algn="ctr">
              <a:lnSpc>
                <a:spcPct val="118041"/>
              </a:lnSpc>
              <a:spcBef>
                <a:spcPts val="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Mac O.S</a:t>
            </a:r>
            <a:endParaRPr b="0" i="0" sz="2400" u="none" cap="none" strike="noStrike">
              <a:solidFill>
                <a:schemeClr val="dk1"/>
              </a:solidFill>
              <a:latin typeface="Arial"/>
              <a:ea typeface="Arial"/>
              <a:cs typeface="Arial"/>
              <a:sym typeface="Arial"/>
            </a:endParaRPr>
          </a:p>
          <a:p>
            <a:pPr indent="0" lvl="0" marL="0" marR="1910877" rtl="0" algn="ctr">
              <a:lnSpc>
                <a:spcPct val="100000"/>
              </a:lnSpc>
              <a:spcBef>
                <a:spcPts val="127"/>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JVM</a:t>
            </a:r>
            <a:endParaRPr b="0" i="0" sz="2400" u="none" cap="none" strike="noStrike">
              <a:solidFill>
                <a:schemeClr val="dk1"/>
              </a:solidFill>
              <a:latin typeface="Arial"/>
              <a:ea typeface="Arial"/>
              <a:cs typeface="Arial"/>
              <a:sym typeface="Arial"/>
            </a:endParaRPr>
          </a:p>
        </p:txBody>
      </p:sp>
      <p:grpSp>
        <p:nvGrpSpPr>
          <p:cNvPr id="358" name="Google Shape;358;g279ef9b7fc5_0_82"/>
          <p:cNvGrpSpPr/>
          <p:nvPr/>
        </p:nvGrpSpPr>
        <p:grpSpPr>
          <a:xfrm>
            <a:off x="10822166" y="1111475"/>
            <a:ext cx="1103687" cy="886607"/>
            <a:chOff x="8116824" y="833627"/>
            <a:chExt cx="827786" cy="664972"/>
          </a:xfrm>
        </p:grpSpPr>
        <p:sp>
          <p:nvSpPr>
            <p:cNvPr id="359" name="Google Shape;359;g279ef9b7fc5_0_82"/>
            <p:cNvSpPr/>
            <p:nvPr/>
          </p:nvSpPr>
          <p:spPr>
            <a:xfrm>
              <a:off x="8130540" y="1295399"/>
              <a:ext cx="814070" cy="203200"/>
            </a:xfrm>
            <a:custGeom>
              <a:rect b="b" l="l" r="r" t="t"/>
              <a:pathLst>
                <a:path extrusionOk="0" h="203200" w="814070">
                  <a:moveTo>
                    <a:pt x="601471" y="0"/>
                  </a:moveTo>
                  <a:lnTo>
                    <a:pt x="194563" y="0"/>
                  </a:lnTo>
                  <a:lnTo>
                    <a:pt x="0" y="202691"/>
                  </a:lnTo>
                  <a:lnTo>
                    <a:pt x="813815" y="202691"/>
                  </a:lnTo>
                  <a:lnTo>
                    <a:pt x="601471" y="0"/>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60" name="Google Shape;360;g279ef9b7fc5_0_82"/>
            <p:cNvSpPr/>
            <p:nvPr/>
          </p:nvSpPr>
          <p:spPr>
            <a:xfrm>
              <a:off x="8130540" y="1295399"/>
              <a:ext cx="814070" cy="203200"/>
            </a:xfrm>
            <a:custGeom>
              <a:rect b="b" l="l" r="r" t="t"/>
              <a:pathLst>
                <a:path extrusionOk="0" h="203200" w="814070">
                  <a:moveTo>
                    <a:pt x="194563" y="0"/>
                  </a:moveTo>
                  <a:lnTo>
                    <a:pt x="601471" y="0"/>
                  </a:lnTo>
                  <a:lnTo>
                    <a:pt x="813815" y="202691"/>
                  </a:lnTo>
                  <a:lnTo>
                    <a:pt x="0" y="202691"/>
                  </a:lnTo>
                  <a:lnTo>
                    <a:pt x="194563" y="0"/>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61" name="Google Shape;361;g279ef9b7fc5_0_82"/>
            <p:cNvSpPr/>
            <p:nvPr/>
          </p:nvSpPr>
          <p:spPr>
            <a:xfrm>
              <a:off x="8116824" y="833627"/>
              <a:ext cx="824865" cy="498475"/>
            </a:xfrm>
            <a:custGeom>
              <a:rect b="b" l="l" r="r" t="t"/>
              <a:pathLst>
                <a:path extrusionOk="0" h="498475" w="824865">
                  <a:moveTo>
                    <a:pt x="741299" y="0"/>
                  </a:moveTo>
                  <a:lnTo>
                    <a:pt x="83184" y="0"/>
                  </a:lnTo>
                  <a:lnTo>
                    <a:pt x="50800" y="6350"/>
                  </a:lnTo>
                  <a:lnTo>
                    <a:pt x="24765" y="24130"/>
                  </a:lnTo>
                  <a:lnTo>
                    <a:pt x="6984" y="50673"/>
                  </a:lnTo>
                  <a:lnTo>
                    <a:pt x="0" y="83058"/>
                  </a:lnTo>
                  <a:lnTo>
                    <a:pt x="0" y="415289"/>
                  </a:lnTo>
                  <a:lnTo>
                    <a:pt x="6984" y="447675"/>
                  </a:lnTo>
                  <a:lnTo>
                    <a:pt x="24765" y="473583"/>
                  </a:lnTo>
                  <a:lnTo>
                    <a:pt x="50800" y="491363"/>
                  </a:lnTo>
                  <a:lnTo>
                    <a:pt x="83184" y="498348"/>
                  </a:lnTo>
                  <a:lnTo>
                    <a:pt x="741299" y="498348"/>
                  </a:lnTo>
                  <a:lnTo>
                    <a:pt x="773683" y="491363"/>
                  </a:lnTo>
                  <a:lnTo>
                    <a:pt x="800353" y="473583"/>
                  </a:lnTo>
                  <a:lnTo>
                    <a:pt x="818133" y="447675"/>
                  </a:lnTo>
                  <a:lnTo>
                    <a:pt x="824483" y="415289"/>
                  </a:lnTo>
                  <a:lnTo>
                    <a:pt x="824483" y="83058"/>
                  </a:lnTo>
                  <a:lnTo>
                    <a:pt x="818133" y="50673"/>
                  </a:lnTo>
                  <a:lnTo>
                    <a:pt x="787653" y="13970"/>
                  </a:lnTo>
                  <a:lnTo>
                    <a:pt x="741299" y="0"/>
                  </a:lnTo>
                  <a:close/>
                </a:path>
              </a:pathLst>
            </a:custGeom>
            <a:solidFill>
              <a:srgbClr val="D9D9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62" name="Google Shape;362;g279ef9b7fc5_0_82"/>
            <p:cNvSpPr/>
            <p:nvPr/>
          </p:nvSpPr>
          <p:spPr>
            <a:xfrm>
              <a:off x="8116824" y="833627"/>
              <a:ext cx="824865" cy="498475"/>
            </a:xfrm>
            <a:custGeom>
              <a:rect b="b" l="l" r="r" t="t"/>
              <a:pathLst>
                <a:path extrusionOk="0" h="498475" w="824865">
                  <a:moveTo>
                    <a:pt x="0" y="83058"/>
                  </a:moveTo>
                  <a:lnTo>
                    <a:pt x="6984" y="50673"/>
                  </a:lnTo>
                  <a:lnTo>
                    <a:pt x="24765" y="24130"/>
                  </a:lnTo>
                  <a:lnTo>
                    <a:pt x="50800" y="6350"/>
                  </a:lnTo>
                  <a:lnTo>
                    <a:pt x="83184" y="0"/>
                  </a:lnTo>
                  <a:lnTo>
                    <a:pt x="741299" y="0"/>
                  </a:lnTo>
                  <a:lnTo>
                    <a:pt x="787653" y="13970"/>
                  </a:lnTo>
                  <a:lnTo>
                    <a:pt x="818133" y="50673"/>
                  </a:lnTo>
                  <a:lnTo>
                    <a:pt x="824483" y="83058"/>
                  </a:lnTo>
                  <a:lnTo>
                    <a:pt x="824483" y="415289"/>
                  </a:lnTo>
                  <a:lnTo>
                    <a:pt x="818133" y="447675"/>
                  </a:lnTo>
                  <a:lnTo>
                    <a:pt x="800353" y="473583"/>
                  </a:lnTo>
                  <a:lnTo>
                    <a:pt x="773683" y="491363"/>
                  </a:lnTo>
                  <a:lnTo>
                    <a:pt x="741299" y="498348"/>
                  </a:lnTo>
                  <a:lnTo>
                    <a:pt x="83184" y="498348"/>
                  </a:lnTo>
                  <a:lnTo>
                    <a:pt x="50800" y="491363"/>
                  </a:lnTo>
                  <a:lnTo>
                    <a:pt x="24765" y="473583"/>
                  </a:lnTo>
                  <a:lnTo>
                    <a:pt x="6984" y="447675"/>
                  </a:lnTo>
                  <a:lnTo>
                    <a:pt x="0" y="415289"/>
                  </a:lnTo>
                  <a:lnTo>
                    <a:pt x="0" y="83058"/>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pic>
          <p:nvPicPr>
            <p:cNvPr id="363" name="Google Shape;363;g279ef9b7fc5_0_82"/>
            <p:cNvPicPr preferRelativeResize="0"/>
            <p:nvPr/>
          </p:nvPicPr>
          <p:blipFill rotWithShape="1">
            <a:blip r:embed="rId3">
              <a:alphaModFix/>
            </a:blip>
            <a:srcRect b="0" l="0" r="0" t="0"/>
            <a:stretch/>
          </p:blipFill>
          <p:spPr>
            <a:xfrm>
              <a:off x="8375904" y="891539"/>
              <a:ext cx="348996" cy="309372"/>
            </a:xfrm>
            <a:prstGeom prst="rect">
              <a:avLst/>
            </a:prstGeom>
            <a:noFill/>
            <a:ln>
              <a:noFill/>
            </a:ln>
          </p:spPr>
        </p:pic>
      </p:grpSp>
      <p:grpSp>
        <p:nvGrpSpPr>
          <p:cNvPr id="364" name="Google Shape;364;g279ef9b7fc5_0_82"/>
          <p:cNvGrpSpPr/>
          <p:nvPr/>
        </p:nvGrpSpPr>
        <p:grpSpPr>
          <a:xfrm>
            <a:off x="10822166" y="2838633"/>
            <a:ext cx="1103687" cy="886607"/>
            <a:chOff x="8116824" y="2129028"/>
            <a:chExt cx="827786" cy="664972"/>
          </a:xfrm>
        </p:grpSpPr>
        <p:sp>
          <p:nvSpPr>
            <p:cNvPr id="365" name="Google Shape;365;g279ef9b7fc5_0_82"/>
            <p:cNvSpPr/>
            <p:nvPr/>
          </p:nvSpPr>
          <p:spPr>
            <a:xfrm>
              <a:off x="8130540" y="2590800"/>
              <a:ext cx="814070" cy="203200"/>
            </a:xfrm>
            <a:custGeom>
              <a:rect b="b" l="l" r="r" t="t"/>
              <a:pathLst>
                <a:path extrusionOk="0" h="203200" w="814070">
                  <a:moveTo>
                    <a:pt x="601471" y="0"/>
                  </a:moveTo>
                  <a:lnTo>
                    <a:pt x="194563" y="0"/>
                  </a:lnTo>
                  <a:lnTo>
                    <a:pt x="0" y="202692"/>
                  </a:lnTo>
                  <a:lnTo>
                    <a:pt x="813815" y="202692"/>
                  </a:lnTo>
                  <a:lnTo>
                    <a:pt x="601471" y="0"/>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66" name="Google Shape;366;g279ef9b7fc5_0_82"/>
            <p:cNvSpPr/>
            <p:nvPr/>
          </p:nvSpPr>
          <p:spPr>
            <a:xfrm>
              <a:off x="8130540" y="2590800"/>
              <a:ext cx="814070" cy="203200"/>
            </a:xfrm>
            <a:custGeom>
              <a:rect b="b" l="l" r="r" t="t"/>
              <a:pathLst>
                <a:path extrusionOk="0" h="203200" w="814070">
                  <a:moveTo>
                    <a:pt x="194563" y="0"/>
                  </a:moveTo>
                  <a:lnTo>
                    <a:pt x="601471" y="0"/>
                  </a:lnTo>
                  <a:lnTo>
                    <a:pt x="813815" y="202692"/>
                  </a:lnTo>
                  <a:lnTo>
                    <a:pt x="0" y="202692"/>
                  </a:lnTo>
                  <a:lnTo>
                    <a:pt x="194563" y="0"/>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67" name="Google Shape;367;g279ef9b7fc5_0_82"/>
            <p:cNvSpPr/>
            <p:nvPr/>
          </p:nvSpPr>
          <p:spPr>
            <a:xfrm>
              <a:off x="8116824" y="2129028"/>
              <a:ext cx="824865" cy="498475"/>
            </a:xfrm>
            <a:custGeom>
              <a:rect b="b" l="l" r="r" t="t"/>
              <a:pathLst>
                <a:path extrusionOk="0" h="498475" w="824865">
                  <a:moveTo>
                    <a:pt x="741299" y="0"/>
                  </a:moveTo>
                  <a:lnTo>
                    <a:pt x="83184" y="0"/>
                  </a:lnTo>
                  <a:lnTo>
                    <a:pt x="50800" y="6350"/>
                  </a:lnTo>
                  <a:lnTo>
                    <a:pt x="24765" y="24130"/>
                  </a:lnTo>
                  <a:lnTo>
                    <a:pt x="6984" y="50673"/>
                  </a:lnTo>
                  <a:lnTo>
                    <a:pt x="0" y="83058"/>
                  </a:lnTo>
                  <a:lnTo>
                    <a:pt x="0" y="415290"/>
                  </a:lnTo>
                  <a:lnTo>
                    <a:pt x="6984" y="447675"/>
                  </a:lnTo>
                  <a:lnTo>
                    <a:pt x="24765" y="473583"/>
                  </a:lnTo>
                  <a:lnTo>
                    <a:pt x="50800" y="491363"/>
                  </a:lnTo>
                  <a:lnTo>
                    <a:pt x="83184" y="498348"/>
                  </a:lnTo>
                  <a:lnTo>
                    <a:pt x="741299" y="498348"/>
                  </a:lnTo>
                  <a:lnTo>
                    <a:pt x="773683" y="491363"/>
                  </a:lnTo>
                  <a:lnTo>
                    <a:pt x="800353" y="473583"/>
                  </a:lnTo>
                  <a:lnTo>
                    <a:pt x="818133" y="447675"/>
                  </a:lnTo>
                  <a:lnTo>
                    <a:pt x="824483" y="415290"/>
                  </a:lnTo>
                  <a:lnTo>
                    <a:pt x="824483" y="83058"/>
                  </a:lnTo>
                  <a:lnTo>
                    <a:pt x="818133" y="50673"/>
                  </a:lnTo>
                  <a:lnTo>
                    <a:pt x="787653" y="13970"/>
                  </a:lnTo>
                  <a:lnTo>
                    <a:pt x="741299" y="0"/>
                  </a:lnTo>
                  <a:close/>
                </a:path>
              </a:pathLst>
            </a:custGeom>
            <a:solidFill>
              <a:srgbClr val="D9D9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68" name="Google Shape;368;g279ef9b7fc5_0_82"/>
            <p:cNvSpPr/>
            <p:nvPr/>
          </p:nvSpPr>
          <p:spPr>
            <a:xfrm>
              <a:off x="8116824" y="2129028"/>
              <a:ext cx="824865" cy="498475"/>
            </a:xfrm>
            <a:custGeom>
              <a:rect b="b" l="l" r="r" t="t"/>
              <a:pathLst>
                <a:path extrusionOk="0" h="498475" w="824865">
                  <a:moveTo>
                    <a:pt x="0" y="83058"/>
                  </a:moveTo>
                  <a:lnTo>
                    <a:pt x="6984" y="50673"/>
                  </a:lnTo>
                  <a:lnTo>
                    <a:pt x="24765" y="24130"/>
                  </a:lnTo>
                  <a:lnTo>
                    <a:pt x="50800" y="6350"/>
                  </a:lnTo>
                  <a:lnTo>
                    <a:pt x="83184" y="0"/>
                  </a:lnTo>
                  <a:lnTo>
                    <a:pt x="741299" y="0"/>
                  </a:lnTo>
                  <a:lnTo>
                    <a:pt x="787653" y="13970"/>
                  </a:lnTo>
                  <a:lnTo>
                    <a:pt x="818133" y="50673"/>
                  </a:lnTo>
                  <a:lnTo>
                    <a:pt x="824483" y="83058"/>
                  </a:lnTo>
                  <a:lnTo>
                    <a:pt x="824483" y="415290"/>
                  </a:lnTo>
                  <a:lnTo>
                    <a:pt x="818133" y="447675"/>
                  </a:lnTo>
                  <a:lnTo>
                    <a:pt x="800353" y="473583"/>
                  </a:lnTo>
                  <a:lnTo>
                    <a:pt x="773683" y="491363"/>
                  </a:lnTo>
                  <a:lnTo>
                    <a:pt x="741299" y="498348"/>
                  </a:lnTo>
                  <a:lnTo>
                    <a:pt x="83184" y="498348"/>
                  </a:lnTo>
                  <a:lnTo>
                    <a:pt x="50800" y="491363"/>
                  </a:lnTo>
                  <a:lnTo>
                    <a:pt x="24765" y="473583"/>
                  </a:lnTo>
                  <a:lnTo>
                    <a:pt x="6984" y="447675"/>
                  </a:lnTo>
                  <a:lnTo>
                    <a:pt x="0" y="415290"/>
                  </a:lnTo>
                  <a:lnTo>
                    <a:pt x="0" y="83058"/>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pic>
          <p:nvPicPr>
            <p:cNvPr id="369" name="Google Shape;369;g279ef9b7fc5_0_82"/>
            <p:cNvPicPr preferRelativeResize="0"/>
            <p:nvPr/>
          </p:nvPicPr>
          <p:blipFill rotWithShape="1">
            <a:blip r:embed="rId4">
              <a:alphaModFix/>
            </a:blip>
            <a:srcRect b="0" l="0" r="0" t="0"/>
            <a:stretch/>
          </p:blipFill>
          <p:spPr>
            <a:xfrm>
              <a:off x="8189976" y="2132076"/>
              <a:ext cx="640079" cy="480060"/>
            </a:xfrm>
            <a:prstGeom prst="rect">
              <a:avLst/>
            </a:prstGeom>
            <a:noFill/>
            <a:ln>
              <a:noFill/>
            </a:ln>
          </p:spPr>
        </p:pic>
      </p:grpSp>
      <p:grpSp>
        <p:nvGrpSpPr>
          <p:cNvPr id="370" name="Google Shape;370;g279ef9b7fc5_0_82"/>
          <p:cNvGrpSpPr/>
          <p:nvPr/>
        </p:nvGrpSpPr>
        <p:grpSpPr>
          <a:xfrm>
            <a:off x="10822166" y="4565790"/>
            <a:ext cx="1103687" cy="886607"/>
            <a:chOff x="8116824" y="3424428"/>
            <a:chExt cx="827786" cy="664972"/>
          </a:xfrm>
        </p:grpSpPr>
        <p:sp>
          <p:nvSpPr>
            <p:cNvPr id="371" name="Google Shape;371;g279ef9b7fc5_0_82"/>
            <p:cNvSpPr/>
            <p:nvPr/>
          </p:nvSpPr>
          <p:spPr>
            <a:xfrm>
              <a:off x="8130540" y="3886200"/>
              <a:ext cx="814070" cy="203200"/>
            </a:xfrm>
            <a:custGeom>
              <a:rect b="b" l="l" r="r" t="t"/>
              <a:pathLst>
                <a:path extrusionOk="0" h="203200" w="814070">
                  <a:moveTo>
                    <a:pt x="601471" y="0"/>
                  </a:moveTo>
                  <a:lnTo>
                    <a:pt x="194563" y="0"/>
                  </a:lnTo>
                  <a:lnTo>
                    <a:pt x="0" y="202691"/>
                  </a:lnTo>
                  <a:lnTo>
                    <a:pt x="813815" y="202691"/>
                  </a:lnTo>
                  <a:lnTo>
                    <a:pt x="601471" y="0"/>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72" name="Google Shape;372;g279ef9b7fc5_0_82"/>
            <p:cNvSpPr/>
            <p:nvPr/>
          </p:nvSpPr>
          <p:spPr>
            <a:xfrm>
              <a:off x="8130540" y="3886200"/>
              <a:ext cx="814070" cy="203200"/>
            </a:xfrm>
            <a:custGeom>
              <a:rect b="b" l="l" r="r" t="t"/>
              <a:pathLst>
                <a:path extrusionOk="0" h="203200" w="814070">
                  <a:moveTo>
                    <a:pt x="194563" y="0"/>
                  </a:moveTo>
                  <a:lnTo>
                    <a:pt x="601471" y="0"/>
                  </a:lnTo>
                  <a:lnTo>
                    <a:pt x="813815" y="202691"/>
                  </a:lnTo>
                  <a:lnTo>
                    <a:pt x="0" y="202691"/>
                  </a:lnTo>
                  <a:lnTo>
                    <a:pt x="194563" y="0"/>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73" name="Google Shape;373;g279ef9b7fc5_0_82"/>
            <p:cNvSpPr/>
            <p:nvPr/>
          </p:nvSpPr>
          <p:spPr>
            <a:xfrm>
              <a:off x="8116824" y="3424428"/>
              <a:ext cx="824865" cy="498475"/>
            </a:xfrm>
            <a:custGeom>
              <a:rect b="b" l="l" r="r" t="t"/>
              <a:pathLst>
                <a:path extrusionOk="0" h="498475" w="824865">
                  <a:moveTo>
                    <a:pt x="741299" y="0"/>
                  </a:moveTo>
                  <a:lnTo>
                    <a:pt x="83184" y="0"/>
                  </a:lnTo>
                  <a:lnTo>
                    <a:pt x="50800" y="6350"/>
                  </a:lnTo>
                  <a:lnTo>
                    <a:pt x="24765" y="24130"/>
                  </a:lnTo>
                  <a:lnTo>
                    <a:pt x="6984" y="50673"/>
                  </a:lnTo>
                  <a:lnTo>
                    <a:pt x="0" y="83058"/>
                  </a:lnTo>
                  <a:lnTo>
                    <a:pt x="0" y="415290"/>
                  </a:lnTo>
                  <a:lnTo>
                    <a:pt x="6984" y="447675"/>
                  </a:lnTo>
                  <a:lnTo>
                    <a:pt x="24765" y="473621"/>
                  </a:lnTo>
                  <a:lnTo>
                    <a:pt x="50800" y="491375"/>
                  </a:lnTo>
                  <a:lnTo>
                    <a:pt x="83184" y="498348"/>
                  </a:lnTo>
                  <a:lnTo>
                    <a:pt x="741299" y="498348"/>
                  </a:lnTo>
                  <a:lnTo>
                    <a:pt x="773683" y="491375"/>
                  </a:lnTo>
                  <a:lnTo>
                    <a:pt x="800353" y="473621"/>
                  </a:lnTo>
                  <a:lnTo>
                    <a:pt x="818133" y="447675"/>
                  </a:lnTo>
                  <a:lnTo>
                    <a:pt x="824483" y="415290"/>
                  </a:lnTo>
                  <a:lnTo>
                    <a:pt x="824483" y="83058"/>
                  </a:lnTo>
                  <a:lnTo>
                    <a:pt x="818133" y="50673"/>
                  </a:lnTo>
                  <a:lnTo>
                    <a:pt x="787653" y="13970"/>
                  </a:lnTo>
                  <a:lnTo>
                    <a:pt x="741299" y="0"/>
                  </a:lnTo>
                  <a:close/>
                </a:path>
              </a:pathLst>
            </a:custGeom>
            <a:solidFill>
              <a:srgbClr val="D9D9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74" name="Google Shape;374;g279ef9b7fc5_0_82"/>
            <p:cNvSpPr/>
            <p:nvPr/>
          </p:nvSpPr>
          <p:spPr>
            <a:xfrm>
              <a:off x="8116824" y="3424428"/>
              <a:ext cx="824865" cy="498475"/>
            </a:xfrm>
            <a:custGeom>
              <a:rect b="b" l="l" r="r" t="t"/>
              <a:pathLst>
                <a:path extrusionOk="0" h="498475" w="824865">
                  <a:moveTo>
                    <a:pt x="0" y="83058"/>
                  </a:moveTo>
                  <a:lnTo>
                    <a:pt x="6984" y="50673"/>
                  </a:lnTo>
                  <a:lnTo>
                    <a:pt x="24765" y="24130"/>
                  </a:lnTo>
                  <a:lnTo>
                    <a:pt x="50800" y="6350"/>
                  </a:lnTo>
                  <a:lnTo>
                    <a:pt x="83184" y="0"/>
                  </a:lnTo>
                  <a:lnTo>
                    <a:pt x="741299" y="0"/>
                  </a:lnTo>
                  <a:lnTo>
                    <a:pt x="787653" y="13970"/>
                  </a:lnTo>
                  <a:lnTo>
                    <a:pt x="818133" y="50673"/>
                  </a:lnTo>
                  <a:lnTo>
                    <a:pt x="824483" y="83058"/>
                  </a:lnTo>
                  <a:lnTo>
                    <a:pt x="824483" y="415290"/>
                  </a:lnTo>
                  <a:lnTo>
                    <a:pt x="818133" y="447675"/>
                  </a:lnTo>
                  <a:lnTo>
                    <a:pt x="800353" y="473621"/>
                  </a:lnTo>
                  <a:lnTo>
                    <a:pt x="773683" y="491375"/>
                  </a:lnTo>
                  <a:lnTo>
                    <a:pt x="741299" y="498348"/>
                  </a:lnTo>
                  <a:lnTo>
                    <a:pt x="83184" y="498348"/>
                  </a:lnTo>
                  <a:lnTo>
                    <a:pt x="50800" y="491375"/>
                  </a:lnTo>
                  <a:lnTo>
                    <a:pt x="24765" y="473621"/>
                  </a:lnTo>
                  <a:lnTo>
                    <a:pt x="6984" y="447675"/>
                  </a:lnTo>
                  <a:lnTo>
                    <a:pt x="0" y="415290"/>
                  </a:lnTo>
                  <a:lnTo>
                    <a:pt x="0" y="83058"/>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pic>
          <p:nvPicPr>
            <p:cNvPr id="375" name="Google Shape;375;g279ef9b7fc5_0_82"/>
            <p:cNvPicPr preferRelativeResize="0"/>
            <p:nvPr/>
          </p:nvPicPr>
          <p:blipFill rotWithShape="1">
            <a:blip r:embed="rId5">
              <a:alphaModFix/>
            </a:blip>
            <a:srcRect b="0" l="0" r="0" t="0"/>
            <a:stretch/>
          </p:blipFill>
          <p:spPr>
            <a:xfrm>
              <a:off x="8214360" y="3467100"/>
              <a:ext cx="589788" cy="373380"/>
            </a:xfrm>
            <a:prstGeom prst="rect">
              <a:avLst/>
            </a:prstGeom>
            <a:noFill/>
            <a:ln>
              <a:noFill/>
            </a:ln>
          </p:spPr>
        </p:pic>
      </p:grpSp>
      <p:grpSp>
        <p:nvGrpSpPr>
          <p:cNvPr id="376" name="Google Shape;376;g279ef9b7fc5_0_82"/>
          <p:cNvGrpSpPr/>
          <p:nvPr/>
        </p:nvGrpSpPr>
        <p:grpSpPr>
          <a:xfrm>
            <a:off x="2464753" y="3222667"/>
            <a:ext cx="465655" cy="242141"/>
            <a:chOff x="1848612" y="2417063"/>
            <a:chExt cx="349250" cy="181610"/>
          </a:xfrm>
        </p:grpSpPr>
        <p:sp>
          <p:nvSpPr>
            <p:cNvPr id="377" name="Google Shape;377;g279ef9b7fc5_0_82"/>
            <p:cNvSpPr/>
            <p:nvPr/>
          </p:nvSpPr>
          <p:spPr>
            <a:xfrm>
              <a:off x="1848612" y="2417063"/>
              <a:ext cx="349250" cy="181610"/>
            </a:xfrm>
            <a:custGeom>
              <a:rect b="b" l="l" r="r" t="t"/>
              <a:pathLst>
                <a:path extrusionOk="0" h="181610" w="349250">
                  <a:moveTo>
                    <a:pt x="258063" y="0"/>
                  </a:moveTo>
                  <a:lnTo>
                    <a:pt x="258063" y="45338"/>
                  </a:lnTo>
                  <a:lnTo>
                    <a:pt x="0" y="45338"/>
                  </a:lnTo>
                  <a:lnTo>
                    <a:pt x="0" y="136017"/>
                  </a:lnTo>
                  <a:lnTo>
                    <a:pt x="258063" y="136017"/>
                  </a:lnTo>
                  <a:lnTo>
                    <a:pt x="258063" y="181356"/>
                  </a:lnTo>
                  <a:lnTo>
                    <a:pt x="348995" y="90678"/>
                  </a:lnTo>
                  <a:lnTo>
                    <a:pt x="25806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78" name="Google Shape;378;g279ef9b7fc5_0_82"/>
            <p:cNvSpPr/>
            <p:nvPr/>
          </p:nvSpPr>
          <p:spPr>
            <a:xfrm>
              <a:off x="1848612" y="2417063"/>
              <a:ext cx="349250" cy="181610"/>
            </a:xfrm>
            <a:custGeom>
              <a:rect b="b" l="l" r="r" t="t"/>
              <a:pathLst>
                <a:path extrusionOk="0" h="181610" w="349250">
                  <a:moveTo>
                    <a:pt x="0" y="45338"/>
                  </a:moveTo>
                  <a:lnTo>
                    <a:pt x="258063" y="45338"/>
                  </a:lnTo>
                  <a:lnTo>
                    <a:pt x="258063" y="0"/>
                  </a:lnTo>
                  <a:lnTo>
                    <a:pt x="348995" y="90678"/>
                  </a:lnTo>
                  <a:lnTo>
                    <a:pt x="258063" y="181356"/>
                  </a:lnTo>
                  <a:lnTo>
                    <a:pt x="258063" y="136017"/>
                  </a:lnTo>
                  <a:lnTo>
                    <a:pt x="0" y="136017"/>
                  </a:lnTo>
                  <a:lnTo>
                    <a:pt x="0" y="45338"/>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sp>
        <p:nvSpPr>
          <p:cNvPr id="379" name="Google Shape;379;g279ef9b7fc5_0_82"/>
          <p:cNvSpPr/>
          <p:nvPr/>
        </p:nvSpPr>
        <p:spPr>
          <a:xfrm>
            <a:off x="3419273" y="131995"/>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2900" u="none" cap="none" strike="noStrike">
                <a:solidFill>
                  <a:srgbClr val="BF9000"/>
                </a:solidFill>
                <a:latin typeface="Calibri"/>
                <a:ea typeface="Calibri"/>
                <a:cs typeface="Calibri"/>
                <a:sym typeface="Calibri"/>
              </a:rPr>
              <a:t>Features of Java</a:t>
            </a:r>
            <a:endParaRPr b="1" i="0" sz="2900" u="none" cap="none" strike="noStrike">
              <a:solidFill>
                <a:srgbClr val="BF9000"/>
              </a:solidFill>
              <a:latin typeface="Cantarell"/>
              <a:ea typeface="Cantarell"/>
              <a:cs typeface="Cantarell"/>
              <a:sym typeface="Cantare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279ef9b7fc5_0_149"/>
          <p:cNvSpPr txBox="1"/>
          <p:nvPr/>
        </p:nvSpPr>
        <p:spPr>
          <a:xfrm>
            <a:off x="200617" y="946338"/>
            <a:ext cx="11482500" cy="5449800"/>
          </a:xfrm>
          <a:prstGeom prst="rect">
            <a:avLst/>
          </a:prstGeom>
          <a:noFill/>
          <a:ln>
            <a:noFill/>
          </a:ln>
        </p:spPr>
        <p:txBody>
          <a:bodyPr anchorCtr="0" anchor="t" bIns="0" lIns="0" spcFirstLastPara="1" rIns="0" wrap="square" tIns="16075">
            <a:spAutoFit/>
          </a:bodyPr>
          <a:lstStyle/>
          <a:p>
            <a:pPr indent="0" lvl="0" marL="457200" marR="6771" rtl="0" algn="just">
              <a:lnSpc>
                <a:spcPct val="112000"/>
              </a:lnSpc>
              <a:spcBef>
                <a:spcPts val="0"/>
              </a:spcBef>
              <a:spcAft>
                <a:spcPts val="0"/>
              </a:spcAft>
              <a:buClr>
                <a:srgbClr val="000000"/>
              </a:buClr>
              <a:buSzPts val="2500"/>
              <a:buFont typeface="Arial"/>
              <a:buNone/>
            </a:pPr>
            <a:r>
              <a:rPr b="1" i="0" lang="en-IN" sz="2500" u="none" cap="none" strike="noStrike">
                <a:solidFill>
                  <a:srgbClr val="00FF00"/>
                </a:solidFill>
                <a:latin typeface="Arial"/>
                <a:ea typeface="Arial"/>
                <a:cs typeface="Arial"/>
                <a:sym typeface="Arial"/>
              </a:rPr>
              <a:t>Secure</a:t>
            </a:r>
            <a:r>
              <a:rPr b="1" i="0" lang="en-IN" sz="2500" u="none" cap="none" strike="noStrike">
                <a:solidFill>
                  <a:schemeClr val="dk1"/>
                </a:solidFill>
                <a:latin typeface="Arial"/>
                <a:ea typeface="Arial"/>
                <a:cs typeface="Arial"/>
                <a:sym typeface="Arial"/>
              </a:rPr>
              <a:t>: </a:t>
            </a:r>
            <a:endParaRPr b="1" i="0" sz="2500" u="none" cap="none" strike="noStrike">
              <a:solidFill>
                <a:schemeClr val="dk1"/>
              </a:solidFill>
              <a:latin typeface="Arial"/>
              <a:ea typeface="Arial"/>
              <a:cs typeface="Arial"/>
              <a:sym typeface="Arial"/>
            </a:endParaRPr>
          </a:p>
          <a:p>
            <a:pPr indent="0" lvl="0" marL="457200" marR="6772" rtl="0" algn="just">
              <a:lnSpc>
                <a:spcPct val="112000"/>
              </a:lnSpc>
              <a:spcBef>
                <a:spcPts val="0"/>
              </a:spcBef>
              <a:spcAft>
                <a:spcPts val="0"/>
              </a:spcAft>
              <a:buClr>
                <a:srgbClr val="000000"/>
              </a:buClr>
              <a:buSzPts val="2500"/>
              <a:buFont typeface="Arial"/>
              <a:buNone/>
            </a:pPr>
            <a:r>
              <a:rPr b="1" i="0" lang="en-IN" sz="2500" u="none" cap="none" strike="noStrike">
                <a:solidFill>
                  <a:schemeClr val="dk1"/>
                </a:solidFill>
                <a:latin typeface="Arial"/>
                <a:ea typeface="Arial"/>
                <a:cs typeface="Arial"/>
                <a:sym typeface="Arial"/>
              </a:rPr>
              <a:t>It does not use explicit pointer. So, Java  does not allow access of memory area directly  which makes it more secure and keeps it safe from  many sources of bugs.</a:t>
            </a:r>
            <a:endParaRPr b="0" i="0" sz="2500" u="none" cap="none" strike="noStrike">
              <a:solidFill>
                <a:schemeClr val="dk1"/>
              </a:solidFill>
              <a:latin typeface="Arial"/>
              <a:ea typeface="Arial"/>
              <a:cs typeface="Arial"/>
              <a:sym typeface="Arial"/>
            </a:endParaRPr>
          </a:p>
          <a:p>
            <a:pPr indent="0" lvl="0" marL="457200" marR="6771" rtl="0" algn="just">
              <a:lnSpc>
                <a:spcPct val="112000"/>
              </a:lnSpc>
              <a:spcBef>
                <a:spcPts val="0"/>
              </a:spcBef>
              <a:spcAft>
                <a:spcPts val="0"/>
              </a:spcAft>
              <a:buClr>
                <a:srgbClr val="000000"/>
              </a:buClr>
              <a:buSzPts val="2500"/>
              <a:buFont typeface="Arial"/>
              <a:buNone/>
            </a:pPr>
            <a:r>
              <a:rPr b="1" i="0" lang="en-IN" sz="2500" u="none" cap="none" strike="noStrike">
                <a:solidFill>
                  <a:schemeClr val="dk1"/>
                </a:solidFill>
                <a:latin typeface="Arial"/>
                <a:ea typeface="Arial"/>
                <a:cs typeface="Arial"/>
                <a:sym typeface="Arial"/>
              </a:rPr>
              <a:t>Java provides strong Exception Handling  mechanism which makes it more secure as it does  not allow to run the program until you rectify the  error. </a:t>
            </a:r>
            <a:endParaRPr b="1" i="0" sz="2500" u="none" cap="none" strike="noStrike">
              <a:solidFill>
                <a:schemeClr val="dk1"/>
              </a:solidFill>
              <a:latin typeface="Arial"/>
              <a:ea typeface="Arial"/>
              <a:cs typeface="Arial"/>
              <a:sym typeface="Arial"/>
            </a:endParaRPr>
          </a:p>
          <a:p>
            <a:pPr indent="0" lvl="0" marL="457200" marR="6771" rtl="0" algn="just">
              <a:lnSpc>
                <a:spcPct val="112000"/>
              </a:lnSpc>
              <a:spcBef>
                <a:spcPts val="0"/>
              </a:spcBef>
              <a:spcAft>
                <a:spcPts val="0"/>
              </a:spcAft>
              <a:buClr>
                <a:srgbClr val="000000"/>
              </a:buClr>
              <a:buSzPts val="2500"/>
              <a:buFont typeface="Arial"/>
              <a:buNone/>
            </a:pPr>
            <a:r>
              <a:rPr b="1" i="0" lang="en-IN" sz="2500" u="none" cap="none" strike="noStrike">
                <a:solidFill>
                  <a:schemeClr val="dk1"/>
                </a:solidFill>
                <a:latin typeface="Arial"/>
                <a:ea typeface="Arial"/>
                <a:cs typeface="Arial"/>
                <a:sym typeface="Arial"/>
              </a:rPr>
              <a:t>Java provides access modifier/access  specifier like private, protected, public and default.  It helps in controlling the access of any member.</a:t>
            </a:r>
            <a:r>
              <a:rPr b="1" i="0" lang="en-IN" sz="2500" u="none" cap="none" strike="noStrike">
                <a:solidFill>
                  <a:schemeClr val="dk1"/>
                </a:solidFill>
                <a:latin typeface="Calibri"/>
                <a:ea typeface="Calibri"/>
                <a:cs typeface="Calibri"/>
                <a:sym typeface="Calibri"/>
              </a:rPr>
              <a:t>Java Programs run inside a virtual machine sandbox</a:t>
            </a:r>
            <a:endParaRPr b="0" i="0" sz="25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500"/>
              <a:buFont typeface="Arial"/>
              <a:buNone/>
            </a:pPr>
            <a:r>
              <a:rPr b="1" i="0" lang="en-IN" sz="2500" u="none" cap="none" strike="noStrike">
                <a:solidFill>
                  <a:schemeClr val="dk1"/>
                </a:solidFill>
                <a:latin typeface="Calibri"/>
                <a:ea typeface="Calibri"/>
                <a:cs typeface="Calibri"/>
                <a:sym typeface="Calibri"/>
              </a:rPr>
              <a:t>Bytecode Verifier: It checks the code fragments for illegal code that can violate access rights to objects.</a:t>
            </a:r>
            <a:endParaRPr b="1" i="0" sz="2500" u="none" cap="none" strike="noStrike">
              <a:solidFill>
                <a:schemeClr val="dk1"/>
              </a:solidFill>
              <a:latin typeface="Calibri"/>
              <a:ea typeface="Calibri"/>
              <a:cs typeface="Calibri"/>
              <a:sym typeface="Calibri"/>
            </a:endParaRPr>
          </a:p>
          <a:p>
            <a:pPr indent="0" lvl="0" marL="457200" marR="6772" rtl="0" algn="just">
              <a:lnSpc>
                <a:spcPct val="112000"/>
              </a:lnSpc>
              <a:spcBef>
                <a:spcPts val="0"/>
              </a:spcBef>
              <a:spcAft>
                <a:spcPts val="0"/>
              </a:spcAft>
              <a:buClr>
                <a:srgbClr val="000000"/>
              </a:buClr>
              <a:buSzPts val="2300"/>
              <a:buFont typeface="Arial"/>
              <a:buNone/>
            </a:pPr>
            <a:r>
              <a:t/>
            </a:r>
            <a:endParaRPr b="1" i="0" sz="2300" u="none" cap="none" strike="noStrike">
              <a:solidFill>
                <a:schemeClr val="dk1"/>
              </a:solidFill>
              <a:latin typeface="Arial"/>
              <a:ea typeface="Arial"/>
              <a:cs typeface="Arial"/>
              <a:sym typeface="Arial"/>
            </a:endParaRPr>
          </a:p>
        </p:txBody>
      </p:sp>
      <p:sp>
        <p:nvSpPr>
          <p:cNvPr id="385" name="Google Shape;385;g279ef9b7fc5_0_149"/>
          <p:cNvSpPr/>
          <p:nvPr/>
        </p:nvSpPr>
        <p:spPr>
          <a:xfrm>
            <a:off x="2415227" y="87018"/>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3000" u="none" cap="none" strike="noStrike">
                <a:solidFill>
                  <a:srgbClr val="BF9000"/>
                </a:solidFill>
                <a:latin typeface="Calibri"/>
                <a:ea typeface="Calibri"/>
                <a:cs typeface="Calibri"/>
                <a:sym typeface="Calibri"/>
              </a:rPr>
              <a:t>Features of Java</a:t>
            </a:r>
            <a:endParaRPr b="1" i="0" sz="3000" u="none" cap="none" strike="noStrike">
              <a:solidFill>
                <a:srgbClr val="BF9000"/>
              </a:solidFill>
              <a:latin typeface="Cantarell"/>
              <a:ea typeface="Cantarell"/>
              <a:cs typeface="Cantarell"/>
              <a:sym typeface="Cantare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g2835528d1b0_3_17"/>
          <p:cNvSpPr txBox="1"/>
          <p:nvPr/>
        </p:nvSpPr>
        <p:spPr>
          <a:xfrm>
            <a:off x="63892" y="871538"/>
            <a:ext cx="11482500" cy="4831200"/>
          </a:xfrm>
          <a:prstGeom prst="rect">
            <a:avLst/>
          </a:prstGeom>
          <a:noFill/>
          <a:ln>
            <a:noFill/>
          </a:ln>
        </p:spPr>
        <p:txBody>
          <a:bodyPr anchorCtr="0" anchor="t" bIns="0" lIns="0" spcFirstLastPara="1" rIns="0" wrap="square" tIns="16075">
            <a:spAutoFit/>
          </a:bodyPr>
          <a:lstStyle/>
          <a:p>
            <a:pPr indent="-712029" lvl="0" marL="728115" marR="10160" rtl="0" algn="just">
              <a:lnSpc>
                <a:spcPct val="112000"/>
              </a:lnSpc>
              <a:spcBef>
                <a:spcPts val="0"/>
              </a:spcBef>
              <a:spcAft>
                <a:spcPts val="0"/>
              </a:spcAft>
              <a:buClr>
                <a:schemeClr val="lt1"/>
              </a:buClr>
              <a:buSzPts val="3200"/>
              <a:buFont typeface="MS PGothic"/>
              <a:buChar char="➢"/>
            </a:pPr>
            <a:r>
              <a:rPr b="1" i="0" lang="en-IN" sz="3200" u="none" cap="none" strike="noStrike">
                <a:solidFill>
                  <a:srgbClr val="00FF00"/>
                </a:solidFill>
                <a:latin typeface="Arial"/>
                <a:ea typeface="Arial"/>
                <a:cs typeface="Arial"/>
                <a:sym typeface="Arial"/>
              </a:rPr>
              <a:t>Robust</a:t>
            </a:r>
            <a:r>
              <a:rPr b="1" i="0" lang="en-IN" sz="3200" u="none" cap="none" strike="noStrike">
                <a:solidFill>
                  <a:schemeClr val="dk1"/>
                </a:solidFill>
                <a:latin typeface="Arial"/>
                <a:ea typeface="Arial"/>
                <a:cs typeface="Arial"/>
                <a:sym typeface="Arial"/>
              </a:rPr>
              <a:t>: </a:t>
            </a:r>
            <a:endParaRPr b="1" i="0" sz="3200" u="none" cap="none" strike="noStrike">
              <a:solidFill>
                <a:schemeClr val="dk1"/>
              </a:solidFill>
              <a:latin typeface="Arial"/>
              <a:ea typeface="Arial"/>
              <a:cs typeface="Arial"/>
              <a:sym typeface="Arial"/>
            </a:endParaRPr>
          </a:p>
          <a:p>
            <a:pPr indent="-712029" lvl="0" marL="728115" marR="10160" rtl="0" algn="just">
              <a:lnSpc>
                <a:spcPct val="112000"/>
              </a:lnSpc>
              <a:spcBef>
                <a:spcPts val="0"/>
              </a:spcBef>
              <a:spcAft>
                <a:spcPts val="0"/>
              </a:spcAft>
              <a:buClr>
                <a:schemeClr val="lt1"/>
              </a:buClr>
              <a:buSzPts val="3200"/>
              <a:buFont typeface="MS PGothic"/>
              <a:buChar char="➢"/>
            </a:pPr>
            <a:r>
              <a:rPr b="1" i="0" lang="en-IN" sz="2500" u="none" cap="none" strike="noStrike">
                <a:solidFill>
                  <a:schemeClr val="dk1"/>
                </a:solidFill>
                <a:latin typeface="Arial"/>
                <a:ea typeface="Arial"/>
                <a:cs typeface="Arial"/>
                <a:sym typeface="Arial"/>
              </a:rPr>
              <a:t>Two main problems that cause program  failures are memory management mistakes and  mishandled runtime errors. Java handles both of  them efficiently.</a:t>
            </a:r>
            <a:endParaRPr b="1" i="0" sz="2500" u="none" cap="none" strike="noStrike">
              <a:solidFill>
                <a:schemeClr val="dk1"/>
              </a:solidFill>
              <a:latin typeface="Arial"/>
              <a:ea typeface="Arial"/>
              <a:cs typeface="Arial"/>
              <a:sym typeface="Arial"/>
            </a:endParaRPr>
          </a:p>
          <a:p>
            <a:pPr indent="0" lvl="0" marL="914400" marR="0" rtl="0" algn="just">
              <a:lnSpc>
                <a:spcPct val="100000"/>
              </a:lnSpc>
              <a:spcBef>
                <a:spcPts val="653"/>
              </a:spcBef>
              <a:spcAft>
                <a:spcPts val="0"/>
              </a:spcAft>
              <a:buClr>
                <a:srgbClr val="000000"/>
              </a:buClr>
              <a:buSzPts val="2500"/>
              <a:buFont typeface="Arial"/>
              <a:buNone/>
            </a:pPr>
            <a:r>
              <a:rPr b="1" i="0" lang="en-IN" sz="2500" u="none" cap="none" strike="noStrike">
                <a:solidFill>
                  <a:schemeClr val="accent1"/>
                </a:solidFill>
                <a:latin typeface="Arial"/>
                <a:ea typeface="Arial"/>
                <a:cs typeface="Arial"/>
                <a:sym typeface="Arial"/>
              </a:rPr>
              <a:t>Memory management </a:t>
            </a:r>
            <a:r>
              <a:rPr b="1" i="0" lang="en-IN" sz="2500" u="none" cap="none" strike="noStrike">
                <a:solidFill>
                  <a:schemeClr val="dk1"/>
                </a:solidFill>
                <a:latin typeface="Arial"/>
                <a:ea typeface="Arial"/>
                <a:cs typeface="Arial"/>
                <a:sym typeface="Arial"/>
              </a:rPr>
              <a:t>mistakes can be overcome by garbage collection.</a:t>
            </a:r>
            <a:endParaRPr b="0" i="0" sz="2500" u="none" cap="none" strike="noStrike">
              <a:solidFill>
                <a:schemeClr val="dk1"/>
              </a:solidFill>
              <a:latin typeface="Arial"/>
              <a:ea typeface="Arial"/>
              <a:cs typeface="Arial"/>
              <a:sym typeface="Arial"/>
            </a:endParaRPr>
          </a:p>
          <a:p>
            <a:pPr indent="0" lvl="0" marL="914400" marR="10160" rtl="0" algn="just">
              <a:lnSpc>
                <a:spcPct val="112000"/>
              </a:lnSpc>
              <a:spcBef>
                <a:spcPts val="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Garbage	collection   is automatic  deallocation  of  objects  which  are  no longer   needed.   Mishandled   runtime   errors   are resolved by Exception Handling procedures.</a:t>
            </a:r>
            <a:endParaRPr b="1" i="0" sz="2500" u="none" cap="none" strike="noStrike">
              <a:solidFill>
                <a:schemeClr val="dk1"/>
              </a:solidFill>
              <a:latin typeface="Arial"/>
              <a:ea typeface="Arial"/>
              <a:cs typeface="Arial"/>
              <a:sym typeface="Arial"/>
            </a:endParaRPr>
          </a:p>
          <a:p>
            <a:pPr indent="0" lvl="0" marL="16931" marR="0" rtl="0" algn="l">
              <a:lnSpc>
                <a:spcPct val="100000"/>
              </a:lnSpc>
              <a:spcBef>
                <a:spcPts val="7"/>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6771" rtl="0" algn="just">
              <a:lnSpc>
                <a:spcPct val="112000"/>
              </a:lnSpc>
              <a:spcBef>
                <a:spcPts val="0"/>
              </a:spcBef>
              <a:spcAft>
                <a:spcPts val="0"/>
              </a:spcAft>
              <a:buClr>
                <a:srgbClr val="000000"/>
              </a:buClr>
              <a:buSzPts val="2500"/>
              <a:buFont typeface="Arial"/>
              <a:buNone/>
            </a:pPr>
            <a:r>
              <a:t/>
            </a:r>
            <a:endParaRPr b="1" i="0" sz="2500" u="none" cap="none" strike="noStrike">
              <a:solidFill>
                <a:schemeClr val="dk1"/>
              </a:solidFill>
              <a:latin typeface="Arial"/>
              <a:ea typeface="Arial"/>
              <a:cs typeface="Arial"/>
              <a:sym typeface="Arial"/>
            </a:endParaRPr>
          </a:p>
        </p:txBody>
      </p:sp>
      <p:sp>
        <p:nvSpPr>
          <p:cNvPr id="391" name="Google Shape;391;g2835528d1b0_3_17"/>
          <p:cNvSpPr/>
          <p:nvPr/>
        </p:nvSpPr>
        <p:spPr>
          <a:xfrm>
            <a:off x="2415227" y="87018"/>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3000" u="none" cap="none" strike="noStrike">
                <a:solidFill>
                  <a:srgbClr val="BF9000"/>
                </a:solidFill>
                <a:latin typeface="Calibri"/>
                <a:ea typeface="Calibri"/>
                <a:cs typeface="Calibri"/>
                <a:sym typeface="Calibri"/>
              </a:rPr>
              <a:t>Features of Java</a:t>
            </a:r>
            <a:endParaRPr b="1" i="0" sz="3000" u="none" cap="none" strike="noStrike">
              <a:solidFill>
                <a:srgbClr val="BF9000"/>
              </a:solidFill>
              <a:latin typeface="Cantarell"/>
              <a:ea typeface="Cantarell"/>
              <a:cs typeface="Cantarell"/>
              <a:sym typeface="Cantare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279ef9b7fc5_0_167"/>
          <p:cNvSpPr txBox="1"/>
          <p:nvPr/>
        </p:nvSpPr>
        <p:spPr>
          <a:xfrm>
            <a:off x="1250628" y="1016834"/>
            <a:ext cx="10160100" cy="3871200"/>
          </a:xfrm>
          <a:prstGeom prst="rect">
            <a:avLst/>
          </a:prstGeom>
          <a:noFill/>
          <a:ln>
            <a:noFill/>
          </a:ln>
        </p:spPr>
        <p:txBody>
          <a:bodyPr anchorCtr="0" anchor="t" bIns="0" lIns="0" spcFirstLastPara="1" rIns="0" wrap="square" tIns="44025">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rgbClr val="00FF00"/>
                </a:solidFill>
                <a:latin typeface="Arial"/>
                <a:ea typeface="Arial"/>
                <a:cs typeface="Arial"/>
                <a:sym typeface="Arial"/>
              </a:rPr>
              <a:t>Portable</a:t>
            </a:r>
            <a:r>
              <a:rPr b="1" i="0" lang="en-IN" sz="3200" u="none" cap="none" strike="noStrike">
                <a:solidFill>
                  <a:schemeClr val="dk1"/>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a:p>
            <a:pPr indent="-407235" lvl="0" marL="424168" marR="0" rtl="0" algn="l">
              <a:lnSpc>
                <a:spcPct val="100000"/>
              </a:lnSpc>
              <a:spcBef>
                <a:spcPts val="213"/>
              </a:spcBef>
              <a:spcAft>
                <a:spcPts val="0"/>
              </a:spcAft>
              <a:buClr>
                <a:schemeClr val="dk1"/>
              </a:buClr>
              <a:buSzPts val="3067"/>
              <a:buFont typeface="MS PGothic"/>
              <a:buChar char="➢"/>
            </a:pPr>
            <a:r>
              <a:rPr b="1" i="0" lang="en-IN" sz="3200" u="none" cap="none" strike="noStrike">
                <a:solidFill>
                  <a:schemeClr val="dk1"/>
                </a:solidFill>
                <a:latin typeface="Arial"/>
                <a:ea typeface="Arial"/>
                <a:cs typeface="Arial"/>
                <a:sym typeface="Arial"/>
              </a:rPr>
              <a:t>When we compile the java program, the compiler</a:t>
            </a:r>
            <a:endParaRPr b="0" i="0" sz="3200" u="none" cap="none" strike="noStrike">
              <a:solidFill>
                <a:schemeClr val="dk1"/>
              </a:solidFill>
              <a:latin typeface="Arial"/>
              <a:ea typeface="Arial"/>
              <a:cs typeface="Arial"/>
              <a:sym typeface="Arial"/>
            </a:endParaRPr>
          </a:p>
          <a:p>
            <a:pPr indent="0" lvl="0" marL="16932" marR="0" rtl="0" algn="l">
              <a:lnSpc>
                <a:spcPct val="100000"/>
              </a:lnSpc>
              <a:spcBef>
                <a:spcPts val="433"/>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of	java	generates	.class	file	that	contains	the</a:t>
            </a:r>
            <a:endParaRPr b="0" i="0" sz="3200" u="none" cap="none" strike="noStrike">
              <a:solidFill>
                <a:schemeClr val="dk1"/>
              </a:solidFill>
              <a:latin typeface="Arial"/>
              <a:ea typeface="Arial"/>
              <a:cs typeface="Arial"/>
              <a:sym typeface="Arial"/>
            </a:endParaRPr>
          </a:p>
          <a:p>
            <a:pPr indent="0" lvl="0" marL="16932" marR="0" rtl="0" algn="l">
              <a:lnSpc>
                <a:spcPct val="100000"/>
              </a:lnSpc>
              <a:spcBef>
                <a:spcPts val="413"/>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Bytecodes of your java program.</a:t>
            </a:r>
            <a:endParaRPr b="0" i="0" sz="3200" u="none" cap="none" strike="noStrike">
              <a:solidFill>
                <a:schemeClr val="dk1"/>
              </a:solidFill>
              <a:latin typeface="Arial"/>
              <a:ea typeface="Arial"/>
              <a:cs typeface="Arial"/>
              <a:sym typeface="Arial"/>
            </a:endParaRPr>
          </a:p>
          <a:p>
            <a:pPr indent="0" lvl="0" marL="0" marR="0" rtl="0" algn="l">
              <a:lnSpc>
                <a:spcPct val="100000"/>
              </a:lnSpc>
              <a:spcBef>
                <a:spcPts val="27"/>
              </a:spcBef>
              <a:spcAft>
                <a:spcPts val="0"/>
              </a:spcAft>
              <a:buClr>
                <a:srgbClr val="000000"/>
              </a:buClr>
              <a:buSzPts val="4400"/>
              <a:buFont typeface="Arial"/>
              <a:buNone/>
            </a:pPr>
            <a:r>
              <a:t/>
            </a:r>
            <a:endParaRPr b="0" i="0" sz="4400" u="none" cap="none" strike="noStrike">
              <a:solidFill>
                <a:schemeClr val="dk1"/>
              </a:solidFill>
              <a:latin typeface="Arial"/>
              <a:ea typeface="Arial"/>
              <a:cs typeface="Arial"/>
              <a:sym typeface="Arial"/>
            </a:endParaRPr>
          </a:p>
          <a:p>
            <a:pPr indent="-408082" lvl="0" marL="424168" marR="0" rtl="0" algn="l">
              <a:lnSpc>
                <a:spcPct val="100000"/>
              </a:lnSpc>
              <a:spcBef>
                <a:spcPts val="7"/>
              </a:spcBef>
              <a:spcAft>
                <a:spcPts val="0"/>
              </a:spcAft>
              <a:buClr>
                <a:schemeClr val="dk1"/>
              </a:buClr>
              <a:buSzPts val="3067"/>
              <a:buFont typeface="MS PGothic"/>
              <a:buChar char="➢"/>
            </a:pPr>
            <a:r>
              <a:rPr b="1" i="0" lang="en-IN" sz="3200" u="none" cap="none" strike="noStrike">
                <a:solidFill>
                  <a:schemeClr val="dk1"/>
                </a:solidFill>
                <a:latin typeface="Arial"/>
                <a:ea typeface="Arial"/>
                <a:cs typeface="Arial"/>
                <a:sym typeface="Arial"/>
              </a:rPr>
              <a:t>The generated Bytecodes are secure and can run</a:t>
            </a:r>
            <a:endParaRPr b="0" i="0" sz="3200" u="none" cap="none" strike="noStrike">
              <a:solidFill>
                <a:schemeClr val="dk1"/>
              </a:solidFill>
              <a:latin typeface="Arial"/>
              <a:ea typeface="Arial"/>
              <a:cs typeface="Arial"/>
              <a:sym typeface="Arial"/>
            </a:endParaRPr>
          </a:p>
          <a:p>
            <a:pPr indent="0" lvl="0" marL="16932" marR="0" rtl="0" algn="l">
              <a:lnSpc>
                <a:spcPct val="100000"/>
              </a:lnSpc>
              <a:spcBef>
                <a:spcPts val="42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on any machine (portable) which has JVM.</a:t>
            </a:r>
            <a:endParaRPr b="0" i="0" sz="3200" u="none" cap="none" strike="noStrike">
              <a:solidFill>
                <a:schemeClr val="dk1"/>
              </a:solidFill>
              <a:latin typeface="Arial"/>
              <a:ea typeface="Arial"/>
              <a:cs typeface="Arial"/>
              <a:sym typeface="Arial"/>
            </a:endParaRPr>
          </a:p>
        </p:txBody>
      </p:sp>
      <p:sp>
        <p:nvSpPr>
          <p:cNvPr id="397" name="Google Shape;397;g279ef9b7fc5_0_167"/>
          <p:cNvSpPr/>
          <p:nvPr/>
        </p:nvSpPr>
        <p:spPr>
          <a:xfrm>
            <a:off x="2539460" y="152027"/>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Features of Java</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g279ef9b7fc5_0_172"/>
          <p:cNvSpPr txBox="1"/>
          <p:nvPr/>
        </p:nvSpPr>
        <p:spPr>
          <a:xfrm>
            <a:off x="9059875" y="1507113"/>
            <a:ext cx="2085300" cy="1150800"/>
          </a:xfrm>
          <a:prstGeom prst="rect">
            <a:avLst/>
          </a:prstGeom>
          <a:noFill/>
          <a:ln>
            <a:noFill/>
          </a:ln>
        </p:spPr>
        <p:txBody>
          <a:bodyPr anchorCtr="0" anchor="t" bIns="0" lIns="0" spcFirstLastPara="1" rIns="0" wrap="square" tIns="90575">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dependent</a:t>
            </a:r>
            <a:endParaRPr b="0" i="0" sz="3200" u="none" cap="none" strike="noStrike">
              <a:solidFill>
                <a:schemeClr val="dk1"/>
              </a:solidFill>
              <a:latin typeface="Arial"/>
              <a:ea typeface="Arial"/>
              <a:cs typeface="Arial"/>
              <a:sym typeface="Arial"/>
            </a:endParaRPr>
          </a:p>
          <a:p>
            <a:pPr indent="0" lvl="0" marL="220127" marR="0" rtl="0" algn="l">
              <a:lnSpc>
                <a:spcPct val="100000"/>
              </a:lnSpc>
              <a:spcBef>
                <a:spcPts val="579"/>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fixed.</a:t>
            </a:r>
            <a:endParaRPr b="0" i="0" sz="3200" u="none" cap="none" strike="noStrike">
              <a:solidFill>
                <a:schemeClr val="dk1"/>
              </a:solidFill>
              <a:latin typeface="Arial"/>
              <a:ea typeface="Arial"/>
              <a:cs typeface="Arial"/>
              <a:sym typeface="Arial"/>
            </a:endParaRPr>
          </a:p>
        </p:txBody>
      </p:sp>
      <p:sp>
        <p:nvSpPr>
          <p:cNvPr id="403" name="Google Shape;403;g279ef9b7fc5_0_172"/>
          <p:cNvSpPr txBox="1"/>
          <p:nvPr/>
        </p:nvSpPr>
        <p:spPr>
          <a:xfrm>
            <a:off x="539022" y="989023"/>
            <a:ext cx="8520900" cy="2157600"/>
          </a:xfrm>
          <a:prstGeom prst="rect">
            <a:avLst/>
          </a:prstGeom>
          <a:noFill/>
          <a:ln>
            <a:noFill/>
          </a:ln>
        </p:spPr>
        <p:txBody>
          <a:bodyPr anchorCtr="0" anchor="t" bIns="0" lIns="0" spcFirstLastPara="1" rIns="0" wrap="square" tIns="65175">
            <a:spAutoFit/>
          </a:bodyPr>
          <a:lstStyle/>
          <a:p>
            <a:pPr indent="-407235" lvl="0" marL="424168" marR="0" rtl="0" algn="l">
              <a:lnSpc>
                <a:spcPct val="100000"/>
              </a:lnSpc>
              <a:spcBef>
                <a:spcPts val="0"/>
              </a:spcBef>
              <a:spcAft>
                <a:spcPts val="0"/>
              </a:spcAft>
              <a:buClr>
                <a:srgbClr val="FFFFFF"/>
              </a:buClr>
              <a:buSzPts val="4600"/>
              <a:buFont typeface="MS PGothic"/>
              <a:buChar char="➢"/>
            </a:pPr>
            <a:r>
              <a:rPr b="1" baseline="30000" i="0" lang="en-IN" sz="4800" u="none" cap="none" strike="noStrike">
                <a:solidFill>
                  <a:srgbClr val="00FF00"/>
                </a:solidFill>
                <a:latin typeface="Arial"/>
                <a:ea typeface="Arial"/>
                <a:cs typeface="Arial"/>
                <a:sym typeface="Arial"/>
              </a:rPr>
              <a:t>Architecture - </a:t>
            </a:r>
            <a:r>
              <a:rPr b="1" baseline="30000" i="0" lang="en-IN" sz="4800" u="none" cap="none" strike="noStrike">
                <a:solidFill>
                  <a:srgbClr val="FFFFFF"/>
                </a:solidFill>
                <a:latin typeface="Arial"/>
                <a:ea typeface="Arial"/>
                <a:cs typeface="Arial"/>
                <a:sym typeface="Arial"/>
              </a:rPr>
              <a:t>In	</a:t>
            </a:r>
            <a:r>
              <a:rPr b="1" i="0" lang="en-IN" sz="3200" u="none" cap="none" strike="noStrike">
                <a:solidFill>
                  <a:srgbClr val="00FF00"/>
                </a:solidFill>
                <a:latin typeface="Arial"/>
                <a:ea typeface="Arial"/>
                <a:cs typeface="Arial"/>
                <a:sym typeface="Arial"/>
              </a:rPr>
              <a:t>neutral</a:t>
            </a:r>
            <a:r>
              <a:rPr b="1" i="0" lang="en-IN" sz="3200" u="none" cap="none" strike="noStrike">
                <a:solidFill>
                  <a:srgbClr val="FFFFFF"/>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a:p>
            <a:pPr indent="0" lvl="0" marL="0" marR="0" rtl="0" algn="l">
              <a:lnSpc>
                <a:spcPct val="100000"/>
              </a:lnSpc>
              <a:spcBef>
                <a:spcPts val="380"/>
              </a:spcBef>
              <a:spcAft>
                <a:spcPts val="0"/>
              </a:spcAft>
              <a:buClr>
                <a:srgbClr val="000000"/>
              </a:buClr>
              <a:buSzPts val="3200"/>
              <a:buFont typeface="Arial"/>
              <a:buNone/>
            </a:pPr>
            <a:r>
              <a:rPr b="1" lang="en-IN" sz="3200">
                <a:solidFill>
                  <a:schemeClr val="dk1"/>
                </a:solidFill>
              </a:rPr>
              <a:t> </a:t>
            </a:r>
            <a:r>
              <a:rPr b="1" i="0" lang="en-IN" sz="3200" u="none" cap="none" strike="noStrike">
                <a:solidFill>
                  <a:schemeClr val="dk1"/>
                </a:solidFill>
                <a:latin typeface="Arial"/>
                <a:ea typeface="Arial"/>
                <a:cs typeface="Arial"/>
                <a:sym typeface="Arial"/>
              </a:rPr>
              <a:t>java	there	is	no	implementation</a:t>
            </a:r>
            <a:endParaRPr b="0" i="0" sz="3200" u="none" cap="none" strike="noStrike">
              <a:solidFill>
                <a:schemeClr val="dk1"/>
              </a:solidFill>
              <a:latin typeface="Arial"/>
              <a:ea typeface="Arial"/>
              <a:cs typeface="Arial"/>
              <a:sym typeface="Arial"/>
            </a:endParaRPr>
          </a:p>
          <a:p>
            <a:pPr indent="0" lvl="0" marL="118530" marR="0" rtl="0" algn="l">
              <a:lnSpc>
                <a:spcPct val="100000"/>
              </a:lnSpc>
              <a:spcBef>
                <a:spcPts val="567"/>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feature	e.g.	size	of	primitive	types	</a:t>
            </a:r>
            <a:r>
              <a:rPr b="1" baseline="-25000" i="0" lang="en-IN" sz="4800" u="none" cap="none" strike="noStrike">
                <a:solidFill>
                  <a:schemeClr val="dk1"/>
                </a:solidFill>
                <a:latin typeface="Arial"/>
                <a:ea typeface="Arial"/>
                <a:cs typeface="Arial"/>
                <a:sym typeface="Arial"/>
              </a:rPr>
              <a:t>is</a:t>
            </a:r>
            <a:endParaRPr b="0" baseline="-25000" i="0" sz="4800" u="none" cap="none" strike="noStrike">
              <a:solidFill>
                <a:schemeClr val="dk1"/>
              </a:solidFill>
              <a:latin typeface="Arial"/>
              <a:ea typeface="Arial"/>
              <a:cs typeface="Arial"/>
              <a:sym typeface="Arial"/>
            </a:endParaRPr>
          </a:p>
        </p:txBody>
      </p:sp>
      <p:sp>
        <p:nvSpPr>
          <p:cNvPr id="404" name="Google Shape;404;g279ef9b7fc5_0_172"/>
          <p:cNvSpPr txBox="1"/>
          <p:nvPr/>
        </p:nvSpPr>
        <p:spPr>
          <a:xfrm>
            <a:off x="640622" y="3281341"/>
            <a:ext cx="10766100" cy="5097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In	C	programming,	float	data	type	occupies	4	bytes</a:t>
            </a:r>
            <a:endParaRPr b="0" i="0" sz="3200" u="none" cap="none" strike="noStrike">
              <a:solidFill>
                <a:schemeClr val="dk1"/>
              </a:solidFill>
              <a:latin typeface="Arial"/>
              <a:ea typeface="Arial"/>
              <a:cs typeface="Arial"/>
              <a:sym typeface="Arial"/>
            </a:endParaRPr>
          </a:p>
        </p:txBody>
      </p:sp>
      <p:sp>
        <p:nvSpPr>
          <p:cNvPr id="405" name="Google Shape;405;g279ef9b7fc5_0_172"/>
          <p:cNvSpPr txBox="1"/>
          <p:nvPr/>
        </p:nvSpPr>
        <p:spPr>
          <a:xfrm>
            <a:off x="640622" y="3768513"/>
            <a:ext cx="8790900" cy="1643400"/>
          </a:xfrm>
          <a:prstGeom prst="rect">
            <a:avLst/>
          </a:prstGeom>
          <a:noFill/>
          <a:ln>
            <a:noFill/>
          </a:ln>
        </p:spPr>
        <p:txBody>
          <a:bodyPr anchorCtr="0" anchor="t" bIns="0" lIns="0" spcFirstLastPara="1" rIns="0" wrap="square" tIns="16925">
            <a:spAutoFit/>
          </a:bodyPr>
          <a:lstStyle/>
          <a:p>
            <a:pPr indent="0" lvl="0" marL="16932" marR="6772" rtl="0" algn="l">
              <a:lnSpc>
                <a:spcPct val="1151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of	memory	for	32-bit		architecture		and		8  memory	for	64-bit	architecture.	But	in</a:t>
            </a:r>
            <a:endParaRPr b="0" i="0" sz="3200" u="none" cap="none" strike="noStrike">
              <a:solidFill>
                <a:schemeClr val="dk1"/>
              </a:solidFill>
              <a:latin typeface="Arial"/>
              <a:ea typeface="Arial"/>
              <a:cs typeface="Arial"/>
              <a:sym typeface="Arial"/>
            </a:endParaRPr>
          </a:p>
        </p:txBody>
      </p:sp>
      <p:sp>
        <p:nvSpPr>
          <p:cNvPr id="406" name="Google Shape;406;g279ef9b7fc5_0_172"/>
          <p:cNvSpPr txBox="1"/>
          <p:nvPr/>
        </p:nvSpPr>
        <p:spPr>
          <a:xfrm>
            <a:off x="9641996" y="3768500"/>
            <a:ext cx="2626500" cy="1643400"/>
          </a:xfrm>
          <a:prstGeom prst="rect">
            <a:avLst/>
          </a:prstGeom>
          <a:noFill/>
          <a:ln>
            <a:noFill/>
          </a:ln>
        </p:spPr>
        <p:txBody>
          <a:bodyPr anchorCtr="0" anchor="t" bIns="0" lIns="0" spcFirstLastPara="1" rIns="0" wrap="square" tIns="16925">
            <a:spAutoFit/>
          </a:bodyPr>
          <a:lstStyle/>
          <a:p>
            <a:pPr indent="-165096" lvl="0" marL="181182" marR="6772" rtl="0" algn="l">
              <a:lnSpc>
                <a:spcPct val="1151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bytes	</a:t>
            </a:r>
            <a:r>
              <a:rPr b="1" i="0" lang="en-IN" sz="3200" u="none" cap="none" strike="noStrike">
                <a:solidFill>
                  <a:schemeClr val="dk1"/>
                </a:solidFill>
                <a:latin typeface="Arial"/>
                <a:ea typeface="Arial"/>
                <a:cs typeface="Arial"/>
                <a:sym typeface="Arial"/>
              </a:rPr>
              <a:t>of  </a:t>
            </a:r>
            <a:r>
              <a:rPr b="1" i="0" lang="en-IN" sz="3200" u="none" cap="none" strike="noStrike">
                <a:solidFill>
                  <a:schemeClr val="dk1"/>
                </a:solidFill>
                <a:latin typeface="Arial"/>
                <a:ea typeface="Arial"/>
                <a:cs typeface="Arial"/>
                <a:sym typeface="Arial"/>
              </a:rPr>
              <a:t>java,</a:t>
            </a:r>
            <a:r>
              <a:rPr b="1" lang="en-IN" sz="3200">
                <a:solidFill>
                  <a:schemeClr val="dk1"/>
                </a:solidFill>
              </a:rPr>
              <a:t>occupy</a:t>
            </a:r>
            <a:r>
              <a:rPr b="1" i="0" lang="en-IN" sz="3200" u="none" cap="none" strike="noStrike">
                <a:solidFill>
                  <a:schemeClr val="dk1"/>
                </a:solidFill>
                <a:latin typeface="Arial"/>
                <a:ea typeface="Arial"/>
                <a:cs typeface="Arial"/>
                <a:sym typeface="Arial"/>
              </a:rPr>
              <a:t>	</a:t>
            </a:r>
            <a:r>
              <a:rPr b="1" i="0" lang="en-IN" sz="3200" u="none" cap="none" strike="noStrike">
                <a:solidFill>
                  <a:schemeClr val="dk1"/>
                </a:solidFill>
                <a:latin typeface="Arial"/>
                <a:ea typeface="Arial"/>
                <a:cs typeface="Arial"/>
                <a:sym typeface="Arial"/>
              </a:rPr>
              <a:t>	it</a:t>
            </a:r>
            <a:endParaRPr b="0" i="0" sz="3200" u="none" cap="none" strike="noStrike">
              <a:solidFill>
                <a:schemeClr val="dk1"/>
              </a:solidFill>
              <a:latin typeface="Arial"/>
              <a:ea typeface="Arial"/>
              <a:cs typeface="Arial"/>
              <a:sym typeface="Arial"/>
            </a:endParaRPr>
          </a:p>
        </p:txBody>
      </p:sp>
      <p:sp>
        <p:nvSpPr>
          <p:cNvPr id="407" name="Google Shape;407;g279ef9b7fc5_0_172"/>
          <p:cNvSpPr txBox="1"/>
          <p:nvPr/>
        </p:nvSpPr>
        <p:spPr>
          <a:xfrm>
            <a:off x="434275" y="4891625"/>
            <a:ext cx="11598900" cy="1075200"/>
          </a:xfrm>
          <a:prstGeom prst="rect">
            <a:avLst/>
          </a:prstGeom>
          <a:noFill/>
          <a:ln>
            <a:noFill/>
          </a:ln>
        </p:spPr>
        <p:txBody>
          <a:bodyPr anchorCtr="0" anchor="t" bIns="0" lIns="0" spcFirstLastPara="1" rIns="0" wrap="square" tIns="16075">
            <a:spAutoFit/>
          </a:bodyPr>
          <a:lstStyle/>
          <a:p>
            <a:pPr indent="0" lvl="0" marL="16931" marR="6771" rtl="0" algn="l">
              <a:lnSpc>
                <a:spcPct val="114999"/>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occupies	</a:t>
            </a:r>
            <a:r>
              <a:rPr b="1" i="0" lang="en-IN" sz="2800" u="none" cap="none" strike="noStrike">
                <a:solidFill>
                  <a:schemeClr val="dk1"/>
                </a:solidFill>
                <a:latin typeface="Arial"/>
                <a:ea typeface="Arial"/>
                <a:cs typeface="Arial"/>
                <a:sym typeface="Arial"/>
              </a:rPr>
              <a:t>4	bytes	of	memory	for	both	32	and	64 architectures.</a:t>
            </a:r>
            <a:r>
              <a:rPr b="1" i="0" lang="en-IN" sz="3200" u="none" cap="none" strike="noStrike">
                <a:solidFill>
                  <a:schemeClr val="dk1"/>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sp>
        <p:nvSpPr>
          <p:cNvPr id="408" name="Google Shape;408;g279ef9b7fc5_0_172"/>
          <p:cNvSpPr/>
          <p:nvPr/>
        </p:nvSpPr>
        <p:spPr>
          <a:xfrm>
            <a:off x="2370403" y="239713"/>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Features of Java</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g279ef9b7fc5_0_182"/>
          <p:cNvSpPr txBox="1"/>
          <p:nvPr/>
        </p:nvSpPr>
        <p:spPr>
          <a:xfrm>
            <a:off x="539021" y="1000551"/>
            <a:ext cx="10866000" cy="1603200"/>
          </a:xfrm>
          <a:prstGeom prst="rect">
            <a:avLst/>
          </a:prstGeom>
          <a:noFill/>
          <a:ln>
            <a:noFill/>
          </a:ln>
        </p:spPr>
        <p:txBody>
          <a:bodyPr anchorCtr="0" anchor="t" bIns="0" lIns="0" spcFirstLastPara="1" rIns="0" wrap="square" tIns="16075">
            <a:spAutoFit/>
          </a:bodyPr>
          <a:lstStyle/>
          <a:p>
            <a:pPr indent="-712029" lvl="0" marL="728115" marR="6772" rtl="0" algn="just">
              <a:lnSpc>
                <a:spcPct val="111100"/>
              </a:lnSpc>
              <a:spcBef>
                <a:spcPts val="0"/>
              </a:spcBef>
              <a:spcAft>
                <a:spcPts val="0"/>
              </a:spcAft>
              <a:buClr>
                <a:srgbClr val="FFFFFF"/>
              </a:buClr>
              <a:buSzPts val="3200"/>
              <a:buFont typeface="MS PGothic"/>
              <a:buChar char="➢"/>
            </a:pPr>
            <a:r>
              <a:rPr b="1" i="0" lang="en-IN" sz="3200" u="none" cap="none" strike="noStrike">
                <a:solidFill>
                  <a:srgbClr val="00FF00"/>
                </a:solidFill>
                <a:latin typeface="Arial"/>
                <a:ea typeface="Arial"/>
                <a:cs typeface="Arial"/>
                <a:sym typeface="Arial"/>
              </a:rPr>
              <a:t>Multi threaded</a:t>
            </a:r>
            <a:r>
              <a:rPr b="1" i="0" lang="en-IN" sz="3200" u="none" cap="none" strike="noStrike">
                <a:solidFill>
                  <a:schemeClr val="dk1"/>
                </a:solidFill>
                <a:latin typeface="Arial"/>
                <a:ea typeface="Arial"/>
                <a:cs typeface="Arial"/>
                <a:sym typeface="Arial"/>
              </a:rPr>
              <a:t>: Java supports multithreading. It  enables a program to perform several tasks  simultaneously.</a:t>
            </a:r>
            <a:endParaRPr b="0" i="0" sz="3200" u="none" cap="none" strike="noStrike">
              <a:solidFill>
                <a:schemeClr val="dk1"/>
              </a:solidFill>
              <a:latin typeface="Arial"/>
              <a:ea typeface="Arial"/>
              <a:cs typeface="Arial"/>
              <a:sym typeface="Arial"/>
            </a:endParaRPr>
          </a:p>
        </p:txBody>
      </p:sp>
      <p:sp>
        <p:nvSpPr>
          <p:cNvPr id="414" name="Google Shape;414;g279ef9b7fc5_0_182"/>
          <p:cNvSpPr txBox="1"/>
          <p:nvPr/>
        </p:nvSpPr>
        <p:spPr>
          <a:xfrm>
            <a:off x="539025" y="2827572"/>
            <a:ext cx="7416900" cy="1002300"/>
          </a:xfrm>
          <a:prstGeom prst="rect">
            <a:avLst/>
          </a:prstGeom>
          <a:noFill/>
          <a:ln>
            <a:noFill/>
          </a:ln>
        </p:spPr>
        <p:txBody>
          <a:bodyPr anchorCtr="0" anchor="t" bIns="0" lIns="0" spcFirstLastPara="1" rIns="0" wrap="square" tIns="16925">
            <a:spAutoFit/>
          </a:bodyPr>
          <a:lstStyle/>
          <a:p>
            <a:pPr indent="-712029" lvl="0" marL="728115" marR="0" rtl="0" algn="l">
              <a:lnSpc>
                <a:spcPct val="100000"/>
              </a:lnSpc>
              <a:spcBef>
                <a:spcPts val="0"/>
              </a:spcBef>
              <a:spcAft>
                <a:spcPts val="0"/>
              </a:spcAft>
              <a:buClr>
                <a:srgbClr val="FFFFFF"/>
              </a:buClr>
              <a:buSzPts val="3200"/>
              <a:buFont typeface="MS PGothic"/>
              <a:buChar char="➢"/>
            </a:pPr>
            <a:r>
              <a:rPr b="1" i="0" lang="en-IN" sz="3200" u="none" cap="none" strike="noStrike">
                <a:solidFill>
                  <a:srgbClr val="00FF00"/>
                </a:solidFill>
                <a:latin typeface="Arial"/>
                <a:ea typeface="Arial"/>
                <a:cs typeface="Arial"/>
                <a:sym typeface="Arial"/>
              </a:rPr>
              <a:t>Interpreted and High Performance</a:t>
            </a:r>
            <a:r>
              <a:rPr b="1" i="0" lang="en-IN" sz="3200" u="none" cap="none" strike="noStrike">
                <a:solidFill>
                  <a:schemeClr val="dk1"/>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sp>
        <p:nvSpPr>
          <p:cNvPr id="415" name="Google Shape;415;g279ef9b7fc5_0_182"/>
          <p:cNvSpPr txBox="1"/>
          <p:nvPr/>
        </p:nvSpPr>
        <p:spPr>
          <a:xfrm>
            <a:off x="913726" y="3773163"/>
            <a:ext cx="3999000" cy="5097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Java	interpreter</a:t>
            </a:r>
            <a:endParaRPr b="0" i="0" sz="3200" u="none" cap="none" strike="noStrike">
              <a:solidFill>
                <a:schemeClr val="dk1"/>
              </a:solidFill>
              <a:latin typeface="Arial"/>
              <a:ea typeface="Arial"/>
              <a:cs typeface="Arial"/>
              <a:sym typeface="Arial"/>
            </a:endParaRPr>
          </a:p>
        </p:txBody>
      </p:sp>
      <p:sp>
        <p:nvSpPr>
          <p:cNvPr id="416" name="Google Shape;416;g279ef9b7fc5_0_182"/>
          <p:cNvSpPr txBox="1"/>
          <p:nvPr/>
        </p:nvSpPr>
        <p:spPr>
          <a:xfrm>
            <a:off x="4912697" y="3801635"/>
            <a:ext cx="1727100" cy="5097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converts</a:t>
            </a:r>
            <a:endParaRPr b="0" i="0" sz="3200" u="none" cap="none" strike="noStrike">
              <a:solidFill>
                <a:schemeClr val="dk1"/>
              </a:solidFill>
              <a:latin typeface="Arial"/>
              <a:ea typeface="Arial"/>
              <a:cs typeface="Arial"/>
              <a:sym typeface="Arial"/>
            </a:endParaRPr>
          </a:p>
        </p:txBody>
      </p:sp>
      <p:sp>
        <p:nvSpPr>
          <p:cNvPr id="417" name="Google Shape;417;g279ef9b7fc5_0_182"/>
          <p:cNvSpPr txBox="1"/>
          <p:nvPr/>
        </p:nvSpPr>
        <p:spPr>
          <a:xfrm>
            <a:off x="5308352" y="3728150"/>
            <a:ext cx="4823100" cy="1150800"/>
          </a:xfrm>
          <a:prstGeom prst="rect">
            <a:avLst/>
          </a:prstGeom>
          <a:noFill/>
          <a:ln>
            <a:noFill/>
          </a:ln>
        </p:spPr>
        <p:txBody>
          <a:bodyPr anchorCtr="0" anchor="t" bIns="0" lIns="0" spcFirstLastPara="1" rIns="0" wrap="square" tIns="90575">
            <a:spAutoFit/>
          </a:bodyPr>
          <a:lstStyle/>
          <a:p>
            <a:pPr indent="0" lvl="0" marL="0" marR="6772" rtl="0" algn="r">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the	bytecode</a:t>
            </a:r>
            <a:endParaRPr b="0" i="0" sz="3200" u="none" cap="none" strike="noStrike">
              <a:solidFill>
                <a:schemeClr val="dk1"/>
              </a:solidFill>
              <a:latin typeface="Arial"/>
              <a:ea typeface="Arial"/>
              <a:cs typeface="Arial"/>
              <a:sym typeface="Arial"/>
            </a:endParaRPr>
          </a:p>
          <a:p>
            <a:pPr indent="0" lvl="0" marL="0" marR="24552" rtl="0" algn="l">
              <a:lnSpc>
                <a:spcPct val="100000"/>
              </a:lnSpc>
              <a:spcBef>
                <a:spcPts val="579"/>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code.	For	very</a:t>
            </a:r>
            <a:endParaRPr b="0" i="0" sz="3200" u="none" cap="none" strike="noStrike">
              <a:solidFill>
                <a:schemeClr val="dk1"/>
              </a:solidFill>
              <a:latin typeface="Arial"/>
              <a:ea typeface="Arial"/>
              <a:cs typeface="Arial"/>
              <a:sym typeface="Arial"/>
            </a:endParaRPr>
          </a:p>
        </p:txBody>
      </p:sp>
      <p:sp>
        <p:nvSpPr>
          <p:cNvPr id="418" name="Google Shape;418;g279ef9b7fc5_0_182"/>
          <p:cNvSpPr txBox="1"/>
          <p:nvPr/>
        </p:nvSpPr>
        <p:spPr>
          <a:xfrm>
            <a:off x="10461243" y="3728153"/>
            <a:ext cx="899100" cy="1150800"/>
          </a:xfrm>
          <a:prstGeom prst="rect">
            <a:avLst/>
          </a:prstGeom>
          <a:noFill/>
          <a:ln>
            <a:noFill/>
          </a:ln>
        </p:spPr>
        <p:txBody>
          <a:bodyPr anchorCtr="0" anchor="t" bIns="0" lIns="0" spcFirstLastPara="1" rIns="0" wrap="square" tIns="90575">
            <a:spAutoFit/>
          </a:bodyPr>
          <a:lstStyle/>
          <a:p>
            <a:pPr indent="0" lvl="0" marL="134617"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into</a:t>
            </a:r>
            <a:endParaRPr b="0" i="0" sz="3200" u="none" cap="none" strike="noStrike">
              <a:solidFill>
                <a:schemeClr val="dk1"/>
              </a:solidFill>
              <a:latin typeface="Arial"/>
              <a:ea typeface="Arial"/>
              <a:cs typeface="Arial"/>
              <a:sym typeface="Arial"/>
            </a:endParaRPr>
          </a:p>
          <a:p>
            <a:pPr indent="0" lvl="0" marL="16932" marR="0" rtl="0" algn="l">
              <a:lnSpc>
                <a:spcPct val="100000"/>
              </a:lnSpc>
              <a:spcBef>
                <a:spcPts val="579"/>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high</a:t>
            </a:r>
            <a:endParaRPr b="0" i="0" sz="3200" u="none" cap="none" strike="noStrike">
              <a:solidFill>
                <a:schemeClr val="dk1"/>
              </a:solidFill>
              <a:latin typeface="Arial"/>
              <a:ea typeface="Arial"/>
              <a:cs typeface="Arial"/>
              <a:sym typeface="Arial"/>
            </a:endParaRPr>
          </a:p>
        </p:txBody>
      </p:sp>
      <p:sp>
        <p:nvSpPr>
          <p:cNvPr id="419" name="Google Shape;419;g279ef9b7fc5_0_182"/>
          <p:cNvSpPr txBox="1"/>
          <p:nvPr/>
        </p:nvSpPr>
        <p:spPr>
          <a:xfrm>
            <a:off x="890558" y="4334763"/>
            <a:ext cx="5502600" cy="5097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processor	readable </a:t>
            </a:r>
            <a:endParaRPr b="0" baseline="-25000" i="0" sz="4800" u="none" cap="none" strike="noStrike">
              <a:solidFill>
                <a:schemeClr val="dk1"/>
              </a:solidFill>
              <a:latin typeface="Arial"/>
              <a:ea typeface="Arial"/>
              <a:cs typeface="Arial"/>
              <a:sym typeface="Arial"/>
            </a:endParaRPr>
          </a:p>
        </p:txBody>
      </p:sp>
      <p:sp>
        <p:nvSpPr>
          <p:cNvPr id="420" name="Google Shape;420;g279ef9b7fc5_0_182"/>
          <p:cNvSpPr txBox="1"/>
          <p:nvPr/>
        </p:nvSpPr>
        <p:spPr>
          <a:xfrm>
            <a:off x="841800" y="5142328"/>
            <a:ext cx="9486900" cy="10023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performance	it	uses </a:t>
            </a:r>
            <a:r>
              <a:rPr b="1" lang="en-IN" sz="3200">
                <a:solidFill>
                  <a:schemeClr val="dk1"/>
                </a:solidFill>
              </a:rPr>
              <a:t>a binary   j</a:t>
            </a:r>
            <a:r>
              <a:rPr b="1" i="0" lang="en-IN" sz="3200" u="none" cap="none" strike="noStrike">
                <a:solidFill>
                  <a:schemeClr val="dk1"/>
                </a:solidFill>
                <a:latin typeface="Arial"/>
                <a:ea typeface="Arial"/>
                <a:cs typeface="Arial"/>
                <a:sym typeface="Arial"/>
              </a:rPr>
              <a:t>ust-in-time	compiler.</a:t>
            </a:r>
            <a:endParaRPr b="0" i="0" sz="3200" u="none" cap="none" strike="noStrike">
              <a:solidFill>
                <a:schemeClr val="dk1"/>
              </a:solidFill>
              <a:latin typeface="Arial"/>
              <a:ea typeface="Arial"/>
              <a:cs typeface="Arial"/>
              <a:sym typeface="Arial"/>
            </a:endParaRPr>
          </a:p>
        </p:txBody>
      </p:sp>
      <p:sp>
        <p:nvSpPr>
          <p:cNvPr id="421" name="Google Shape;421;g279ef9b7fc5_0_182"/>
          <p:cNvSpPr/>
          <p:nvPr/>
        </p:nvSpPr>
        <p:spPr>
          <a:xfrm>
            <a:off x="2226968" y="154519"/>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Features of Java</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g279ef9b7fc5_0_194"/>
          <p:cNvSpPr txBox="1"/>
          <p:nvPr/>
        </p:nvSpPr>
        <p:spPr>
          <a:xfrm>
            <a:off x="539021" y="1000551"/>
            <a:ext cx="10866000" cy="2732100"/>
          </a:xfrm>
          <a:prstGeom prst="rect">
            <a:avLst/>
          </a:prstGeom>
          <a:noFill/>
          <a:ln>
            <a:noFill/>
          </a:ln>
        </p:spPr>
        <p:txBody>
          <a:bodyPr anchorCtr="0" anchor="t" bIns="0" lIns="0" spcFirstLastPara="1" rIns="0" wrap="square" tIns="16075">
            <a:spAutoFit/>
          </a:bodyPr>
          <a:lstStyle/>
          <a:p>
            <a:pPr indent="-712029" lvl="0" marL="728115" marR="7620" rtl="0" algn="just">
              <a:lnSpc>
                <a:spcPct val="111100"/>
              </a:lnSpc>
              <a:spcBef>
                <a:spcPts val="0"/>
              </a:spcBef>
              <a:spcAft>
                <a:spcPts val="0"/>
              </a:spcAft>
              <a:buClr>
                <a:srgbClr val="FFFFFF"/>
              </a:buClr>
              <a:buSzPts val="3200"/>
              <a:buFont typeface="MS PGothic"/>
              <a:buChar char="➢"/>
            </a:pPr>
            <a:r>
              <a:rPr b="1" i="0" lang="en-IN" sz="3200" u="none" cap="none" strike="noStrike">
                <a:solidFill>
                  <a:srgbClr val="00FF00"/>
                </a:solidFill>
                <a:latin typeface="Arial"/>
                <a:ea typeface="Arial"/>
                <a:cs typeface="Arial"/>
                <a:sym typeface="Arial"/>
              </a:rPr>
              <a:t>Distributed</a:t>
            </a:r>
            <a:r>
              <a:rPr b="1" i="0" lang="en-IN" sz="3200" u="none" cap="none" strike="noStrike">
                <a:solidFill>
                  <a:schemeClr val="dk1"/>
                </a:solidFill>
                <a:latin typeface="Arial"/>
                <a:ea typeface="Arial"/>
                <a:cs typeface="Arial"/>
                <a:sym typeface="Arial"/>
              </a:rPr>
              <a:t>: RMI(Remote Method Invocation) and  EJB(Enterprise Javabeans) are used for creating  distributed applications in java.</a:t>
            </a:r>
            <a:endParaRPr b="0" i="0" sz="3200" u="none" cap="none" strike="noStrike">
              <a:solidFill>
                <a:schemeClr val="dk1"/>
              </a:solidFill>
              <a:latin typeface="Arial"/>
              <a:ea typeface="Arial"/>
              <a:cs typeface="Arial"/>
              <a:sym typeface="Arial"/>
            </a:endParaRPr>
          </a:p>
          <a:p>
            <a:pPr indent="-712029" lvl="0" marL="728115" marR="6772" rtl="0" algn="just">
              <a:lnSpc>
                <a:spcPct val="110800"/>
              </a:lnSpc>
              <a:spcBef>
                <a:spcPts val="279"/>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In simple words: The java programs can be  distributed on more than one systems that are</a:t>
            </a:r>
            <a:endParaRPr b="0" i="0" sz="3200" u="none" cap="none" strike="noStrike">
              <a:solidFill>
                <a:schemeClr val="dk1"/>
              </a:solidFill>
              <a:latin typeface="Arial"/>
              <a:ea typeface="Arial"/>
              <a:cs typeface="Arial"/>
              <a:sym typeface="Arial"/>
            </a:endParaRPr>
          </a:p>
        </p:txBody>
      </p:sp>
      <p:sp>
        <p:nvSpPr>
          <p:cNvPr id="427" name="Google Shape;427;g279ef9b7fc5_0_194"/>
          <p:cNvSpPr txBox="1"/>
          <p:nvPr/>
        </p:nvSpPr>
        <p:spPr>
          <a:xfrm>
            <a:off x="1250629" y="3756970"/>
            <a:ext cx="5069700" cy="1641600"/>
          </a:xfrm>
          <a:prstGeom prst="rect">
            <a:avLst/>
          </a:prstGeom>
          <a:noFill/>
          <a:ln>
            <a:noFill/>
          </a:ln>
        </p:spPr>
        <p:txBody>
          <a:bodyPr anchorCtr="0" anchor="t" bIns="0" lIns="0" spcFirstLastPara="1" rIns="0" wrap="square" tIns="16075">
            <a:spAutoFit/>
          </a:bodyPr>
          <a:lstStyle/>
          <a:p>
            <a:pPr indent="0" lvl="0" marL="16932" marR="6772" rtl="0" algn="l">
              <a:lnSpc>
                <a:spcPct val="114999"/>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connected	to	each  connection.		Objects	on</a:t>
            </a:r>
            <a:endParaRPr b="0" i="0" sz="3200" u="none" cap="none" strike="noStrike">
              <a:solidFill>
                <a:schemeClr val="dk1"/>
              </a:solidFill>
              <a:latin typeface="Arial"/>
              <a:ea typeface="Arial"/>
              <a:cs typeface="Arial"/>
              <a:sym typeface="Arial"/>
            </a:endParaRPr>
          </a:p>
        </p:txBody>
      </p:sp>
      <p:sp>
        <p:nvSpPr>
          <p:cNvPr id="428" name="Google Shape;428;g279ef9b7fc5_0_194"/>
          <p:cNvSpPr txBox="1"/>
          <p:nvPr/>
        </p:nvSpPr>
        <p:spPr>
          <a:xfrm>
            <a:off x="6460236" y="3756970"/>
            <a:ext cx="3320700" cy="1075200"/>
          </a:xfrm>
          <a:prstGeom prst="rect">
            <a:avLst/>
          </a:prstGeom>
          <a:noFill/>
          <a:ln>
            <a:noFill/>
          </a:ln>
        </p:spPr>
        <p:txBody>
          <a:bodyPr anchorCtr="0" anchor="t" bIns="0" lIns="0" spcFirstLastPara="1" rIns="0" wrap="square" tIns="16075">
            <a:spAutoFit/>
          </a:bodyPr>
          <a:lstStyle/>
          <a:p>
            <a:pPr indent="-142236" lvl="0" marL="159169" marR="6772" rtl="0" algn="l">
              <a:lnSpc>
                <a:spcPct val="114999"/>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other		using</a:t>
            </a:r>
            <a:r>
              <a:rPr b="1" i="0" lang="en-IN" sz="3200" u="none" cap="none" strike="noStrike">
                <a:solidFill>
                  <a:schemeClr val="dk1"/>
                </a:solidFill>
                <a:latin typeface="Arial"/>
                <a:ea typeface="Arial"/>
                <a:cs typeface="Arial"/>
                <a:sym typeface="Arial"/>
              </a:rPr>
              <a:t>  </a:t>
            </a:r>
            <a:r>
              <a:rPr b="1" i="0" lang="en-IN" sz="3200" u="none" cap="none" strike="noStrike">
                <a:solidFill>
                  <a:schemeClr val="dk1"/>
                </a:solidFill>
                <a:latin typeface="Arial"/>
                <a:ea typeface="Arial"/>
                <a:cs typeface="Arial"/>
                <a:sym typeface="Arial"/>
              </a:rPr>
              <a:t>one	JVM	(java</a:t>
            </a:r>
            <a:endParaRPr b="0" i="0" sz="3200" u="none" cap="none" strike="noStrike">
              <a:solidFill>
                <a:schemeClr val="dk1"/>
              </a:solidFill>
              <a:latin typeface="Arial"/>
              <a:ea typeface="Arial"/>
              <a:cs typeface="Arial"/>
              <a:sym typeface="Arial"/>
            </a:endParaRPr>
          </a:p>
        </p:txBody>
      </p:sp>
      <p:sp>
        <p:nvSpPr>
          <p:cNvPr id="429" name="Google Shape;429;g279ef9b7fc5_0_194"/>
          <p:cNvSpPr txBox="1"/>
          <p:nvPr/>
        </p:nvSpPr>
        <p:spPr>
          <a:xfrm>
            <a:off x="9318924" y="3756975"/>
            <a:ext cx="2872800" cy="1075200"/>
          </a:xfrm>
          <a:prstGeom prst="rect">
            <a:avLst/>
          </a:prstGeom>
          <a:noFill/>
          <a:ln>
            <a:noFill/>
          </a:ln>
        </p:spPr>
        <p:txBody>
          <a:bodyPr anchorCtr="0" anchor="t" bIns="0" lIns="0" spcFirstLastPara="1" rIns="0" wrap="square" tIns="16075">
            <a:spAutoFit/>
          </a:bodyPr>
          <a:lstStyle/>
          <a:p>
            <a:pPr indent="-284473" lvl="0" marL="301406" marR="6772" rtl="0" algn="l">
              <a:lnSpc>
                <a:spcPct val="114999"/>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internet</a:t>
            </a:r>
            <a:r>
              <a:rPr b="1" i="0" lang="en-IN" sz="3200" u="none" cap="none" strike="noStrike">
                <a:solidFill>
                  <a:schemeClr val="dk1"/>
                </a:solidFill>
                <a:latin typeface="Arial"/>
                <a:ea typeface="Arial"/>
                <a:cs typeface="Arial"/>
                <a:sym typeface="Arial"/>
              </a:rPr>
              <a:t>  </a:t>
            </a:r>
            <a:r>
              <a:rPr b="1" i="0" lang="en-IN" sz="3200" u="none" cap="none" strike="noStrike">
                <a:solidFill>
                  <a:schemeClr val="dk1"/>
                </a:solidFill>
                <a:latin typeface="Arial"/>
                <a:ea typeface="Arial"/>
                <a:cs typeface="Arial"/>
                <a:sym typeface="Arial"/>
              </a:rPr>
              <a:t>virtual Ma</a:t>
            </a:r>
            <a:endParaRPr b="0" i="0" sz="3200" u="none" cap="none" strike="noStrike">
              <a:solidFill>
                <a:schemeClr val="dk1"/>
              </a:solidFill>
              <a:latin typeface="Arial"/>
              <a:ea typeface="Arial"/>
              <a:cs typeface="Arial"/>
              <a:sym typeface="Arial"/>
            </a:endParaRPr>
          </a:p>
        </p:txBody>
      </p:sp>
      <p:sp>
        <p:nvSpPr>
          <p:cNvPr id="430" name="Google Shape;430;g279ef9b7fc5_0_194"/>
          <p:cNvSpPr txBox="1"/>
          <p:nvPr/>
        </p:nvSpPr>
        <p:spPr>
          <a:xfrm>
            <a:off x="633325" y="4877750"/>
            <a:ext cx="10696200" cy="584100"/>
          </a:xfrm>
          <a:prstGeom prst="rect">
            <a:avLst/>
          </a:prstGeom>
          <a:noFill/>
          <a:ln>
            <a:noFill/>
          </a:ln>
        </p:spPr>
        <p:txBody>
          <a:bodyPr anchorCtr="0" anchor="t" bIns="0" lIns="0" spcFirstLastPara="1" rIns="0" wrap="square" tIns="90575">
            <a:spAutoFit/>
          </a:bodyPr>
          <a:lstStyle/>
          <a:p>
            <a:pPr indent="0" lvl="0" marL="16931" marR="0" rtl="0" algn="l">
              <a:lnSpc>
                <a:spcPct val="100000"/>
              </a:lnSpc>
              <a:spcBef>
                <a:spcPts val="0"/>
              </a:spcBef>
              <a:spcAft>
                <a:spcPts val="0"/>
              </a:spcAft>
              <a:buClr>
                <a:srgbClr val="000000"/>
              </a:buClr>
              <a:buSzPts val="3200"/>
              <a:buFont typeface="Arial"/>
              <a:buNone/>
            </a:pPr>
            <a:r>
              <a:rPr lang="en-IN" sz="3200">
                <a:solidFill>
                  <a:schemeClr val="dk1"/>
                </a:solidFill>
              </a:rPr>
              <a:t>Machine can execute procedures on remote JVM</a:t>
            </a:r>
            <a:endParaRPr b="0" i="0" sz="3200" u="none" cap="none" strike="noStrike">
              <a:solidFill>
                <a:schemeClr val="dk1"/>
              </a:solidFill>
              <a:latin typeface="Arial"/>
              <a:ea typeface="Arial"/>
              <a:cs typeface="Arial"/>
              <a:sym typeface="Arial"/>
            </a:endParaRPr>
          </a:p>
        </p:txBody>
      </p:sp>
      <p:sp>
        <p:nvSpPr>
          <p:cNvPr id="431" name="Google Shape;431;g279ef9b7fc5_0_194"/>
          <p:cNvSpPr/>
          <p:nvPr/>
        </p:nvSpPr>
        <p:spPr>
          <a:xfrm>
            <a:off x="2460051" y="239713"/>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D7AC54"/>
                </a:solidFill>
                <a:latin typeface="Cantarell"/>
                <a:ea typeface="Cantarell"/>
                <a:cs typeface="Cantarell"/>
                <a:sym typeface="Cantarell"/>
              </a:rPr>
              <a:t>Heading 1</a:t>
            </a:r>
            <a:endParaRPr b="1" i="0" sz="1800" u="none" cap="none" strike="noStrike">
              <a:solidFill>
                <a:srgbClr val="D7AC54"/>
              </a:solidFill>
              <a:latin typeface="Cantarell"/>
              <a:ea typeface="Cantarell"/>
              <a:cs typeface="Cantarell"/>
              <a:sym typeface="Cantare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g279ef9b7fc5_0_203"/>
          <p:cNvSpPr txBox="1"/>
          <p:nvPr>
            <p:ph type="title"/>
          </p:nvPr>
        </p:nvSpPr>
        <p:spPr>
          <a:xfrm>
            <a:off x="1666875" y="2197194"/>
            <a:ext cx="8858400" cy="1824000"/>
          </a:xfrm>
          <a:prstGeom prst="rect">
            <a:avLst/>
          </a:prstGeom>
          <a:noFill/>
          <a:ln>
            <a:noFill/>
          </a:ln>
        </p:spPr>
        <p:txBody>
          <a:bodyPr anchorCtr="0" anchor="t" bIns="0" lIns="0" spcFirstLastPara="1" rIns="0" wrap="square" tIns="17775">
            <a:spAutoFit/>
          </a:bodyPr>
          <a:lstStyle/>
          <a:p>
            <a:pPr indent="-2050575" lvl="0" marL="2066662" marR="6772" rtl="0" algn="l">
              <a:lnSpc>
                <a:spcPct val="100000"/>
              </a:lnSpc>
              <a:spcBef>
                <a:spcPts val="0"/>
              </a:spcBef>
              <a:spcAft>
                <a:spcPts val="0"/>
              </a:spcAft>
              <a:buClr>
                <a:srgbClr val="BF9000"/>
              </a:buClr>
              <a:buSzPts val="5867"/>
              <a:buFont typeface="Calibri"/>
              <a:buNone/>
            </a:pPr>
            <a:r>
              <a:rPr b="1" i="0" lang="en-IN" sz="5867" u="none" cap="none" strike="noStrike">
                <a:solidFill>
                  <a:srgbClr val="BF9000"/>
                </a:solidFill>
                <a:latin typeface="Calibri"/>
                <a:ea typeface="Calibri"/>
                <a:cs typeface="Calibri"/>
                <a:sym typeface="Calibri"/>
              </a:rPr>
              <a:t>Difference Between JDK,  JVM              and JRE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pic>
        <p:nvPicPr>
          <p:cNvPr id="441" name="Google Shape;441;g279ef9b7fc5_0_207"/>
          <p:cNvPicPr preferRelativeResize="0"/>
          <p:nvPr/>
        </p:nvPicPr>
        <p:blipFill rotWithShape="1">
          <a:blip r:embed="rId3">
            <a:alphaModFix/>
          </a:blip>
          <a:srcRect b="0" l="0" r="0" t="0"/>
          <a:stretch/>
        </p:blipFill>
        <p:spPr>
          <a:xfrm>
            <a:off x="618566" y="747776"/>
            <a:ext cx="8916415" cy="536244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g279ef9b7fc5_0_211"/>
          <p:cNvSpPr txBox="1"/>
          <p:nvPr/>
        </p:nvSpPr>
        <p:spPr>
          <a:xfrm>
            <a:off x="488221" y="1615102"/>
            <a:ext cx="11272500" cy="964500"/>
          </a:xfrm>
          <a:prstGeom prst="rect">
            <a:avLst/>
          </a:prstGeom>
          <a:noFill/>
          <a:ln>
            <a:noFill/>
          </a:ln>
        </p:spPr>
        <p:txBody>
          <a:bodyPr anchorCtr="0" anchor="t" bIns="0" lIns="0" spcFirstLastPara="1" rIns="0" wrap="square" tIns="16925">
            <a:spAutoFit/>
          </a:bodyPr>
          <a:lstStyle/>
          <a:p>
            <a:pPr indent="-699329" lvl="0" marL="728115" marR="0" rtl="0" algn="l">
              <a:lnSpc>
                <a:spcPct val="100000"/>
              </a:lnSpc>
              <a:spcBef>
                <a:spcPts val="0"/>
              </a:spcBef>
              <a:spcAft>
                <a:spcPts val="0"/>
              </a:spcAft>
              <a:buClr>
                <a:schemeClr val="dk1"/>
              </a:buClr>
              <a:buSzPts val="3000"/>
              <a:buFont typeface="MS PGothic"/>
              <a:buChar char="➢"/>
            </a:pPr>
            <a:r>
              <a:rPr b="1" i="0" lang="en-IN" sz="3000" u="none" cap="none" strike="noStrike">
                <a:solidFill>
                  <a:schemeClr val="dk1"/>
                </a:solidFill>
                <a:latin typeface="Arial"/>
                <a:ea typeface="Arial"/>
                <a:cs typeface="Arial"/>
                <a:sym typeface="Arial"/>
              </a:rPr>
              <a:t>JVM is the heart of Java programming Language.</a:t>
            </a:r>
            <a:endParaRPr b="0" i="0" sz="3000" u="none" cap="none" strike="noStrike">
              <a:solidFill>
                <a:schemeClr val="dk1"/>
              </a:solidFill>
              <a:latin typeface="Arial"/>
              <a:ea typeface="Arial"/>
              <a:cs typeface="Arial"/>
              <a:sym typeface="Arial"/>
            </a:endParaRPr>
          </a:p>
          <a:p>
            <a:pPr indent="-699329" lvl="0" marL="728115" marR="0" rtl="0" algn="l">
              <a:lnSpc>
                <a:spcPct val="100000"/>
              </a:lnSpc>
              <a:spcBef>
                <a:spcPts val="187"/>
              </a:spcBef>
              <a:spcAft>
                <a:spcPts val="0"/>
              </a:spcAft>
              <a:buClr>
                <a:schemeClr val="dk1"/>
              </a:buClr>
              <a:buSzPts val="3000"/>
              <a:buFont typeface="MS PGothic"/>
              <a:buChar char="➢"/>
            </a:pPr>
            <a:r>
              <a:rPr b="1" i="0" lang="en-IN" sz="3000" u="none" cap="none" strike="noStrike">
                <a:solidFill>
                  <a:schemeClr val="dk1"/>
                </a:solidFill>
                <a:latin typeface="Arial"/>
                <a:ea typeface="Arial"/>
                <a:cs typeface="Arial"/>
                <a:sym typeface="Arial"/>
              </a:rPr>
              <a:t>As we all aware when we compile a java file, output	is</a:t>
            </a:r>
            <a:endParaRPr b="0" i="0" sz="3000" u="none" cap="none" strike="noStrike">
              <a:solidFill>
                <a:schemeClr val="dk1"/>
              </a:solidFill>
              <a:latin typeface="Arial"/>
              <a:ea typeface="Arial"/>
              <a:cs typeface="Arial"/>
              <a:sym typeface="Arial"/>
            </a:endParaRPr>
          </a:p>
        </p:txBody>
      </p:sp>
      <p:sp>
        <p:nvSpPr>
          <p:cNvPr id="447" name="Google Shape;447;g279ef9b7fc5_0_211"/>
          <p:cNvSpPr txBox="1"/>
          <p:nvPr/>
        </p:nvSpPr>
        <p:spPr>
          <a:xfrm>
            <a:off x="11137560" y="2688506"/>
            <a:ext cx="621600" cy="5097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rgbClr val="F3F3F3"/>
                </a:solidFill>
                <a:latin typeface="Arial"/>
                <a:ea typeface="Arial"/>
                <a:cs typeface="Arial"/>
                <a:sym typeface="Arial"/>
              </a:rPr>
              <a:t>file</a:t>
            </a:r>
            <a:endParaRPr b="0" i="0" sz="3200" u="none" cap="none" strike="noStrike">
              <a:solidFill>
                <a:schemeClr val="dk1"/>
              </a:solidFill>
              <a:latin typeface="Arial"/>
              <a:ea typeface="Arial"/>
              <a:cs typeface="Arial"/>
              <a:sym typeface="Arial"/>
            </a:endParaRPr>
          </a:p>
        </p:txBody>
      </p:sp>
      <p:sp>
        <p:nvSpPr>
          <p:cNvPr id="448" name="Google Shape;448;g279ef9b7fc5_0_211"/>
          <p:cNvSpPr txBox="1"/>
          <p:nvPr/>
        </p:nvSpPr>
        <p:spPr>
          <a:xfrm>
            <a:off x="488221" y="2615354"/>
            <a:ext cx="11270700" cy="1716000"/>
          </a:xfrm>
          <a:prstGeom prst="rect">
            <a:avLst/>
          </a:prstGeom>
          <a:noFill/>
          <a:ln>
            <a:noFill/>
          </a:ln>
        </p:spPr>
        <p:txBody>
          <a:bodyPr anchorCtr="0" anchor="t" bIns="0" lIns="0" spcFirstLastPara="1" rIns="0" wrap="square" tIns="16925">
            <a:spAutoFit/>
          </a:bodyPr>
          <a:lstStyle/>
          <a:p>
            <a:pPr indent="0" lvl="0" marL="728115" marR="886438" rtl="0" algn="l">
              <a:lnSpc>
                <a:spcPct val="114999"/>
              </a:lnSpc>
              <a:spcBef>
                <a:spcPts val="0"/>
              </a:spcBef>
              <a:spcAft>
                <a:spcPts val="0"/>
              </a:spcAft>
              <a:buClr>
                <a:srgbClr val="000000"/>
              </a:buClr>
              <a:buSzPts val="3200"/>
              <a:buFont typeface="Arial"/>
              <a:buNone/>
            </a:pPr>
            <a:r>
              <a:rPr b="1" lang="en-IN" sz="3200">
                <a:solidFill>
                  <a:schemeClr val="dk1"/>
                </a:solidFill>
              </a:rPr>
              <a:t>i</a:t>
            </a:r>
            <a:r>
              <a:rPr b="1" lang="en-IN" sz="3200">
                <a:solidFill>
                  <a:schemeClr val="dk1"/>
                </a:solidFill>
              </a:rPr>
              <a:t>nto </a:t>
            </a:r>
            <a:r>
              <a:rPr b="1" i="0" lang="en-IN" sz="3200" u="none" cap="none" strike="noStrike">
                <a:solidFill>
                  <a:schemeClr val="dk1"/>
                </a:solidFill>
                <a:latin typeface="Arial"/>
                <a:ea typeface="Arial"/>
                <a:cs typeface="Arial"/>
                <a:sym typeface="Arial"/>
              </a:rPr>
              <a:t>an	</a:t>
            </a:r>
            <a:r>
              <a:rPr b="1" i="0" lang="en-IN" sz="3200" u="none" cap="none" strike="noStrike">
                <a:solidFill>
                  <a:schemeClr val="dk1"/>
                </a:solidFill>
                <a:latin typeface="Arial"/>
                <a:ea typeface="Arial"/>
                <a:cs typeface="Arial"/>
                <a:sym typeface="Arial"/>
              </a:rPr>
              <a:t>“.exe”	but	it’s	a	‘.class’	file.	‘.class’  consists of Java bytecode.</a:t>
            </a:r>
            <a:endParaRPr b="0" i="0" sz="3200" u="none" cap="none" strike="noStrike">
              <a:solidFill>
                <a:schemeClr val="dk1"/>
              </a:solidFill>
              <a:latin typeface="Arial"/>
              <a:ea typeface="Arial"/>
              <a:cs typeface="Arial"/>
              <a:sym typeface="Arial"/>
            </a:endParaRPr>
          </a:p>
          <a:p>
            <a:pPr indent="-712029" lvl="0" marL="728115" marR="0" rtl="0" algn="l">
              <a:lnSpc>
                <a:spcPct val="100000"/>
              </a:lnSpc>
              <a:spcBef>
                <a:spcPts val="573"/>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Java Virtual Machine interprets the bytecode into	the</a:t>
            </a:r>
            <a:endParaRPr b="0" i="0" sz="3200" u="none" cap="none" strike="noStrike">
              <a:solidFill>
                <a:schemeClr val="dk1"/>
              </a:solidFill>
              <a:latin typeface="Arial"/>
              <a:ea typeface="Arial"/>
              <a:cs typeface="Arial"/>
              <a:sym typeface="Arial"/>
            </a:endParaRPr>
          </a:p>
        </p:txBody>
      </p:sp>
      <p:sp>
        <p:nvSpPr>
          <p:cNvPr id="449" name="Google Shape;449;g279ef9b7fc5_0_211"/>
          <p:cNvSpPr txBox="1"/>
          <p:nvPr/>
        </p:nvSpPr>
        <p:spPr>
          <a:xfrm>
            <a:off x="1199828" y="4298632"/>
            <a:ext cx="10558800" cy="1075200"/>
          </a:xfrm>
          <a:prstGeom prst="rect">
            <a:avLst/>
          </a:prstGeom>
          <a:noFill/>
          <a:ln>
            <a:noFill/>
          </a:ln>
        </p:spPr>
        <p:txBody>
          <a:bodyPr anchorCtr="0" anchor="t" bIns="0" lIns="0" spcFirstLastPara="1" rIns="0" wrap="square" tIns="16075">
            <a:spAutoFit/>
          </a:bodyPr>
          <a:lstStyle/>
          <a:p>
            <a:pPr indent="0" lvl="0" marL="16932" marR="6772" rtl="0" algn="l">
              <a:lnSpc>
                <a:spcPct val="114999"/>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machine	code	depending	upon	the	underlying  operating system and Hardware combination.</a:t>
            </a:r>
            <a:endParaRPr b="0" i="0" sz="3200" u="none" cap="none" strike="noStrike">
              <a:solidFill>
                <a:schemeClr val="dk1"/>
              </a:solidFill>
              <a:latin typeface="Arial"/>
              <a:ea typeface="Arial"/>
              <a:cs typeface="Arial"/>
              <a:sym typeface="Arial"/>
            </a:endParaRPr>
          </a:p>
        </p:txBody>
      </p:sp>
      <p:sp>
        <p:nvSpPr>
          <p:cNvPr id="450" name="Google Shape;450;g279ef9b7fc5_0_211"/>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Java Virtual Machine (JVM)</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pic>
        <p:nvPicPr>
          <p:cNvPr id="455" name="Google Shape;455;g279ef9b7fc5_0_219"/>
          <p:cNvPicPr preferRelativeResize="0"/>
          <p:nvPr/>
        </p:nvPicPr>
        <p:blipFill rotWithShape="1">
          <a:blip r:embed="rId3">
            <a:alphaModFix/>
          </a:blip>
          <a:srcRect b="0" l="0" r="0" t="0"/>
          <a:stretch/>
        </p:blipFill>
        <p:spPr>
          <a:xfrm>
            <a:off x="1926336" y="963168"/>
            <a:ext cx="8339327" cy="4931664"/>
          </a:xfrm>
          <a:prstGeom prst="rect">
            <a:avLst/>
          </a:prstGeom>
          <a:noFill/>
          <a:ln>
            <a:noFill/>
          </a:ln>
        </p:spPr>
      </p:pic>
      <p:sp>
        <p:nvSpPr>
          <p:cNvPr id="456" name="Google Shape;456;g279ef9b7fc5_0_219"/>
          <p:cNvSpPr txBox="1"/>
          <p:nvPr/>
        </p:nvSpPr>
        <p:spPr>
          <a:xfrm>
            <a:off x="4452281" y="2748793"/>
            <a:ext cx="3114900" cy="2832300"/>
          </a:xfrm>
          <a:prstGeom prst="rect">
            <a:avLst/>
          </a:prstGeom>
          <a:noFill/>
          <a:ln>
            <a:noFill/>
          </a:ln>
        </p:spPr>
        <p:txBody>
          <a:bodyPr anchorCtr="0" anchor="t" bIns="0" lIns="0" spcFirstLastPara="1" rIns="0" wrap="square" tIns="137150">
            <a:spAutoFit/>
          </a:bodyPr>
          <a:lstStyle/>
          <a:p>
            <a:pPr indent="0" lvl="0" marL="0" marR="0" rtl="0" algn="ctr">
              <a:lnSpc>
                <a:spcPct val="100000"/>
              </a:lnSpc>
              <a:spcBef>
                <a:spcPts val="0"/>
              </a:spcBef>
              <a:spcAft>
                <a:spcPts val="0"/>
              </a:spcAft>
              <a:buClr>
                <a:srgbClr val="000000"/>
              </a:buClr>
              <a:buSzPts val="2667"/>
              <a:buFont typeface="Arial"/>
              <a:buNone/>
            </a:pPr>
            <a:r>
              <a:rPr b="1" i="0" lang="en-IN" sz="2667" u="none" cap="none" strike="noStrike">
                <a:solidFill>
                  <a:schemeClr val="dk1"/>
                </a:solidFill>
                <a:latin typeface="Arial"/>
                <a:ea typeface="Arial"/>
                <a:cs typeface="Arial"/>
                <a:sym typeface="Arial"/>
              </a:rPr>
              <a:t>Java</a:t>
            </a:r>
            <a:endParaRPr b="0" i="0" sz="2667" u="none" cap="none" strike="noStrike">
              <a:solidFill>
                <a:schemeClr val="dk1"/>
              </a:solidFill>
              <a:latin typeface="Arial"/>
              <a:ea typeface="Arial"/>
              <a:cs typeface="Arial"/>
              <a:sym typeface="Arial"/>
            </a:endParaRPr>
          </a:p>
          <a:p>
            <a:pPr indent="0" lvl="0" marL="0" marR="0" rtl="0" algn="ctr">
              <a:lnSpc>
                <a:spcPct val="100000"/>
              </a:lnSpc>
              <a:spcBef>
                <a:spcPts val="947"/>
              </a:spcBef>
              <a:spcAft>
                <a:spcPts val="0"/>
              </a:spcAft>
              <a:buClr>
                <a:srgbClr val="000000"/>
              </a:buClr>
              <a:buSzPts val="2667"/>
              <a:buFont typeface="Arial"/>
              <a:buNone/>
            </a:pPr>
            <a:r>
              <a:rPr b="1" i="0" lang="en-IN" sz="2667" u="none" cap="none" strike="noStrike">
                <a:solidFill>
                  <a:schemeClr val="dk1"/>
                </a:solidFill>
                <a:latin typeface="Arial"/>
                <a:ea typeface="Arial"/>
                <a:cs typeface="Arial"/>
                <a:sym typeface="Arial"/>
              </a:rPr>
              <a:t>Application</a:t>
            </a:r>
            <a:endParaRPr b="0" i="0" sz="2667" u="none" cap="none" strike="noStrike">
              <a:solidFill>
                <a:schemeClr val="dk1"/>
              </a:solidFill>
              <a:latin typeface="Arial"/>
              <a:ea typeface="Arial"/>
              <a:cs typeface="Arial"/>
              <a:sym typeface="Arial"/>
            </a:endParaRPr>
          </a:p>
          <a:p>
            <a:pPr indent="0" lvl="0" marL="0" marR="0" rtl="0" algn="l">
              <a:lnSpc>
                <a:spcPct val="100000"/>
              </a:lnSpc>
              <a:spcBef>
                <a:spcPts val="60"/>
              </a:spcBef>
              <a:spcAft>
                <a:spcPts val="0"/>
              </a:spcAft>
              <a:buClr>
                <a:srgbClr val="000000"/>
              </a:buClr>
              <a:buSzPts val="4133"/>
              <a:buFont typeface="Arial"/>
              <a:buNone/>
            </a:pPr>
            <a:r>
              <a:t/>
            </a:r>
            <a:endParaRPr b="0" i="0" sz="4133"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733"/>
              <a:buFont typeface="Arial"/>
              <a:buNone/>
            </a:pPr>
            <a:r>
              <a:rPr b="1" i="0" lang="en-IN" sz="3733" u="none" cap="none" strike="noStrike">
                <a:solidFill>
                  <a:schemeClr val="dk1"/>
                </a:solidFill>
                <a:latin typeface="Arial"/>
                <a:ea typeface="Arial"/>
                <a:cs typeface="Arial"/>
                <a:sym typeface="Arial"/>
              </a:rPr>
              <a:t>JVM</a:t>
            </a:r>
            <a:endParaRPr b="0" i="0" sz="3733" u="none" cap="none" strike="noStrike">
              <a:solidFill>
                <a:schemeClr val="dk1"/>
              </a:solidFill>
              <a:latin typeface="Arial"/>
              <a:ea typeface="Arial"/>
              <a:cs typeface="Arial"/>
              <a:sym typeface="Arial"/>
            </a:endParaRPr>
          </a:p>
          <a:p>
            <a:pPr indent="0" lvl="0" marL="0" marR="0" rtl="0" algn="ctr">
              <a:lnSpc>
                <a:spcPct val="100000"/>
              </a:lnSpc>
              <a:spcBef>
                <a:spcPts val="953"/>
              </a:spcBef>
              <a:spcAft>
                <a:spcPts val="0"/>
              </a:spcAft>
              <a:buClr>
                <a:srgbClr val="000000"/>
              </a:buClr>
              <a:buSzPts val="2667"/>
              <a:buFont typeface="Arial"/>
              <a:buNone/>
            </a:pPr>
            <a:r>
              <a:rPr b="1" i="0" lang="en-IN" sz="2667" u="none" cap="none" strike="noStrike">
                <a:solidFill>
                  <a:srgbClr val="F3F3F3"/>
                </a:solidFill>
                <a:latin typeface="Arial"/>
                <a:ea typeface="Arial"/>
                <a:cs typeface="Arial"/>
                <a:sym typeface="Arial"/>
              </a:rPr>
              <a:t>Operating Systems</a:t>
            </a:r>
            <a:endParaRPr b="0" i="0" sz="2667" u="none" cap="none" strike="noStrike">
              <a:solidFill>
                <a:schemeClr val="dk1"/>
              </a:solidFill>
              <a:latin typeface="Arial"/>
              <a:ea typeface="Arial"/>
              <a:cs typeface="Arial"/>
              <a:sym typeface="Arial"/>
            </a:endParaRPr>
          </a:p>
        </p:txBody>
      </p:sp>
      <p:sp>
        <p:nvSpPr>
          <p:cNvPr id="457" name="Google Shape;457;g279ef9b7fc5_0_219"/>
          <p:cNvSpPr/>
          <p:nvPr/>
        </p:nvSpPr>
        <p:spPr>
          <a:xfrm>
            <a:off x="2827603" y="123825"/>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Java Virtual Machine (JVM)</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g279ef9b7fc5_0_225"/>
          <p:cNvSpPr txBox="1"/>
          <p:nvPr/>
        </p:nvSpPr>
        <p:spPr>
          <a:xfrm>
            <a:off x="488222" y="1495692"/>
            <a:ext cx="11203200" cy="4549200"/>
          </a:xfrm>
          <a:prstGeom prst="rect">
            <a:avLst/>
          </a:prstGeom>
          <a:noFill/>
          <a:ln>
            <a:noFill/>
          </a:ln>
        </p:spPr>
        <p:txBody>
          <a:bodyPr anchorCtr="0" anchor="t" bIns="0" lIns="0" spcFirstLastPara="1" rIns="0" wrap="square" tIns="16075">
            <a:spAutoFit/>
          </a:bodyPr>
          <a:lstStyle/>
          <a:p>
            <a:pPr indent="-712029" lvl="0" marL="728115" marR="6772" rtl="0" algn="just">
              <a:lnSpc>
                <a:spcPct val="1151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When a java application starts, a runtime instance of  JVM is created. When the application completes, the  instance terminates.</a:t>
            </a:r>
            <a:endParaRPr b="0" i="0" sz="3200" u="none" cap="none" strike="noStrike">
              <a:solidFill>
                <a:schemeClr val="dk1"/>
              </a:solidFill>
              <a:latin typeface="Arial"/>
              <a:ea typeface="Arial"/>
              <a:cs typeface="Arial"/>
              <a:sym typeface="Arial"/>
            </a:endParaRPr>
          </a:p>
          <a:p>
            <a:pPr indent="-712029" lvl="0" marL="728115" marR="6772"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If you start three java applications at the same time,  on the same computer, you will get three java virtual  machine instances running</a:t>
            </a:r>
            <a:endParaRPr b="0" i="0" sz="3200" u="none" cap="none" strike="noStrike">
              <a:solidFill>
                <a:schemeClr val="dk1"/>
              </a:solidFill>
              <a:latin typeface="Arial"/>
              <a:ea typeface="Arial"/>
              <a:cs typeface="Arial"/>
              <a:sym typeface="Arial"/>
            </a:endParaRPr>
          </a:p>
          <a:p>
            <a:pPr indent="-712029" lvl="0" marL="728115" marR="0" rtl="0" algn="just">
              <a:lnSpc>
                <a:spcPct val="100000"/>
              </a:lnSpc>
              <a:spcBef>
                <a:spcPts val="573"/>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Each java application runs inside its own java virtual</a:t>
            </a:r>
            <a:endParaRPr b="0" i="0" sz="3200" u="none" cap="none" strike="noStrike">
              <a:solidFill>
                <a:schemeClr val="dk1"/>
              </a:solidFill>
              <a:latin typeface="Arial"/>
              <a:ea typeface="Arial"/>
              <a:cs typeface="Arial"/>
              <a:sym typeface="Arial"/>
            </a:endParaRPr>
          </a:p>
          <a:p>
            <a:pPr indent="0" lvl="0" marL="728115" marR="0" rtl="0" algn="l">
              <a:lnSpc>
                <a:spcPct val="100000"/>
              </a:lnSpc>
              <a:spcBef>
                <a:spcPts val="579"/>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Machine.</a:t>
            </a:r>
            <a:endParaRPr b="0" i="0" sz="3200" u="none" cap="none" strike="noStrike">
              <a:solidFill>
                <a:schemeClr val="dk1"/>
              </a:solidFill>
              <a:latin typeface="Arial"/>
              <a:ea typeface="Arial"/>
              <a:cs typeface="Arial"/>
              <a:sym typeface="Arial"/>
            </a:endParaRPr>
          </a:p>
        </p:txBody>
      </p:sp>
      <p:sp>
        <p:nvSpPr>
          <p:cNvPr id="463" name="Google Shape;463;g279ef9b7fc5_0_225"/>
          <p:cNvSpPr/>
          <p:nvPr/>
        </p:nvSpPr>
        <p:spPr>
          <a:xfrm>
            <a:off x="2890356" y="187138"/>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Lifetime of a Java Virtual Machine</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grpSp>
        <p:nvGrpSpPr>
          <p:cNvPr id="468" name="Google Shape;468;g279ef9b7fc5_0_230"/>
          <p:cNvGrpSpPr/>
          <p:nvPr/>
        </p:nvGrpSpPr>
        <p:grpSpPr>
          <a:xfrm>
            <a:off x="1052550" y="674607"/>
            <a:ext cx="1578994" cy="1578994"/>
            <a:chOff x="789432" y="505967"/>
            <a:chExt cx="1184275" cy="1184275"/>
          </a:xfrm>
        </p:grpSpPr>
        <p:sp>
          <p:nvSpPr>
            <p:cNvPr id="469" name="Google Shape;469;g279ef9b7fc5_0_230"/>
            <p:cNvSpPr/>
            <p:nvPr/>
          </p:nvSpPr>
          <p:spPr>
            <a:xfrm>
              <a:off x="789432" y="505967"/>
              <a:ext cx="1184275" cy="1184275"/>
            </a:xfrm>
            <a:custGeom>
              <a:rect b="b" l="l" r="r" t="t"/>
              <a:pathLst>
                <a:path extrusionOk="0" h="1184275" w="1184275">
                  <a:moveTo>
                    <a:pt x="591947" y="0"/>
                  </a:moveTo>
                  <a:lnTo>
                    <a:pt x="543433" y="1905"/>
                  </a:lnTo>
                  <a:lnTo>
                    <a:pt x="495934" y="7747"/>
                  </a:lnTo>
                  <a:lnTo>
                    <a:pt x="449719" y="17145"/>
                  </a:lnTo>
                  <a:lnTo>
                    <a:pt x="404876" y="30226"/>
                  </a:lnTo>
                  <a:lnTo>
                    <a:pt x="361556" y="46482"/>
                  </a:lnTo>
                  <a:lnTo>
                    <a:pt x="319938" y="66040"/>
                  </a:lnTo>
                  <a:lnTo>
                    <a:pt x="280149" y="88646"/>
                  </a:lnTo>
                  <a:lnTo>
                    <a:pt x="242366" y="114173"/>
                  </a:lnTo>
                  <a:lnTo>
                    <a:pt x="206730" y="142494"/>
                  </a:lnTo>
                  <a:lnTo>
                    <a:pt x="173393" y="173355"/>
                  </a:lnTo>
                  <a:lnTo>
                    <a:pt x="142506" y="206756"/>
                  </a:lnTo>
                  <a:lnTo>
                    <a:pt x="114223" y="242316"/>
                  </a:lnTo>
                  <a:lnTo>
                    <a:pt x="88696" y="280162"/>
                  </a:lnTo>
                  <a:lnTo>
                    <a:pt x="66078" y="319913"/>
                  </a:lnTo>
                  <a:lnTo>
                    <a:pt x="46520" y="361569"/>
                  </a:lnTo>
                  <a:lnTo>
                    <a:pt x="30175" y="404876"/>
                  </a:lnTo>
                  <a:lnTo>
                    <a:pt x="17208" y="449707"/>
                  </a:lnTo>
                  <a:lnTo>
                    <a:pt x="7747" y="495935"/>
                  </a:lnTo>
                  <a:lnTo>
                    <a:pt x="1955" y="543433"/>
                  </a:lnTo>
                  <a:lnTo>
                    <a:pt x="0" y="591947"/>
                  </a:lnTo>
                  <a:lnTo>
                    <a:pt x="1955" y="640588"/>
                  </a:lnTo>
                  <a:lnTo>
                    <a:pt x="7747" y="687959"/>
                  </a:lnTo>
                  <a:lnTo>
                    <a:pt x="17208" y="734187"/>
                  </a:lnTo>
                  <a:lnTo>
                    <a:pt x="30175" y="779145"/>
                  </a:lnTo>
                  <a:lnTo>
                    <a:pt x="46520" y="822452"/>
                  </a:lnTo>
                  <a:lnTo>
                    <a:pt x="66078" y="863981"/>
                  </a:lnTo>
                  <a:lnTo>
                    <a:pt x="88696" y="903859"/>
                  </a:lnTo>
                  <a:lnTo>
                    <a:pt x="114223" y="941578"/>
                  </a:lnTo>
                  <a:lnTo>
                    <a:pt x="142506" y="977265"/>
                  </a:lnTo>
                  <a:lnTo>
                    <a:pt x="173393" y="1010539"/>
                  </a:lnTo>
                  <a:lnTo>
                    <a:pt x="206730" y="1041527"/>
                  </a:lnTo>
                  <a:lnTo>
                    <a:pt x="242366" y="1069721"/>
                  </a:lnTo>
                  <a:lnTo>
                    <a:pt x="280149" y="1095248"/>
                  </a:lnTo>
                  <a:lnTo>
                    <a:pt x="319938" y="1117854"/>
                  </a:lnTo>
                  <a:lnTo>
                    <a:pt x="361556" y="1137412"/>
                  </a:lnTo>
                  <a:lnTo>
                    <a:pt x="404876" y="1153795"/>
                  </a:lnTo>
                  <a:lnTo>
                    <a:pt x="449719" y="1166749"/>
                  </a:lnTo>
                  <a:lnTo>
                    <a:pt x="495934" y="1176274"/>
                  </a:lnTo>
                  <a:lnTo>
                    <a:pt x="543433" y="1181989"/>
                  </a:lnTo>
                  <a:lnTo>
                    <a:pt x="591947" y="1184021"/>
                  </a:lnTo>
                  <a:lnTo>
                    <a:pt x="640588" y="1181989"/>
                  </a:lnTo>
                  <a:lnTo>
                    <a:pt x="687959" y="1176274"/>
                  </a:lnTo>
                  <a:lnTo>
                    <a:pt x="734187" y="1166749"/>
                  </a:lnTo>
                  <a:lnTo>
                    <a:pt x="779145" y="1153795"/>
                  </a:lnTo>
                  <a:lnTo>
                    <a:pt x="822452" y="1137412"/>
                  </a:lnTo>
                  <a:lnTo>
                    <a:pt x="863981" y="1117854"/>
                  </a:lnTo>
                  <a:lnTo>
                    <a:pt x="903859" y="1095248"/>
                  </a:lnTo>
                  <a:lnTo>
                    <a:pt x="941578" y="1069721"/>
                  </a:lnTo>
                  <a:lnTo>
                    <a:pt x="977265" y="1041527"/>
                  </a:lnTo>
                  <a:lnTo>
                    <a:pt x="1010538" y="1010539"/>
                  </a:lnTo>
                  <a:lnTo>
                    <a:pt x="1041526" y="977265"/>
                  </a:lnTo>
                  <a:lnTo>
                    <a:pt x="1069720" y="941578"/>
                  </a:lnTo>
                  <a:lnTo>
                    <a:pt x="1095248" y="903859"/>
                  </a:lnTo>
                  <a:lnTo>
                    <a:pt x="1117854" y="863981"/>
                  </a:lnTo>
                  <a:lnTo>
                    <a:pt x="1137412" y="822452"/>
                  </a:lnTo>
                  <a:lnTo>
                    <a:pt x="1153795" y="779145"/>
                  </a:lnTo>
                  <a:lnTo>
                    <a:pt x="1166749" y="734187"/>
                  </a:lnTo>
                  <a:lnTo>
                    <a:pt x="1176274" y="687959"/>
                  </a:lnTo>
                  <a:lnTo>
                    <a:pt x="1181989" y="640588"/>
                  </a:lnTo>
                  <a:lnTo>
                    <a:pt x="1184020" y="591947"/>
                  </a:lnTo>
                  <a:lnTo>
                    <a:pt x="1181735" y="539877"/>
                  </a:lnTo>
                  <a:lnTo>
                    <a:pt x="1174877" y="488569"/>
                  </a:lnTo>
                  <a:lnTo>
                    <a:pt x="1163701" y="438404"/>
                  </a:lnTo>
                  <a:lnTo>
                    <a:pt x="1148207" y="389382"/>
                  </a:lnTo>
                  <a:lnTo>
                    <a:pt x="1128522" y="341884"/>
                  </a:lnTo>
                  <a:lnTo>
                    <a:pt x="1104900" y="296418"/>
                  </a:lnTo>
                  <a:lnTo>
                    <a:pt x="1077214" y="252857"/>
                  </a:lnTo>
                  <a:lnTo>
                    <a:pt x="1045718" y="211836"/>
                  </a:lnTo>
                  <a:lnTo>
                    <a:pt x="1010538" y="173355"/>
                  </a:lnTo>
                  <a:lnTo>
                    <a:pt x="972185" y="138176"/>
                  </a:lnTo>
                  <a:lnTo>
                    <a:pt x="931037" y="106680"/>
                  </a:lnTo>
                  <a:lnTo>
                    <a:pt x="887603" y="79121"/>
                  </a:lnTo>
                  <a:lnTo>
                    <a:pt x="842010" y="55372"/>
                  </a:lnTo>
                  <a:lnTo>
                    <a:pt x="794639" y="35814"/>
                  </a:lnTo>
                  <a:lnTo>
                    <a:pt x="745617" y="20320"/>
                  </a:lnTo>
                  <a:lnTo>
                    <a:pt x="695325" y="9144"/>
                  </a:lnTo>
                  <a:lnTo>
                    <a:pt x="644017" y="2286"/>
                  </a:lnTo>
                  <a:lnTo>
                    <a:pt x="591947" y="0"/>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470" name="Google Shape;470;g279ef9b7fc5_0_230"/>
            <p:cNvSpPr/>
            <p:nvPr/>
          </p:nvSpPr>
          <p:spPr>
            <a:xfrm>
              <a:off x="789432" y="505967"/>
              <a:ext cx="1184275" cy="1184275"/>
            </a:xfrm>
            <a:custGeom>
              <a:rect b="b" l="l" r="r" t="t"/>
              <a:pathLst>
                <a:path extrusionOk="0" h="1184275" w="1184275">
                  <a:moveTo>
                    <a:pt x="0" y="591947"/>
                  </a:moveTo>
                  <a:lnTo>
                    <a:pt x="1955" y="543433"/>
                  </a:lnTo>
                  <a:lnTo>
                    <a:pt x="7747" y="495935"/>
                  </a:lnTo>
                  <a:lnTo>
                    <a:pt x="17208" y="449707"/>
                  </a:lnTo>
                  <a:lnTo>
                    <a:pt x="30175" y="404876"/>
                  </a:lnTo>
                  <a:lnTo>
                    <a:pt x="46520" y="361569"/>
                  </a:lnTo>
                  <a:lnTo>
                    <a:pt x="66078" y="319913"/>
                  </a:lnTo>
                  <a:lnTo>
                    <a:pt x="88696" y="280162"/>
                  </a:lnTo>
                  <a:lnTo>
                    <a:pt x="114223" y="242316"/>
                  </a:lnTo>
                  <a:lnTo>
                    <a:pt x="142506" y="206756"/>
                  </a:lnTo>
                  <a:lnTo>
                    <a:pt x="173393" y="173355"/>
                  </a:lnTo>
                  <a:lnTo>
                    <a:pt x="206730" y="142494"/>
                  </a:lnTo>
                  <a:lnTo>
                    <a:pt x="242366" y="114173"/>
                  </a:lnTo>
                  <a:lnTo>
                    <a:pt x="280149" y="88646"/>
                  </a:lnTo>
                  <a:lnTo>
                    <a:pt x="319938" y="66040"/>
                  </a:lnTo>
                  <a:lnTo>
                    <a:pt x="361556" y="46482"/>
                  </a:lnTo>
                  <a:lnTo>
                    <a:pt x="404876" y="30226"/>
                  </a:lnTo>
                  <a:lnTo>
                    <a:pt x="449719" y="17145"/>
                  </a:lnTo>
                  <a:lnTo>
                    <a:pt x="495934" y="7747"/>
                  </a:lnTo>
                  <a:lnTo>
                    <a:pt x="543433" y="1905"/>
                  </a:lnTo>
                  <a:lnTo>
                    <a:pt x="591947" y="0"/>
                  </a:lnTo>
                  <a:lnTo>
                    <a:pt x="644017" y="2286"/>
                  </a:lnTo>
                  <a:lnTo>
                    <a:pt x="695325" y="9144"/>
                  </a:lnTo>
                  <a:lnTo>
                    <a:pt x="745617" y="20320"/>
                  </a:lnTo>
                  <a:lnTo>
                    <a:pt x="794639" y="35814"/>
                  </a:lnTo>
                  <a:lnTo>
                    <a:pt x="842010" y="55372"/>
                  </a:lnTo>
                  <a:lnTo>
                    <a:pt x="887603" y="79121"/>
                  </a:lnTo>
                  <a:lnTo>
                    <a:pt x="931037" y="106680"/>
                  </a:lnTo>
                  <a:lnTo>
                    <a:pt x="972185" y="138176"/>
                  </a:lnTo>
                  <a:lnTo>
                    <a:pt x="1010538" y="173355"/>
                  </a:lnTo>
                  <a:lnTo>
                    <a:pt x="1045718" y="211836"/>
                  </a:lnTo>
                  <a:lnTo>
                    <a:pt x="1077214" y="252857"/>
                  </a:lnTo>
                  <a:lnTo>
                    <a:pt x="1104900" y="296418"/>
                  </a:lnTo>
                  <a:lnTo>
                    <a:pt x="1128522" y="341884"/>
                  </a:lnTo>
                  <a:lnTo>
                    <a:pt x="1148207" y="389382"/>
                  </a:lnTo>
                  <a:lnTo>
                    <a:pt x="1163701" y="438404"/>
                  </a:lnTo>
                  <a:lnTo>
                    <a:pt x="1174877" y="488569"/>
                  </a:lnTo>
                  <a:lnTo>
                    <a:pt x="1181735" y="539877"/>
                  </a:lnTo>
                  <a:lnTo>
                    <a:pt x="1184020" y="591947"/>
                  </a:lnTo>
                  <a:lnTo>
                    <a:pt x="1181989" y="640588"/>
                  </a:lnTo>
                  <a:lnTo>
                    <a:pt x="1176274" y="687959"/>
                  </a:lnTo>
                  <a:lnTo>
                    <a:pt x="1166749" y="734187"/>
                  </a:lnTo>
                  <a:lnTo>
                    <a:pt x="1153795" y="779145"/>
                  </a:lnTo>
                  <a:lnTo>
                    <a:pt x="1137412" y="822452"/>
                  </a:lnTo>
                  <a:lnTo>
                    <a:pt x="1117854" y="863981"/>
                  </a:lnTo>
                  <a:lnTo>
                    <a:pt x="1095248" y="903859"/>
                  </a:lnTo>
                  <a:lnTo>
                    <a:pt x="1069720" y="941578"/>
                  </a:lnTo>
                  <a:lnTo>
                    <a:pt x="1041526" y="977265"/>
                  </a:lnTo>
                  <a:lnTo>
                    <a:pt x="1010538" y="1010539"/>
                  </a:lnTo>
                  <a:lnTo>
                    <a:pt x="977265" y="1041527"/>
                  </a:lnTo>
                  <a:lnTo>
                    <a:pt x="941578" y="1069721"/>
                  </a:lnTo>
                  <a:lnTo>
                    <a:pt x="903859" y="1095248"/>
                  </a:lnTo>
                  <a:lnTo>
                    <a:pt x="863981" y="1117854"/>
                  </a:lnTo>
                  <a:lnTo>
                    <a:pt x="822452" y="1137412"/>
                  </a:lnTo>
                  <a:lnTo>
                    <a:pt x="779145" y="1153795"/>
                  </a:lnTo>
                  <a:lnTo>
                    <a:pt x="734187" y="1166749"/>
                  </a:lnTo>
                  <a:lnTo>
                    <a:pt x="687959" y="1176274"/>
                  </a:lnTo>
                  <a:lnTo>
                    <a:pt x="640588" y="1181989"/>
                  </a:lnTo>
                  <a:lnTo>
                    <a:pt x="591947" y="1184021"/>
                  </a:lnTo>
                  <a:lnTo>
                    <a:pt x="543433" y="1181989"/>
                  </a:lnTo>
                  <a:lnTo>
                    <a:pt x="495934" y="1176274"/>
                  </a:lnTo>
                  <a:lnTo>
                    <a:pt x="449719" y="1166749"/>
                  </a:lnTo>
                  <a:lnTo>
                    <a:pt x="404876" y="1153795"/>
                  </a:lnTo>
                  <a:lnTo>
                    <a:pt x="361556" y="1137412"/>
                  </a:lnTo>
                  <a:lnTo>
                    <a:pt x="319938" y="1117854"/>
                  </a:lnTo>
                  <a:lnTo>
                    <a:pt x="280149" y="1095248"/>
                  </a:lnTo>
                  <a:lnTo>
                    <a:pt x="242366" y="1069721"/>
                  </a:lnTo>
                  <a:lnTo>
                    <a:pt x="206730" y="1041527"/>
                  </a:lnTo>
                  <a:lnTo>
                    <a:pt x="173393" y="1010539"/>
                  </a:lnTo>
                  <a:lnTo>
                    <a:pt x="142506" y="977265"/>
                  </a:lnTo>
                  <a:lnTo>
                    <a:pt x="114223" y="941578"/>
                  </a:lnTo>
                  <a:lnTo>
                    <a:pt x="88696" y="903859"/>
                  </a:lnTo>
                  <a:lnTo>
                    <a:pt x="66078" y="863981"/>
                  </a:lnTo>
                  <a:lnTo>
                    <a:pt x="46520" y="822452"/>
                  </a:lnTo>
                  <a:lnTo>
                    <a:pt x="30175" y="779145"/>
                  </a:lnTo>
                  <a:lnTo>
                    <a:pt x="17208" y="734187"/>
                  </a:lnTo>
                  <a:lnTo>
                    <a:pt x="7747" y="687959"/>
                  </a:lnTo>
                  <a:lnTo>
                    <a:pt x="1955" y="640588"/>
                  </a:lnTo>
                  <a:lnTo>
                    <a:pt x="0" y="591947"/>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sp>
        <p:nvSpPr>
          <p:cNvPr id="471" name="Google Shape;471;g279ef9b7fc5_0_230"/>
          <p:cNvSpPr/>
          <p:nvPr/>
        </p:nvSpPr>
        <p:spPr>
          <a:xfrm>
            <a:off x="1021079" y="2664969"/>
            <a:ext cx="1691428" cy="972211"/>
          </a:xfrm>
          <a:custGeom>
            <a:rect b="b" l="l" r="r" t="t"/>
            <a:pathLst>
              <a:path extrusionOk="0" h="729614" w="1269364">
                <a:moveTo>
                  <a:pt x="0" y="121538"/>
                </a:moveTo>
                <a:lnTo>
                  <a:pt x="9525" y="74294"/>
                </a:lnTo>
                <a:lnTo>
                  <a:pt x="35496" y="35560"/>
                </a:lnTo>
                <a:lnTo>
                  <a:pt x="74015" y="9525"/>
                </a:lnTo>
                <a:lnTo>
                  <a:pt x="121196" y="0"/>
                </a:lnTo>
                <a:lnTo>
                  <a:pt x="1148207" y="0"/>
                </a:lnTo>
                <a:lnTo>
                  <a:pt x="1194562" y="9271"/>
                </a:lnTo>
                <a:lnTo>
                  <a:pt x="1233805" y="35560"/>
                </a:lnTo>
                <a:lnTo>
                  <a:pt x="1260094" y="75056"/>
                </a:lnTo>
                <a:lnTo>
                  <a:pt x="1269365" y="121538"/>
                </a:lnTo>
                <a:lnTo>
                  <a:pt x="1269365" y="607822"/>
                </a:lnTo>
                <a:lnTo>
                  <a:pt x="1259840" y="655193"/>
                </a:lnTo>
                <a:lnTo>
                  <a:pt x="1233805" y="693801"/>
                </a:lnTo>
                <a:lnTo>
                  <a:pt x="1195323" y="719836"/>
                </a:lnTo>
                <a:lnTo>
                  <a:pt x="1148207" y="729488"/>
                </a:lnTo>
                <a:lnTo>
                  <a:pt x="121196" y="729488"/>
                </a:lnTo>
                <a:lnTo>
                  <a:pt x="74015" y="719836"/>
                </a:lnTo>
                <a:lnTo>
                  <a:pt x="35496" y="693801"/>
                </a:lnTo>
                <a:lnTo>
                  <a:pt x="9525" y="655193"/>
                </a:lnTo>
                <a:lnTo>
                  <a:pt x="0" y="607822"/>
                </a:lnTo>
                <a:lnTo>
                  <a:pt x="0" y="121538"/>
                </a:lnTo>
                <a:close/>
              </a:path>
            </a:pathLst>
          </a:custGeom>
          <a:noFill/>
          <a:ln cap="flat" cmpd="sng" w="38075">
            <a:solidFill>
              <a:srgbClr val="FFB42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nvGrpSpPr>
          <p:cNvPr id="472" name="Google Shape;472;g279ef9b7fc5_0_230"/>
          <p:cNvGrpSpPr/>
          <p:nvPr/>
        </p:nvGrpSpPr>
        <p:grpSpPr>
          <a:xfrm>
            <a:off x="873738" y="3816003"/>
            <a:ext cx="10444218" cy="740815"/>
            <a:chOff x="655320" y="2862072"/>
            <a:chExt cx="7833359" cy="555625"/>
          </a:xfrm>
        </p:grpSpPr>
        <p:sp>
          <p:nvSpPr>
            <p:cNvPr id="473" name="Google Shape;473;g279ef9b7fc5_0_230"/>
            <p:cNvSpPr/>
            <p:nvPr/>
          </p:nvSpPr>
          <p:spPr>
            <a:xfrm>
              <a:off x="655320" y="2862072"/>
              <a:ext cx="7833359" cy="555625"/>
            </a:xfrm>
            <a:custGeom>
              <a:rect b="b" l="l" r="r" t="t"/>
              <a:pathLst>
                <a:path extrusionOk="0" h="555625" w="7833359">
                  <a:moveTo>
                    <a:pt x="7740523" y="0"/>
                  </a:moveTo>
                  <a:lnTo>
                    <a:pt x="92506" y="0"/>
                  </a:lnTo>
                  <a:lnTo>
                    <a:pt x="56502" y="7238"/>
                  </a:lnTo>
                  <a:lnTo>
                    <a:pt x="27089" y="27177"/>
                  </a:lnTo>
                  <a:lnTo>
                    <a:pt x="7264" y="56514"/>
                  </a:lnTo>
                  <a:lnTo>
                    <a:pt x="0" y="92582"/>
                  </a:lnTo>
                  <a:lnTo>
                    <a:pt x="0" y="463041"/>
                  </a:lnTo>
                  <a:lnTo>
                    <a:pt x="7264" y="499109"/>
                  </a:lnTo>
                  <a:lnTo>
                    <a:pt x="27089" y="528446"/>
                  </a:lnTo>
                  <a:lnTo>
                    <a:pt x="56502" y="548385"/>
                  </a:lnTo>
                  <a:lnTo>
                    <a:pt x="92506" y="555625"/>
                  </a:lnTo>
                  <a:lnTo>
                    <a:pt x="7740523" y="555625"/>
                  </a:lnTo>
                  <a:lnTo>
                    <a:pt x="7776590" y="548385"/>
                  </a:lnTo>
                  <a:lnTo>
                    <a:pt x="7805928" y="528446"/>
                  </a:lnTo>
                  <a:lnTo>
                    <a:pt x="7825739" y="499109"/>
                  </a:lnTo>
                  <a:lnTo>
                    <a:pt x="7832979" y="463041"/>
                  </a:lnTo>
                  <a:lnTo>
                    <a:pt x="7832979" y="92582"/>
                  </a:lnTo>
                  <a:lnTo>
                    <a:pt x="7825994" y="57150"/>
                  </a:lnTo>
                  <a:lnTo>
                    <a:pt x="7791831" y="15620"/>
                  </a:lnTo>
                  <a:lnTo>
                    <a:pt x="7740523" y="0"/>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474" name="Google Shape;474;g279ef9b7fc5_0_230"/>
            <p:cNvSpPr/>
            <p:nvPr/>
          </p:nvSpPr>
          <p:spPr>
            <a:xfrm>
              <a:off x="655320" y="2862072"/>
              <a:ext cx="7833359" cy="555625"/>
            </a:xfrm>
            <a:custGeom>
              <a:rect b="b" l="l" r="r" t="t"/>
              <a:pathLst>
                <a:path extrusionOk="0" h="555625" w="7833359">
                  <a:moveTo>
                    <a:pt x="0" y="92582"/>
                  </a:moveTo>
                  <a:lnTo>
                    <a:pt x="7264" y="56514"/>
                  </a:lnTo>
                  <a:lnTo>
                    <a:pt x="27089" y="27177"/>
                  </a:lnTo>
                  <a:lnTo>
                    <a:pt x="56502" y="7238"/>
                  </a:lnTo>
                  <a:lnTo>
                    <a:pt x="92506" y="0"/>
                  </a:lnTo>
                  <a:lnTo>
                    <a:pt x="7740523" y="0"/>
                  </a:lnTo>
                  <a:lnTo>
                    <a:pt x="7791831" y="15620"/>
                  </a:lnTo>
                  <a:lnTo>
                    <a:pt x="7825994" y="57150"/>
                  </a:lnTo>
                  <a:lnTo>
                    <a:pt x="7832979" y="92582"/>
                  </a:lnTo>
                  <a:lnTo>
                    <a:pt x="7832979" y="463041"/>
                  </a:lnTo>
                  <a:lnTo>
                    <a:pt x="7825739" y="499109"/>
                  </a:lnTo>
                  <a:lnTo>
                    <a:pt x="7805928" y="528446"/>
                  </a:lnTo>
                  <a:lnTo>
                    <a:pt x="7776590" y="548385"/>
                  </a:lnTo>
                  <a:lnTo>
                    <a:pt x="7740523" y="555625"/>
                  </a:lnTo>
                  <a:lnTo>
                    <a:pt x="92506" y="555625"/>
                  </a:lnTo>
                  <a:lnTo>
                    <a:pt x="56502" y="548385"/>
                  </a:lnTo>
                  <a:lnTo>
                    <a:pt x="27089" y="528446"/>
                  </a:lnTo>
                  <a:lnTo>
                    <a:pt x="7264" y="499109"/>
                  </a:lnTo>
                  <a:lnTo>
                    <a:pt x="0" y="463041"/>
                  </a:lnTo>
                  <a:lnTo>
                    <a:pt x="0" y="92582"/>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grpSp>
        <p:nvGrpSpPr>
          <p:cNvPr id="475" name="Google Shape;475;g279ef9b7fc5_0_230"/>
          <p:cNvGrpSpPr/>
          <p:nvPr/>
        </p:nvGrpSpPr>
        <p:grpSpPr>
          <a:xfrm>
            <a:off x="873738" y="4730376"/>
            <a:ext cx="10445234" cy="742677"/>
            <a:chOff x="655319" y="3547871"/>
            <a:chExt cx="7834121" cy="557022"/>
          </a:xfrm>
        </p:grpSpPr>
        <p:sp>
          <p:nvSpPr>
            <p:cNvPr id="476" name="Google Shape;476;g279ef9b7fc5_0_230"/>
            <p:cNvSpPr/>
            <p:nvPr/>
          </p:nvSpPr>
          <p:spPr>
            <a:xfrm>
              <a:off x="655319" y="3547871"/>
              <a:ext cx="7833359" cy="556260"/>
            </a:xfrm>
            <a:custGeom>
              <a:rect b="b" l="l" r="r" t="t"/>
              <a:pathLst>
                <a:path extrusionOk="0" h="556260" w="7833359">
                  <a:moveTo>
                    <a:pt x="7740523" y="0"/>
                  </a:moveTo>
                  <a:lnTo>
                    <a:pt x="92506" y="0"/>
                  </a:lnTo>
                  <a:lnTo>
                    <a:pt x="56502" y="7238"/>
                  </a:lnTo>
                  <a:lnTo>
                    <a:pt x="27089" y="27177"/>
                  </a:lnTo>
                  <a:lnTo>
                    <a:pt x="7264" y="56514"/>
                  </a:lnTo>
                  <a:lnTo>
                    <a:pt x="0" y="92582"/>
                  </a:lnTo>
                  <a:lnTo>
                    <a:pt x="0" y="463029"/>
                  </a:lnTo>
                  <a:lnTo>
                    <a:pt x="7264" y="499071"/>
                  </a:lnTo>
                  <a:lnTo>
                    <a:pt x="27089" y="528510"/>
                  </a:lnTo>
                  <a:lnTo>
                    <a:pt x="56502" y="548360"/>
                  </a:lnTo>
                  <a:lnTo>
                    <a:pt x="92506" y="555637"/>
                  </a:lnTo>
                  <a:lnTo>
                    <a:pt x="7740523" y="555637"/>
                  </a:lnTo>
                  <a:lnTo>
                    <a:pt x="7776590" y="548360"/>
                  </a:lnTo>
                  <a:lnTo>
                    <a:pt x="7805928" y="528510"/>
                  </a:lnTo>
                  <a:lnTo>
                    <a:pt x="7825739" y="499071"/>
                  </a:lnTo>
                  <a:lnTo>
                    <a:pt x="7832979" y="463029"/>
                  </a:lnTo>
                  <a:lnTo>
                    <a:pt x="7832979" y="92582"/>
                  </a:lnTo>
                  <a:lnTo>
                    <a:pt x="7825994" y="57149"/>
                  </a:lnTo>
                  <a:lnTo>
                    <a:pt x="7791831" y="15620"/>
                  </a:lnTo>
                  <a:lnTo>
                    <a:pt x="774052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477" name="Google Shape;477;g279ef9b7fc5_0_230"/>
            <p:cNvSpPr/>
            <p:nvPr/>
          </p:nvSpPr>
          <p:spPr>
            <a:xfrm>
              <a:off x="656081" y="3548633"/>
              <a:ext cx="7833359" cy="556260"/>
            </a:xfrm>
            <a:custGeom>
              <a:rect b="b" l="l" r="r" t="t"/>
              <a:pathLst>
                <a:path extrusionOk="0" h="556260" w="7833359">
                  <a:moveTo>
                    <a:pt x="0" y="92582"/>
                  </a:moveTo>
                  <a:lnTo>
                    <a:pt x="7264" y="56514"/>
                  </a:lnTo>
                  <a:lnTo>
                    <a:pt x="27089" y="27177"/>
                  </a:lnTo>
                  <a:lnTo>
                    <a:pt x="56502" y="7238"/>
                  </a:lnTo>
                  <a:lnTo>
                    <a:pt x="92506" y="0"/>
                  </a:lnTo>
                  <a:lnTo>
                    <a:pt x="7740523" y="0"/>
                  </a:lnTo>
                  <a:lnTo>
                    <a:pt x="7791831" y="15620"/>
                  </a:lnTo>
                  <a:lnTo>
                    <a:pt x="7825994" y="57149"/>
                  </a:lnTo>
                  <a:lnTo>
                    <a:pt x="7832979" y="92582"/>
                  </a:lnTo>
                  <a:lnTo>
                    <a:pt x="7832979" y="463029"/>
                  </a:lnTo>
                  <a:lnTo>
                    <a:pt x="7825740" y="499071"/>
                  </a:lnTo>
                  <a:lnTo>
                    <a:pt x="7805928" y="528510"/>
                  </a:lnTo>
                  <a:lnTo>
                    <a:pt x="7776591" y="548360"/>
                  </a:lnTo>
                  <a:lnTo>
                    <a:pt x="7740523" y="555637"/>
                  </a:lnTo>
                  <a:lnTo>
                    <a:pt x="92506" y="555637"/>
                  </a:lnTo>
                  <a:lnTo>
                    <a:pt x="56502" y="548360"/>
                  </a:lnTo>
                  <a:lnTo>
                    <a:pt x="27089" y="528510"/>
                  </a:lnTo>
                  <a:lnTo>
                    <a:pt x="7264" y="499071"/>
                  </a:lnTo>
                  <a:lnTo>
                    <a:pt x="0" y="463029"/>
                  </a:lnTo>
                  <a:lnTo>
                    <a:pt x="0" y="92582"/>
                  </a:lnTo>
                  <a:close/>
                </a:path>
              </a:pathLst>
            </a:custGeom>
            <a:noFill/>
            <a:ln cap="flat" cmpd="sng" w="38075">
              <a:solidFill>
                <a:srgbClr val="F3F3F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grpSp>
        <p:nvGrpSpPr>
          <p:cNvPr id="478" name="Google Shape;478;g279ef9b7fc5_0_230"/>
          <p:cNvGrpSpPr/>
          <p:nvPr/>
        </p:nvGrpSpPr>
        <p:grpSpPr>
          <a:xfrm>
            <a:off x="5319643" y="674607"/>
            <a:ext cx="1578994" cy="1578994"/>
            <a:chOff x="3989831" y="505967"/>
            <a:chExt cx="1184275" cy="1184275"/>
          </a:xfrm>
        </p:grpSpPr>
        <p:sp>
          <p:nvSpPr>
            <p:cNvPr id="479" name="Google Shape;479;g279ef9b7fc5_0_230"/>
            <p:cNvSpPr/>
            <p:nvPr/>
          </p:nvSpPr>
          <p:spPr>
            <a:xfrm>
              <a:off x="3989831" y="505967"/>
              <a:ext cx="1184275" cy="1184275"/>
            </a:xfrm>
            <a:custGeom>
              <a:rect b="b" l="l" r="r" t="t"/>
              <a:pathLst>
                <a:path extrusionOk="0" h="1184275" w="1184275">
                  <a:moveTo>
                    <a:pt x="591946" y="0"/>
                  </a:moveTo>
                  <a:lnTo>
                    <a:pt x="543432" y="1905"/>
                  </a:lnTo>
                  <a:lnTo>
                    <a:pt x="495934" y="7747"/>
                  </a:lnTo>
                  <a:lnTo>
                    <a:pt x="449706" y="17145"/>
                  </a:lnTo>
                  <a:lnTo>
                    <a:pt x="404875" y="30226"/>
                  </a:lnTo>
                  <a:lnTo>
                    <a:pt x="361568" y="46482"/>
                  </a:lnTo>
                  <a:lnTo>
                    <a:pt x="319913" y="66040"/>
                  </a:lnTo>
                  <a:lnTo>
                    <a:pt x="280162" y="88646"/>
                  </a:lnTo>
                  <a:lnTo>
                    <a:pt x="242315" y="114173"/>
                  </a:lnTo>
                  <a:lnTo>
                    <a:pt x="206755" y="142494"/>
                  </a:lnTo>
                  <a:lnTo>
                    <a:pt x="173354" y="173355"/>
                  </a:lnTo>
                  <a:lnTo>
                    <a:pt x="142493" y="206756"/>
                  </a:lnTo>
                  <a:lnTo>
                    <a:pt x="114172" y="242316"/>
                  </a:lnTo>
                  <a:lnTo>
                    <a:pt x="88645" y="280162"/>
                  </a:lnTo>
                  <a:lnTo>
                    <a:pt x="66039" y="319913"/>
                  </a:lnTo>
                  <a:lnTo>
                    <a:pt x="46481" y="361569"/>
                  </a:lnTo>
                  <a:lnTo>
                    <a:pt x="30225" y="404876"/>
                  </a:lnTo>
                  <a:lnTo>
                    <a:pt x="17144" y="449707"/>
                  </a:lnTo>
                  <a:lnTo>
                    <a:pt x="7746" y="495935"/>
                  </a:lnTo>
                  <a:lnTo>
                    <a:pt x="1904" y="543433"/>
                  </a:lnTo>
                  <a:lnTo>
                    <a:pt x="0" y="591947"/>
                  </a:lnTo>
                  <a:lnTo>
                    <a:pt x="1904" y="640588"/>
                  </a:lnTo>
                  <a:lnTo>
                    <a:pt x="7746" y="687959"/>
                  </a:lnTo>
                  <a:lnTo>
                    <a:pt x="17144" y="734187"/>
                  </a:lnTo>
                  <a:lnTo>
                    <a:pt x="30225" y="779145"/>
                  </a:lnTo>
                  <a:lnTo>
                    <a:pt x="46481" y="822452"/>
                  </a:lnTo>
                  <a:lnTo>
                    <a:pt x="66039" y="863981"/>
                  </a:lnTo>
                  <a:lnTo>
                    <a:pt x="88645" y="903859"/>
                  </a:lnTo>
                  <a:lnTo>
                    <a:pt x="114172" y="941578"/>
                  </a:lnTo>
                  <a:lnTo>
                    <a:pt x="142493" y="977265"/>
                  </a:lnTo>
                  <a:lnTo>
                    <a:pt x="173354" y="1010539"/>
                  </a:lnTo>
                  <a:lnTo>
                    <a:pt x="206755" y="1041527"/>
                  </a:lnTo>
                  <a:lnTo>
                    <a:pt x="242315" y="1069721"/>
                  </a:lnTo>
                  <a:lnTo>
                    <a:pt x="280162" y="1095248"/>
                  </a:lnTo>
                  <a:lnTo>
                    <a:pt x="319913" y="1117854"/>
                  </a:lnTo>
                  <a:lnTo>
                    <a:pt x="361568" y="1137412"/>
                  </a:lnTo>
                  <a:lnTo>
                    <a:pt x="404875" y="1153795"/>
                  </a:lnTo>
                  <a:lnTo>
                    <a:pt x="449706" y="1166749"/>
                  </a:lnTo>
                  <a:lnTo>
                    <a:pt x="495934" y="1176274"/>
                  </a:lnTo>
                  <a:lnTo>
                    <a:pt x="543432" y="1181989"/>
                  </a:lnTo>
                  <a:lnTo>
                    <a:pt x="591946" y="1184021"/>
                  </a:lnTo>
                  <a:lnTo>
                    <a:pt x="640588" y="1181989"/>
                  </a:lnTo>
                  <a:lnTo>
                    <a:pt x="687958" y="1176274"/>
                  </a:lnTo>
                  <a:lnTo>
                    <a:pt x="734187" y="1166749"/>
                  </a:lnTo>
                  <a:lnTo>
                    <a:pt x="779144" y="1153795"/>
                  </a:lnTo>
                  <a:lnTo>
                    <a:pt x="822451" y="1137412"/>
                  </a:lnTo>
                  <a:lnTo>
                    <a:pt x="863980" y="1117854"/>
                  </a:lnTo>
                  <a:lnTo>
                    <a:pt x="903858" y="1095248"/>
                  </a:lnTo>
                  <a:lnTo>
                    <a:pt x="941577" y="1069721"/>
                  </a:lnTo>
                  <a:lnTo>
                    <a:pt x="977264" y="1041527"/>
                  </a:lnTo>
                  <a:lnTo>
                    <a:pt x="1010538" y="1010539"/>
                  </a:lnTo>
                  <a:lnTo>
                    <a:pt x="1041526" y="977265"/>
                  </a:lnTo>
                  <a:lnTo>
                    <a:pt x="1069720" y="941578"/>
                  </a:lnTo>
                  <a:lnTo>
                    <a:pt x="1095247" y="903859"/>
                  </a:lnTo>
                  <a:lnTo>
                    <a:pt x="1117853" y="863981"/>
                  </a:lnTo>
                  <a:lnTo>
                    <a:pt x="1137412" y="822452"/>
                  </a:lnTo>
                  <a:lnTo>
                    <a:pt x="1153794" y="779145"/>
                  </a:lnTo>
                  <a:lnTo>
                    <a:pt x="1166748" y="734187"/>
                  </a:lnTo>
                  <a:lnTo>
                    <a:pt x="1176273" y="687959"/>
                  </a:lnTo>
                  <a:lnTo>
                    <a:pt x="1181989" y="640588"/>
                  </a:lnTo>
                  <a:lnTo>
                    <a:pt x="1184020" y="591947"/>
                  </a:lnTo>
                  <a:lnTo>
                    <a:pt x="1181734" y="539877"/>
                  </a:lnTo>
                  <a:lnTo>
                    <a:pt x="1174877" y="488569"/>
                  </a:lnTo>
                  <a:lnTo>
                    <a:pt x="1163701" y="438404"/>
                  </a:lnTo>
                  <a:lnTo>
                    <a:pt x="1148206" y="389382"/>
                  </a:lnTo>
                  <a:lnTo>
                    <a:pt x="1128521" y="341884"/>
                  </a:lnTo>
                  <a:lnTo>
                    <a:pt x="1104900" y="296418"/>
                  </a:lnTo>
                  <a:lnTo>
                    <a:pt x="1077214" y="252857"/>
                  </a:lnTo>
                  <a:lnTo>
                    <a:pt x="1045717" y="211836"/>
                  </a:lnTo>
                  <a:lnTo>
                    <a:pt x="1010538" y="173355"/>
                  </a:lnTo>
                  <a:lnTo>
                    <a:pt x="972184" y="138176"/>
                  </a:lnTo>
                  <a:lnTo>
                    <a:pt x="931037" y="106680"/>
                  </a:lnTo>
                  <a:lnTo>
                    <a:pt x="887602" y="79121"/>
                  </a:lnTo>
                  <a:lnTo>
                    <a:pt x="842009" y="55372"/>
                  </a:lnTo>
                  <a:lnTo>
                    <a:pt x="794638" y="35814"/>
                  </a:lnTo>
                  <a:lnTo>
                    <a:pt x="745616" y="20320"/>
                  </a:lnTo>
                  <a:lnTo>
                    <a:pt x="695325" y="9144"/>
                  </a:lnTo>
                  <a:lnTo>
                    <a:pt x="644016" y="2286"/>
                  </a:lnTo>
                  <a:lnTo>
                    <a:pt x="591946" y="0"/>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480" name="Google Shape;480;g279ef9b7fc5_0_230"/>
            <p:cNvSpPr/>
            <p:nvPr/>
          </p:nvSpPr>
          <p:spPr>
            <a:xfrm>
              <a:off x="3989831" y="505967"/>
              <a:ext cx="1184275" cy="1184275"/>
            </a:xfrm>
            <a:custGeom>
              <a:rect b="b" l="l" r="r" t="t"/>
              <a:pathLst>
                <a:path extrusionOk="0" h="1184275" w="1184275">
                  <a:moveTo>
                    <a:pt x="0" y="591947"/>
                  </a:moveTo>
                  <a:lnTo>
                    <a:pt x="1904" y="543433"/>
                  </a:lnTo>
                  <a:lnTo>
                    <a:pt x="7746" y="495935"/>
                  </a:lnTo>
                  <a:lnTo>
                    <a:pt x="17144" y="449707"/>
                  </a:lnTo>
                  <a:lnTo>
                    <a:pt x="30225" y="404876"/>
                  </a:lnTo>
                  <a:lnTo>
                    <a:pt x="46481" y="361569"/>
                  </a:lnTo>
                  <a:lnTo>
                    <a:pt x="66039" y="319913"/>
                  </a:lnTo>
                  <a:lnTo>
                    <a:pt x="88645" y="280162"/>
                  </a:lnTo>
                  <a:lnTo>
                    <a:pt x="114172" y="242316"/>
                  </a:lnTo>
                  <a:lnTo>
                    <a:pt x="142493" y="206756"/>
                  </a:lnTo>
                  <a:lnTo>
                    <a:pt x="173354" y="173355"/>
                  </a:lnTo>
                  <a:lnTo>
                    <a:pt x="206755" y="142494"/>
                  </a:lnTo>
                  <a:lnTo>
                    <a:pt x="242315" y="114173"/>
                  </a:lnTo>
                  <a:lnTo>
                    <a:pt x="280162" y="88646"/>
                  </a:lnTo>
                  <a:lnTo>
                    <a:pt x="319913" y="66040"/>
                  </a:lnTo>
                  <a:lnTo>
                    <a:pt x="361568" y="46482"/>
                  </a:lnTo>
                  <a:lnTo>
                    <a:pt x="404875" y="30226"/>
                  </a:lnTo>
                  <a:lnTo>
                    <a:pt x="449706" y="17145"/>
                  </a:lnTo>
                  <a:lnTo>
                    <a:pt x="495934" y="7747"/>
                  </a:lnTo>
                  <a:lnTo>
                    <a:pt x="543432" y="1905"/>
                  </a:lnTo>
                  <a:lnTo>
                    <a:pt x="591946" y="0"/>
                  </a:lnTo>
                  <a:lnTo>
                    <a:pt x="644016" y="2286"/>
                  </a:lnTo>
                  <a:lnTo>
                    <a:pt x="695325" y="9144"/>
                  </a:lnTo>
                  <a:lnTo>
                    <a:pt x="745616" y="20320"/>
                  </a:lnTo>
                  <a:lnTo>
                    <a:pt x="794638" y="35814"/>
                  </a:lnTo>
                  <a:lnTo>
                    <a:pt x="842009" y="55372"/>
                  </a:lnTo>
                  <a:lnTo>
                    <a:pt x="887602" y="79121"/>
                  </a:lnTo>
                  <a:lnTo>
                    <a:pt x="931037" y="106680"/>
                  </a:lnTo>
                  <a:lnTo>
                    <a:pt x="972184" y="138176"/>
                  </a:lnTo>
                  <a:lnTo>
                    <a:pt x="1010538" y="173355"/>
                  </a:lnTo>
                  <a:lnTo>
                    <a:pt x="1045717" y="211836"/>
                  </a:lnTo>
                  <a:lnTo>
                    <a:pt x="1077214" y="252857"/>
                  </a:lnTo>
                  <a:lnTo>
                    <a:pt x="1104900" y="296418"/>
                  </a:lnTo>
                  <a:lnTo>
                    <a:pt x="1128521" y="341884"/>
                  </a:lnTo>
                  <a:lnTo>
                    <a:pt x="1148206" y="389382"/>
                  </a:lnTo>
                  <a:lnTo>
                    <a:pt x="1163701" y="438404"/>
                  </a:lnTo>
                  <a:lnTo>
                    <a:pt x="1174877" y="488569"/>
                  </a:lnTo>
                  <a:lnTo>
                    <a:pt x="1181734" y="539877"/>
                  </a:lnTo>
                  <a:lnTo>
                    <a:pt x="1184020" y="591947"/>
                  </a:lnTo>
                  <a:lnTo>
                    <a:pt x="1181989" y="640588"/>
                  </a:lnTo>
                  <a:lnTo>
                    <a:pt x="1176273" y="687959"/>
                  </a:lnTo>
                  <a:lnTo>
                    <a:pt x="1166748" y="734187"/>
                  </a:lnTo>
                  <a:lnTo>
                    <a:pt x="1153794" y="779145"/>
                  </a:lnTo>
                  <a:lnTo>
                    <a:pt x="1137412" y="822452"/>
                  </a:lnTo>
                  <a:lnTo>
                    <a:pt x="1117853" y="863981"/>
                  </a:lnTo>
                  <a:lnTo>
                    <a:pt x="1095247" y="903859"/>
                  </a:lnTo>
                  <a:lnTo>
                    <a:pt x="1069720" y="941578"/>
                  </a:lnTo>
                  <a:lnTo>
                    <a:pt x="1041526" y="977265"/>
                  </a:lnTo>
                  <a:lnTo>
                    <a:pt x="1010538" y="1010539"/>
                  </a:lnTo>
                  <a:lnTo>
                    <a:pt x="977264" y="1041527"/>
                  </a:lnTo>
                  <a:lnTo>
                    <a:pt x="941577" y="1069721"/>
                  </a:lnTo>
                  <a:lnTo>
                    <a:pt x="903858" y="1095248"/>
                  </a:lnTo>
                  <a:lnTo>
                    <a:pt x="863980" y="1117854"/>
                  </a:lnTo>
                  <a:lnTo>
                    <a:pt x="822451" y="1137412"/>
                  </a:lnTo>
                  <a:lnTo>
                    <a:pt x="779144" y="1153795"/>
                  </a:lnTo>
                  <a:lnTo>
                    <a:pt x="734187" y="1166749"/>
                  </a:lnTo>
                  <a:lnTo>
                    <a:pt x="687958" y="1176274"/>
                  </a:lnTo>
                  <a:lnTo>
                    <a:pt x="640588" y="1181989"/>
                  </a:lnTo>
                  <a:lnTo>
                    <a:pt x="591946" y="1184021"/>
                  </a:lnTo>
                  <a:lnTo>
                    <a:pt x="543432" y="1181989"/>
                  </a:lnTo>
                  <a:lnTo>
                    <a:pt x="495934" y="1176274"/>
                  </a:lnTo>
                  <a:lnTo>
                    <a:pt x="449706" y="1166749"/>
                  </a:lnTo>
                  <a:lnTo>
                    <a:pt x="404875" y="1153795"/>
                  </a:lnTo>
                  <a:lnTo>
                    <a:pt x="361568" y="1137412"/>
                  </a:lnTo>
                  <a:lnTo>
                    <a:pt x="319913" y="1117854"/>
                  </a:lnTo>
                  <a:lnTo>
                    <a:pt x="280162" y="1095248"/>
                  </a:lnTo>
                  <a:lnTo>
                    <a:pt x="242315" y="1069721"/>
                  </a:lnTo>
                  <a:lnTo>
                    <a:pt x="206755" y="1041527"/>
                  </a:lnTo>
                  <a:lnTo>
                    <a:pt x="173354" y="1010539"/>
                  </a:lnTo>
                  <a:lnTo>
                    <a:pt x="142493" y="977265"/>
                  </a:lnTo>
                  <a:lnTo>
                    <a:pt x="114172" y="941578"/>
                  </a:lnTo>
                  <a:lnTo>
                    <a:pt x="88645" y="903859"/>
                  </a:lnTo>
                  <a:lnTo>
                    <a:pt x="66039" y="863981"/>
                  </a:lnTo>
                  <a:lnTo>
                    <a:pt x="46481" y="822452"/>
                  </a:lnTo>
                  <a:lnTo>
                    <a:pt x="30225" y="779145"/>
                  </a:lnTo>
                  <a:lnTo>
                    <a:pt x="17144" y="734187"/>
                  </a:lnTo>
                  <a:lnTo>
                    <a:pt x="7746" y="687959"/>
                  </a:lnTo>
                  <a:lnTo>
                    <a:pt x="1904" y="640588"/>
                  </a:lnTo>
                  <a:lnTo>
                    <a:pt x="0" y="591947"/>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sp>
        <p:nvSpPr>
          <p:cNvPr id="481" name="Google Shape;481;g279ef9b7fc5_0_230"/>
          <p:cNvSpPr/>
          <p:nvPr/>
        </p:nvSpPr>
        <p:spPr>
          <a:xfrm>
            <a:off x="5288279" y="2664969"/>
            <a:ext cx="1691428" cy="972211"/>
          </a:xfrm>
          <a:custGeom>
            <a:rect b="b" l="l" r="r" t="t"/>
            <a:pathLst>
              <a:path extrusionOk="0" h="729614" w="1269364">
                <a:moveTo>
                  <a:pt x="0" y="121538"/>
                </a:moveTo>
                <a:lnTo>
                  <a:pt x="9525" y="74294"/>
                </a:lnTo>
                <a:lnTo>
                  <a:pt x="35432" y="35560"/>
                </a:lnTo>
                <a:lnTo>
                  <a:pt x="74040" y="9525"/>
                </a:lnTo>
                <a:lnTo>
                  <a:pt x="121157" y="0"/>
                </a:lnTo>
                <a:lnTo>
                  <a:pt x="1148206" y="0"/>
                </a:lnTo>
                <a:lnTo>
                  <a:pt x="1194562" y="9271"/>
                </a:lnTo>
                <a:lnTo>
                  <a:pt x="1233804" y="35560"/>
                </a:lnTo>
                <a:lnTo>
                  <a:pt x="1260093" y="75056"/>
                </a:lnTo>
                <a:lnTo>
                  <a:pt x="1269364" y="121538"/>
                </a:lnTo>
                <a:lnTo>
                  <a:pt x="1269364" y="607822"/>
                </a:lnTo>
                <a:lnTo>
                  <a:pt x="1259839" y="655193"/>
                </a:lnTo>
                <a:lnTo>
                  <a:pt x="1233804" y="693801"/>
                </a:lnTo>
                <a:lnTo>
                  <a:pt x="1195324" y="719836"/>
                </a:lnTo>
                <a:lnTo>
                  <a:pt x="1148206" y="729488"/>
                </a:lnTo>
                <a:lnTo>
                  <a:pt x="121157" y="729488"/>
                </a:lnTo>
                <a:lnTo>
                  <a:pt x="74040" y="719836"/>
                </a:lnTo>
                <a:lnTo>
                  <a:pt x="35432" y="693801"/>
                </a:lnTo>
                <a:lnTo>
                  <a:pt x="9525" y="655193"/>
                </a:lnTo>
                <a:lnTo>
                  <a:pt x="0" y="607822"/>
                </a:lnTo>
                <a:lnTo>
                  <a:pt x="0" y="121538"/>
                </a:lnTo>
                <a:close/>
              </a:path>
            </a:pathLst>
          </a:custGeom>
          <a:noFill/>
          <a:ln cap="flat" cmpd="sng" w="38075">
            <a:solidFill>
              <a:srgbClr val="FFB42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nvGrpSpPr>
          <p:cNvPr id="482" name="Google Shape;482;g279ef9b7fc5_0_230"/>
          <p:cNvGrpSpPr/>
          <p:nvPr/>
        </p:nvGrpSpPr>
        <p:grpSpPr>
          <a:xfrm>
            <a:off x="9383543" y="674607"/>
            <a:ext cx="1578994" cy="1578994"/>
            <a:chOff x="7037831" y="505967"/>
            <a:chExt cx="1184275" cy="1184275"/>
          </a:xfrm>
        </p:grpSpPr>
        <p:sp>
          <p:nvSpPr>
            <p:cNvPr id="483" name="Google Shape;483;g279ef9b7fc5_0_230"/>
            <p:cNvSpPr/>
            <p:nvPr/>
          </p:nvSpPr>
          <p:spPr>
            <a:xfrm>
              <a:off x="7037831" y="505967"/>
              <a:ext cx="1184275" cy="1184275"/>
            </a:xfrm>
            <a:custGeom>
              <a:rect b="b" l="l" r="r" t="t"/>
              <a:pathLst>
                <a:path extrusionOk="0" h="1184275" w="1184275">
                  <a:moveTo>
                    <a:pt x="591947" y="0"/>
                  </a:moveTo>
                  <a:lnTo>
                    <a:pt x="543433" y="1905"/>
                  </a:lnTo>
                  <a:lnTo>
                    <a:pt x="495935" y="7747"/>
                  </a:lnTo>
                  <a:lnTo>
                    <a:pt x="449707" y="17145"/>
                  </a:lnTo>
                  <a:lnTo>
                    <a:pt x="404875" y="30226"/>
                  </a:lnTo>
                  <a:lnTo>
                    <a:pt x="361569" y="46482"/>
                  </a:lnTo>
                  <a:lnTo>
                    <a:pt x="319913" y="66040"/>
                  </a:lnTo>
                  <a:lnTo>
                    <a:pt x="280162" y="88646"/>
                  </a:lnTo>
                  <a:lnTo>
                    <a:pt x="242316" y="114173"/>
                  </a:lnTo>
                  <a:lnTo>
                    <a:pt x="206756" y="142494"/>
                  </a:lnTo>
                  <a:lnTo>
                    <a:pt x="173354" y="173355"/>
                  </a:lnTo>
                  <a:lnTo>
                    <a:pt x="142494" y="206756"/>
                  </a:lnTo>
                  <a:lnTo>
                    <a:pt x="114173" y="242316"/>
                  </a:lnTo>
                  <a:lnTo>
                    <a:pt x="88646" y="280162"/>
                  </a:lnTo>
                  <a:lnTo>
                    <a:pt x="66040" y="319913"/>
                  </a:lnTo>
                  <a:lnTo>
                    <a:pt x="46482" y="361569"/>
                  </a:lnTo>
                  <a:lnTo>
                    <a:pt x="30225" y="404876"/>
                  </a:lnTo>
                  <a:lnTo>
                    <a:pt x="17145" y="449707"/>
                  </a:lnTo>
                  <a:lnTo>
                    <a:pt x="7747" y="495935"/>
                  </a:lnTo>
                  <a:lnTo>
                    <a:pt x="1904" y="543433"/>
                  </a:lnTo>
                  <a:lnTo>
                    <a:pt x="0" y="591947"/>
                  </a:lnTo>
                  <a:lnTo>
                    <a:pt x="1904" y="640588"/>
                  </a:lnTo>
                  <a:lnTo>
                    <a:pt x="7747" y="687959"/>
                  </a:lnTo>
                  <a:lnTo>
                    <a:pt x="17145" y="734187"/>
                  </a:lnTo>
                  <a:lnTo>
                    <a:pt x="30225" y="779145"/>
                  </a:lnTo>
                  <a:lnTo>
                    <a:pt x="46482" y="822452"/>
                  </a:lnTo>
                  <a:lnTo>
                    <a:pt x="66040" y="863981"/>
                  </a:lnTo>
                  <a:lnTo>
                    <a:pt x="88646" y="903859"/>
                  </a:lnTo>
                  <a:lnTo>
                    <a:pt x="114173" y="941578"/>
                  </a:lnTo>
                  <a:lnTo>
                    <a:pt x="142494" y="977265"/>
                  </a:lnTo>
                  <a:lnTo>
                    <a:pt x="173354" y="1010539"/>
                  </a:lnTo>
                  <a:lnTo>
                    <a:pt x="206756" y="1041527"/>
                  </a:lnTo>
                  <a:lnTo>
                    <a:pt x="242316" y="1069721"/>
                  </a:lnTo>
                  <a:lnTo>
                    <a:pt x="280162" y="1095248"/>
                  </a:lnTo>
                  <a:lnTo>
                    <a:pt x="319913" y="1117854"/>
                  </a:lnTo>
                  <a:lnTo>
                    <a:pt x="361569" y="1137412"/>
                  </a:lnTo>
                  <a:lnTo>
                    <a:pt x="404875" y="1153795"/>
                  </a:lnTo>
                  <a:lnTo>
                    <a:pt x="449707" y="1166749"/>
                  </a:lnTo>
                  <a:lnTo>
                    <a:pt x="495935" y="1176274"/>
                  </a:lnTo>
                  <a:lnTo>
                    <a:pt x="543433" y="1181989"/>
                  </a:lnTo>
                  <a:lnTo>
                    <a:pt x="591947" y="1184021"/>
                  </a:lnTo>
                  <a:lnTo>
                    <a:pt x="640588" y="1181989"/>
                  </a:lnTo>
                  <a:lnTo>
                    <a:pt x="687959" y="1176274"/>
                  </a:lnTo>
                  <a:lnTo>
                    <a:pt x="734187" y="1166749"/>
                  </a:lnTo>
                  <a:lnTo>
                    <a:pt x="779145" y="1153795"/>
                  </a:lnTo>
                  <a:lnTo>
                    <a:pt x="822451" y="1137412"/>
                  </a:lnTo>
                  <a:lnTo>
                    <a:pt x="863981" y="1117854"/>
                  </a:lnTo>
                  <a:lnTo>
                    <a:pt x="903859" y="1095248"/>
                  </a:lnTo>
                  <a:lnTo>
                    <a:pt x="941577" y="1069721"/>
                  </a:lnTo>
                  <a:lnTo>
                    <a:pt x="977265" y="1041527"/>
                  </a:lnTo>
                  <a:lnTo>
                    <a:pt x="1010539" y="1010539"/>
                  </a:lnTo>
                  <a:lnTo>
                    <a:pt x="1041526" y="977265"/>
                  </a:lnTo>
                  <a:lnTo>
                    <a:pt x="1069721" y="941578"/>
                  </a:lnTo>
                  <a:lnTo>
                    <a:pt x="1095248" y="903859"/>
                  </a:lnTo>
                  <a:lnTo>
                    <a:pt x="1117853" y="863981"/>
                  </a:lnTo>
                  <a:lnTo>
                    <a:pt x="1137412" y="822452"/>
                  </a:lnTo>
                  <a:lnTo>
                    <a:pt x="1153795" y="779145"/>
                  </a:lnTo>
                  <a:lnTo>
                    <a:pt x="1166749" y="734187"/>
                  </a:lnTo>
                  <a:lnTo>
                    <a:pt x="1176274" y="687959"/>
                  </a:lnTo>
                  <a:lnTo>
                    <a:pt x="1181989" y="640588"/>
                  </a:lnTo>
                  <a:lnTo>
                    <a:pt x="1184021" y="591947"/>
                  </a:lnTo>
                  <a:lnTo>
                    <a:pt x="1181735" y="539877"/>
                  </a:lnTo>
                  <a:lnTo>
                    <a:pt x="1174877" y="488569"/>
                  </a:lnTo>
                  <a:lnTo>
                    <a:pt x="1163701" y="438404"/>
                  </a:lnTo>
                  <a:lnTo>
                    <a:pt x="1148207" y="389382"/>
                  </a:lnTo>
                  <a:lnTo>
                    <a:pt x="1128522" y="341884"/>
                  </a:lnTo>
                  <a:lnTo>
                    <a:pt x="1104900" y="296418"/>
                  </a:lnTo>
                  <a:lnTo>
                    <a:pt x="1077214" y="252857"/>
                  </a:lnTo>
                  <a:lnTo>
                    <a:pt x="1045718" y="211836"/>
                  </a:lnTo>
                  <a:lnTo>
                    <a:pt x="1010539" y="173355"/>
                  </a:lnTo>
                  <a:lnTo>
                    <a:pt x="972185" y="138176"/>
                  </a:lnTo>
                  <a:lnTo>
                    <a:pt x="931037" y="106680"/>
                  </a:lnTo>
                  <a:lnTo>
                    <a:pt x="887602" y="79121"/>
                  </a:lnTo>
                  <a:lnTo>
                    <a:pt x="842010" y="55372"/>
                  </a:lnTo>
                  <a:lnTo>
                    <a:pt x="794639" y="35814"/>
                  </a:lnTo>
                  <a:lnTo>
                    <a:pt x="745617" y="20320"/>
                  </a:lnTo>
                  <a:lnTo>
                    <a:pt x="695325" y="9144"/>
                  </a:lnTo>
                  <a:lnTo>
                    <a:pt x="644017" y="2286"/>
                  </a:lnTo>
                  <a:lnTo>
                    <a:pt x="591947" y="0"/>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484" name="Google Shape;484;g279ef9b7fc5_0_230"/>
            <p:cNvSpPr/>
            <p:nvPr/>
          </p:nvSpPr>
          <p:spPr>
            <a:xfrm>
              <a:off x="7037831" y="505967"/>
              <a:ext cx="1184275" cy="1184275"/>
            </a:xfrm>
            <a:custGeom>
              <a:rect b="b" l="l" r="r" t="t"/>
              <a:pathLst>
                <a:path extrusionOk="0" h="1184275" w="1184275">
                  <a:moveTo>
                    <a:pt x="0" y="591947"/>
                  </a:moveTo>
                  <a:lnTo>
                    <a:pt x="1904" y="543433"/>
                  </a:lnTo>
                  <a:lnTo>
                    <a:pt x="7747" y="495935"/>
                  </a:lnTo>
                  <a:lnTo>
                    <a:pt x="17145" y="449707"/>
                  </a:lnTo>
                  <a:lnTo>
                    <a:pt x="30225" y="404876"/>
                  </a:lnTo>
                  <a:lnTo>
                    <a:pt x="46482" y="361569"/>
                  </a:lnTo>
                  <a:lnTo>
                    <a:pt x="66040" y="319913"/>
                  </a:lnTo>
                  <a:lnTo>
                    <a:pt x="88646" y="280162"/>
                  </a:lnTo>
                  <a:lnTo>
                    <a:pt x="114173" y="242316"/>
                  </a:lnTo>
                  <a:lnTo>
                    <a:pt x="142494" y="206756"/>
                  </a:lnTo>
                  <a:lnTo>
                    <a:pt x="173354" y="173355"/>
                  </a:lnTo>
                  <a:lnTo>
                    <a:pt x="206756" y="142494"/>
                  </a:lnTo>
                  <a:lnTo>
                    <a:pt x="242316" y="114173"/>
                  </a:lnTo>
                  <a:lnTo>
                    <a:pt x="280162" y="88646"/>
                  </a:lnTo>
                  <a:lnTo>
                    <a:pt x="319913" y="66040"/>
                  </a:lnTo>
                  <a:lnTo>
                    <a:pt x="361569" y="46482"/>
                  </a:lnTo>
                  <a:lnTo>
                    <a:pt x="404875" y="30226"/>
                  </a:lnTo>
                  <a:lnTo>
                    <a:pt x="449707" y="17145"/>
                  </a:lnTo>
                  <a:lnTo>
                    <a:pt x="495935" y="7747"/>
                  </a:lnTo>
                  <a:lnTo>
                    <a:pt x="543433" y="1905"/>
                  </a:lnTo>
                  <a:lnTo>
                    <a:pt x="591947" y="0"/>
                  </a:lnTo>
                  <a:lnTo>
                    <a:pt x="644017" y="2286"/>
                  </a:lnTo>
                  <a:lnTo>
                    <a:pt x="695325" y="9144"/>
                  </a:lnTo>
                  <a:lnTo>
                    <a:pt x="745617" y="20320"/>
                  </a:lnTo>
                  <a:lnTo>
                    <a:pt x="794639" y="35814"/>
                  </a:lnTo>
                  <a:lnTo>
                    <a:pt x="842010" y="55372"/>
                  </a:lnTo>
                  <a:lnTo>
                    <a:pt x="887602" y="79121"/>
                  </a:lnTo>
                  <a:lnTo>
                    <a:pt x="931037" y="106680"/>
                  </a:lnTo>
                  <a:lnTo>
                    <a:pt x="972185" y="138176"/>
                  </a:lnTo>
                  <a:lnTo>
                    <a:pt x="1010539" y="173355"/>
                  </a:lnTo>
                  <a:lnTo>
                    <a:pt x="1045718" y="211836"/>
                  </a:lnTo>
                  <a:lnTo>
                    <a:pt x="1077214" y="252857"/>
                  </a:lnTo>
                  <a:lnTo>
                    <a:pt x="1104900" y="296418"/>
                  </a:lnTo>
                  <a:lnTo>
                    <a:pt x="1128522" y="341884"/>
                  </a:lnTo>
                  <a:lnTo>
                    <a:pt x="1148207" y="389382"/>
                  </a:lnTo>
                  <a:lnTo>
                    <a:pt x="1163701" y="438404"/>
                  </a:lnTo>
                  <a:lnTo>
                    <a:pt x="1174877" y="488569"/>
                  </a:lnTo>
                  <a:lnTo>
                    <a:pt x="1181735" y="539877"/>
                  </a:lnTo>
                  <a:lnTo>
                    <a:pt x="1184021" y="591947"/>
                  </a:lnTo>
                  <a:lnTo>
                    <a:pt x="1181989" y="640588"/>
                  </a:lnTo>
                  <a:lnTo>
                    <a:pt x="1176274" y="687959"/>
                  </a:lnTo>
                  <a:lnTo>
                    <a:pt x="1166749" y="734187"/>
                  </a:lnTo>
                  <a:lnTo>
                    <a:pt x="1153795" y="779145"/>
                  </a:lnTo>
                  <a:lnTo>
                    <a:pt x="1137412" y="822452"/>
                  </a:lnTo>
                  <a:lnTo>
                    <a:pt x="1117853" y="863981"/>
                  </a:lnTo>
                  <a:lnTo>
                    <a:pt x="1095248" y="903859"/>
                  </a:lnTo>
                  <a:lnTo>
                    <a:pt x="1069721" y="941578"/>
                  </a:lnTo>
                  <a:lnTo>
                    <a:pt x="1041526" y="977265"/>
                  </a:lnTo>
                  <a:lnTo>
                    <a:pt x="1010539" y="1010539"/>
                  </a:lnTo>
                  <a:lnTo>
                    <a:pt x="977265" y="1041527"/>
                  </a:lnTo>
                  <a:lnTo>
                    <a:pt x="941577" y="1069721"/>
                  </a:lnTo>
                  <a:lnTo>
                    <a:pt x="903859" y="1095248"/>
                  </a:lnTo>
                  <a:lnTo>
                    <a:pt x="863981" y="1117854"/>
                  </a:lnTo>
                  <a:lnTo>
                    <a:pt x="822451" y="1137412"/>
                  </a:lnTo>
                  <a:lnTo>
                    <a:pt x="779145" y="1153795"/>
                  </a:lnTo>
                  <a:lnTo>
                    <a:pt x="734187" y="1166749"/>
                  </a:lnTo>
                  <a:lnTo>
                    <a:pt x="687959" y="1176274"/>
                  </a:lnTo>
                  <a:lnTo>
                    <a:pt x="640588" y="1181989"/>
                  </a:lnTo>
                  <a:lnTo>
                    <a:pt x="591947" y="1184021"/>
                  </a:lnTo>
                  <a:lnTo>
                    <a:pt x="543433" y="1181989"/>
                  </a:lnTo>
                  <a:lnTo>
                    <a:pt x="495935" y="1176274"/>
                  </a:lnTo>
                  <a:lnTo>
                    <a:pt x="449707" y="1166749"/>
                  </a:lnTo>
                  <a:lnTo>
                    <a:pt x="404875" y="1153795"/>
                  </a:lnTo>
                  <a:lnTo>
                    <a:pt x="361569" y="1137412"/>
                  </a:lnTo>
                  <a:lnTo>
                    <a:pt x="319913" y="1117854"/>
                  </a:lnTo>
                  <a:lnTo>
                    <a:pt x="280162" y="1095248"/>
                  </a:lnTo>
                  <a:lnTo>
                    <a:pt x="242316" y="1069721"/>
                  </a:lnTo>
                  <a:lnTo>
                    <a:pt x="206756" y="1041527"/>
                  </a:lnTo>
                  <a:lnTo>
                    <a:pt x="173354" y="1010539"/>
                  </a:lnTo>
                  <a:lnTo>
                    <a:pt x="142494" y="977265"/>
                  </a:lnTo>
                  <a:lnTo>
                    <a:pt x="114173" y="941578"/>
                  </a:lnTo>
                  <a:lnTo>
                    <a:pt x="88646" y="903859"/>
                  </a:lnTo>
                  <a:lnTo>
                    <a:pt x="66040" y="863981"/>
                  </a:lnTo>
                  <a:lnTo>
                    <a:pt x="46482" y="822452"/>
                  </a:lnTo>
                  <a:lnTo>
                    <a:pt x="30225" y="779145"/>
                  </a:lnTo>
                  <a:lnTo>
                    <a:pt x="17145" y="734187"/>
                  </a:lnTo>
                  <a:lnTo>
                    <a:pt x="7747" y="687959"/>
                  </a:lnTo>
                  <a:lnTo>
                    <a:pt x="1904" y="640588"/>
                  </a:lnTo>
                  <a:lnTo>
                    <a:pt x="0" y="591947"/>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sp>
        <p:nvSpPr>
          <p:cNvPr id="485" name="Google Shape;485;g279ef9b7fc5_0_230"/>
          <p:cNvSpPr/>
          <p:nvPr/>
        </p:nvSpPr>
        <p:spPr>
          <a:xfrm>
            <a:off x="9352279" y="2664969"/>
            <a:ext cx="1691429" cy="972211"/>
          </a:xfrm>
          <a:custGeom>
            <a:rect b="b" l="l" r="r" t="t"/>
            <a:pathLst>
              <a:path extrusionOk="0" h="729614" w="1269365">
                <a:moveTo>
                  <a:pt x="0" y="121538"/>
                </a:moveTo>
                <a:lnTo>
                  <a:pt x="9525" y="74294"/>
                </a:lnTo>
                <a:lnTo>
                  <a:pt x="35433" y="35560"/>
                </a:lnTo>
                <a:lnTo>
                  <a:pt x="74041" y="9525"/>
                </a:lnTo>
                <a:lnTo>
                  <a:pt x="121158" y="0"/>
                </a:lnTo>
                <a:lnTo>
                  <a:pt x="1148207" y="0"/>
                </a:lnTo>
                <a:lnTo>
                  <a:pt x="1194562" y="9271"/>
                </a:lnTo>
                <a:lnTo>
                  <a:pt x="1233805" y="35560"/>
                </a:lnTo>
                <a:lnTo>
                  <a:pt x="1260094" y="75056"/>
                </a:lnTo>
                <a:lnTo>
                  <a:pt x="1269365" y="121538"/>
                </a:lnTo>
                <a:lnTo>
                  <a:pt x="1269365" y="607822"/>
                </a:lnTo>
                <a:lnTo>
                  <a:pt x="1259840" y="655193"/>
                </a:lnTo>
                <a:lnTo>
                  <a:pt x="1233805" y="693801"/>
                </a:lnTo>
                <a:lnTo>
                  <a:pt x="1195324" y="719836"/>
                </a:lnTo>
                <a:lnTo>
                  <a:pt x="1148207" y="729488"/>
                </a:lnTo>
                <a:lnTo>
                  <a:pt x="121158" y="729488"/>
                </a:lnTo>
                <a:lnTo>
                  <a:pt x="74041" y="719836"/>
                </a:lnTo>
                <a:lnTo>
                  <a:pt x="35433" y="693801"/>
                </a:lnTo>
                <a:lnTo>
                  <a:pt x="9525" y="655193"/>
                </a:lnTo>
                <a:lnTo>
                  <a:pt x="0" y="607822"/>
                </a:lnTo>
                <a:lnTo>
                  <a:pt x="0" y="121538"/>
                </a:lnTo>
                <a:close/>
              </a:path>
            </a:pathLst>
          </a:custGeom>
          <a:noFill/>
          <a:ln cap="flat" cmpd="sng" w="38075">
            <a:solidFill>
              <a:srgbClr val="FFB42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486" name="Google Shape;486;g279ef9b7fc5_0_230"/>
          <p:cNvSpPr txBox="1"/>
          <p:nvPr/>
        </p:nvSpPr>
        <p:spPr>
          <a:xfrm>
            <a:off x="1125457" y="1308778"/>
            <a:ext cx="1409700" cy="632700"/>
          </a:xfrm>
          <a:prstGeom prst="rect">
            <a:avLst/>
          </a:prstGeom>
          <a:noFill/>
          <a:ln>
            <a:noFill/>
          </a:ln>
        </p:spPr>
        <p:txBody>
          <a:bodyPr anchorCtr="0" anchor="t" bIns="0" lIns="0" spcFirstLastPara="1" rIns="0" wrap="square" tIns="16925">
            <a:spAutoFit/>
          </a:bodyPr>
          <a:lstStyle/>
          <a:p>
            <a:pPr indent="0" lvl="0" marL="0" marR="0" rtl="0" algn="ctr">
              <a:lnSpc>
                <a:spcPct val="100000"/>
              </a:lnSpc>
              <a:spcBef>
                <a:spcPts val="0"/>
              </a:spcBef>
              <a:spcAft>
                <a:spcPts val="0"/>
              </a:spcAft>
              <a:buClr>
                <a:srgbClr val="000000"/>
              </a:buClr>
              <a:buSzPts val="2000"/>
              <a:buFont typeface="Arial"/>
              <a:buNone/>
            </a:pPr>
            <a:r>
              <a:rPr b="1" i="0" lang="en-IN" sz="2000" u="none" cap="none" strike="noStrike">
                <a:solidFill>
                  <a:schemeClr val="dk1"/>
                </a:solidFill>
                <a:latin typeface="Arial"/>
                <a:ea typeface="Arial"/>
                <a:cs typeface="Arial"/>
                <a:sym typeface="Arial"/>
              </a:rPr>
              <a:t>Application</a:t>
            </a:r>
            <a:endParaRPr b="0" i="0" sz="2000" u="none" cap="none" strike="noStrike">
              <a:solidFill>
                <a:schemeClr val="dk1"/>
              </a:solidFill>
              <a:latin typeface="Arial"/>
              <a:ea typeface="Arial"/>
              <a:cs typeface="Arial"/>
              <a:sym typeface="Arial"/>
            </a:endParaRPr>
          </a:p>
          <a:p>
            <a:pPr indent="0" lvl="0" marL="66884" marR="0" rtl="0" algn="ctr">
              <a:lnSpc>
                <a:spcPct val="100000"/>
              </a:lnSpc>
              <a:spcBef>
                <a:spcPts val="0"/>
              </a:spcBef>
              <a:spcAft>
                <a:spcPts val="0"/>
              </a:spcAft>
              <a:buClr>
                <a:srgbClr val="000000"/>
              </a:buClr>
              <a:buSzPts val="2000"/>
              <a:buFont typeface="Arial"/>
              <a:buNone/>
            </a:pPr>
            <a:r>
              <a:rPr b="1" i="0" lang="en-IN" sz="2000" u="none" cap="none" strike="noStrike">
                <a:solidFill>
                  <a:schemeClr val="dk1"/>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p:txBody>
      </p:sp>
      <p:sp>
        <p:nvSpPr>
          <p:cNvPr id="487" name="Google Shape;487;g279ef9b7fc5_0_230"/>
          <p:cNvSpPr txBox="1"/>
          <p:nvPr/>
        </p:nvSpPr>
        <p:spPr>
          <a:xfrm>
            <a:off x="5393437" y="1308778"/>
            <a:ext cx="1409700" cy="632700"/>
          </a:xfrm>
          <a:prstGeom prst="rect">
            <a:avLst/>
          </a:prstGeom>
          <a:noFill/>
          <a:ln>
            <a:noFill/>
          </a:ln>
        </p:spPr>
        <p:txBody>
          <a:bodyPr anchorCtr="0" anchor="t" bIns="0" lIns="0" spcFirstLastPara="1" rIns="0" wrap="square" tIns="16925">
            <a:spAutoFit/>
          </a:bodyPr>
          <a:lstStyle/>
          <a:p>
            <a:pPr indent="0" lvl="0" marL="0" marR="0" rtl="0" algn="ctr">
              <a:lnSpc>
                <a:spcPct val="100000"/>
              </a:lnSpc>
              <a:spcBef>
                <a:spcPts val="0"/>
              </a:spcBef>
              <a:spcAft>
                <a:spcPts val="0"/>
              </a:spcAft>
              <a:buClr>
                <a:srgbClr val="000000"/>
              </a:buClr>
              <a:buSzPts val="2000"/>
              <a:buFont typeface="Arial"/>
              <a:buNone/>
            </a:pPr>
            <a:r>
              <a:rPr b="1" i="0" lang="en-IN" sz="2000" u="none" cap="none" strike="noStrike">
                <a:solidFill>
                  <a:schemeClr val="dk1"/>
                </a:solidFill>
                <a:latin typeface="Arial"/>
                <a:ea typeface="Arial"/>
                <a:cs typeface="Arial"/>
                <a:sym typeface="Arial"/>
              </a:rPr>
              <a:t>Application</a:t>
            </a:r>
            <a:endParaRPr b="0" i="0" sz="2000" u="none" cap="none" strike="noStrike">
              <a:solidFill>
                <a:schemeClr val="dk1"/>
              </a:solidFill>
              <a:latin typeface="Arial"/>
              <a:ea typeface="Arial"/>
              <a:cs typeface="Arial"/>
              <a:sym typeface="Arial"/>
            </a:endParaRPr>
          </a:p>
          <a:p>
            <a:pPr indent="0" lvl="0" marL="66037" marR="0" rtl="0" algn="ctr">
              <a:lnSpc>
                <a:spcPct val="100000"/>
              </a:lnSpc>
              <a:spcBef>
                <a:spcPts val="0"/>
              </a:spcBef>
              <a:spcAft>
                <a:spcPts val="0"/>
              </a:spcAft>
              <a:buClr>
                <a:srgbClr val="000000"/>
              </a:buClr>
              <a:buSzPts val="2000"/>
              <a:buFont typeface="Arial"/>
              <a:buNone/>
            </a:pPr>
            <a:r>
              <a:rPr b="1" i="0" lang="en-IN" sz="2000" u="none" cap="none" strike="noStrike">
                <a:solidFill>
                  <a:schemeClr val="dk1"/>
                </a:solidFill>
                <a:latin typeface="Arial"/>
                <a:ea typeface="Arial"/>
                <a:cs typeface="Arial"/>
                <a:sym typeface="Arial"/>
              </a:rPr>
              <a:t>2</a:t>
            </a:r>
            <a:endParaRPr b="0" i="0" sz="2000" u="none" cap="none" strike="noStrike">
              <a:solidFill>
                <a:schemeClr val="dk1"/>
              </a:solidFill>
              <a:latin typeface="Arial"/>
              <a:ea typeface="Arial"/>
              <a:cs typeface="Arial"/>
              <a:sym typeface="Arial"/>
            </a:endParaRPr>
          </a:p>
        </p:txBody>
      </p:sp>
      <p:sp>
        <p:nvSpPr>
          <p:cNvPr id="488" name="Google Shape;488;g279ef9b7fc5_0_230"/>
          <p:cNvSpPr txBox="1"/>
          <p:nvPr/>
        </p:nvSpPr>
        <p:spPr>
          <a:xfrm>
            <a:off x="9457943" y="1308778"/>
            <a:ext cx="1409700" cy="632700"/>
          </a:xfrm>
          <a:prstGeom prst="rect">
            <a:avLst/>
          </a:prstGeom>
          <a:noFill/>
          <a:ln>
            <a:noFill/>
          </a:ln>
        </p:spPr>
        <p:txBody>
          <a:bodyPr anchorCtr="0" anchor="t" bIns="0" lIns="0" spcFirstLastPara="1" rIns="0" wrap="square" tIns="16925">
            <a:spAutoFit/>
          </a:bodyPr>
          <a:lstStyle/>
          <a:p>
            <a:pPr indent="0" lvl="0" marL="0" marR="0" rtl="0" algn="ctr">
              <a:lnSpc>
                <a:spcPct val="100000"/>
              </a:lnSpc>
              <a:spcBef>
                <a:spcPts val="0"/>
              </a:spcBef>
              <a:spcAft>
                <a:spcPts val="0"/>
              </a:spcAft>
              <a:buClr>
                <a:srgbClr val="000000"/>
              </a:buClr>
              <a:buSzPts val="2000"/>
              <a:buFont typeface="Arial"/>
              <a:buNone/>
            </a:pPr>
            <a:r>
              <a:rPr b="1" i="0" lang="en-IN" sz="2000" u="none" cap="none" strike="noStrike">
                <a:solidFill>
                  <a:schemeClr val="dk1"/>
                </a:solidFill>
                <a:latin typeface="Arial"/>
                <a:ea typeface="Arial"/>
                <a:cs typeface="Arial"/>
                <a:sym typeface="Arial"/>
              </a:rPr>
              <a:t>Application</a:t>
            </a:r>
            <a:endParaRPr b="0" i="0" sz="2000" u="none" cap="none" strike="noStrike">
              <a:solidFill>
                <a:schemeClr val="dk1"/>
              </a:solidFill>
              <a:latin typeface="Arial"/>
              <a:ea typeface="Arial"/>
              <a:cs typeface="Arial"/>
              <a:sym typeface="Arial"/>
            </a:endParaRPr>
          </a:p>
          <a:p>
            <a:pPr indent="0" lvl="0" marL="66884" marR="0" rtl="0" algn="ctr">
              <a:lnSpc>
                <a:spcPct val="100000"/>
              </a:lnSpc>
              <a:spcBef>
                <a:spcPts val="0"/>
              </a:spcBef>
              <a:spcAft>
                <a:spcPts val="0"/>
              </a:spcAft>
              <a:buClr>
                <a:srgbClr val="000000"/>
              </a:buClr>
              <a:buSzPts val="2000"/>
              <a:buFont typeface="Arial"/>
              <a:buNone/>
            </a:pPr>
            <a:r>
              <a:rPr b="1" i="0" lang="en-IN" sz="2000" u="none" cap="none" strike="noStrike">
                <a:solidFill>
                  <a:schemeClr val="dk1"/>
                </a:solidFill>
                <a:latin typeface="Arial"/>
                <a:ea typeface="Arial"/>
                <a:cs typeface="Arial"/>
                <a:sym typeface="Arial"/>
              </a:rPr>
              <a:t>3</a:t>
            </a:r>
            <a:endParaRPr b="0" i="0" sz="2000" u="none" cap="none" strike="noStrike">
              <a:solidFill>
                <a:schemeClr val="dk1"/>
              </a:solidFill>
              <a:latin typeface="Arial"/>
              <a:ea typeface="Arial"/>
              <a:cs typeface="Arial"/>
              <a:sym typeface="Arial"/>
            </a:endParaRPr>
          </a:p>
        </p:txBody>
      </p:sp>
      <p:sp>
        <p:nvSpPr>
          <p:cNvPr id="489" name="Google Shape;489;g279ef9b7fc5_0_230"/>
          <p:cNvSpPr txBox="1"/>
          <p:nvPr/>
        </p:nvSpPr>
        <p:spPr>
          <a:xfrm>
            <a:off x="1457893" y="2849813"/>
            <a:ext cx="832200" cy="10023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JVM</a:t>
            </a:r>
            <a:endParaRPr b="0" i="0" sz="3200" u="none" cap="none" strike="noStrike">
              <a:solidFill>
                <a:schemeClr val="dk1"/>
              </a:solidFill>
              <a:latin typeface="Arial"/>
              <a:ea typeface="Arial"/>
              <a:cs typeface="Arial"/>
              <a:sym typeface="Arial"/>
            </a:endParaRPr>
          </a:p>
        </p:txBody>
      </p:sp>
      <p:sp>
        <p:nvSpPr>
          <p:cNvPr id="490" name="Google Shape;490;g279ef9b7fc5_0_230"/>
          <p:cNvSpPr txBox="1"/>
          <p:nvPr/>
        </p:nvSpPr>
        <p:spPr>
          <a:xfrm>
            <a:off x="9790345" y="2849813"/>
            <a:ext cx="832200" cy="10023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JVM</a:t>
            </a:r>
            <a:endParaRPr b="0" i="0" sz="3200" u="none" cap="none" strike="noStrike">
              <a:solidFill>
                <a:schemeClr val="dk1"/>
              </a:solidFill>
              <a:latin typeface="Arial"/>
              <a:ea typeface="Arial"/>
              <a:cs typeface="Arial"/>
              <a:sym typeface="Arial"/>
            </a:endParaRPr>
          </a:p>
        </p:txBody>
      </p:sp>
      <p:sp>
        <p:nvSpPr>
          <p:cNvPr id="491" name="Google Shape;491;g279ef9b7fc5_0_230"/>
          <p:cNvSpPr txBox="1"/>
          <p:nvPr/>
        </p:nvSpPr>
        <p:spPr>
          <a:xfrm>
            <a:off x="5716185" y="2849813"/>
            <a:ext cx="868800" cy="5097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JVM</a:t>
            </a:r>
            <a:endParaRPr b="0" i="0" sz="3200" u="none" cap="none" strike="noStrike">
              <a:solidFill>
                <a:schemeClr val="dk1"/>
              </a:solidFill>
              <a:latin typeface="Arial"/>
              <a:ea typeface="Arial"/>
              <a:cs typeface="Arial"/>
              <a:sym typeface="Arial"/>
            </a:endParaRPr>
          </a:p>
        </p:txBody>
      </p:sp>
      <p:sp>
        <p:nvSpPr>
          <p:cNvPr id="492" name="Google Shape;492;g279ef9b7fc5_0_230"/>
          <p:cNvSpPr txBox="1"/>
          <p:nvPr/>
        </p:nvSpPr>
        <p:spPr>
          <a:xfrm>
            <a:off x="5206153" y="3886877"/>
            <a:ext cx="1889700" cy="1447800"/>
          </a:xfrm>
          <a:prstGeom prst="rect">
            <a:avLst/>
          </a:prstGeom>
          <a:noFill/>
          <a:ln>
            <a:noFill/>
          </a:ln>
        </p:spPr>
        <p:txBody>
          <a:bodyPr anchorCtr="0" anchor="t" bIns="0" lIns="0" spcFirstLastPara="1" rIns="0" wrap="square" tIns="16925">
            <a:spAutoFit/>
          </a:bodyPr>
          <a:lstStyle/>
          <a:p>
            <a:pPr indent="0" lvl="0" marL="847" marR="0" rtl="0" algn="ctr">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OS</a:t>
            </a:r>
            <a:endParaRPr b="0" i="0" sz="3200" u="none" cap="none" strike="noStrike">
              <a:solidFill>
                <a:schemeClr val="dk1"/>
              </a:solidFill>
              <a:latin typeface="Arial"/>
              <a:ea typeface="Arial"/>
              <a:cs typeface="Arial"/>
              <a:sym typeface="Arial"/>
            </a:endParaRPr>
          </a:p>
          <a:p>
            <a:pPr indent="0" lvl="0" marL="0" marR="0" rtl="0" algn="l">
              <a:lnSpc>
                <a:spcPct val="100000"/>
              </a:lnSpc>
              <a:spcBef>
                <a:spcPts val="33"/>
              </a:spcBef>
              <a:spcAft>
                <a:spcPts val="0"/>
              </a:spcAft>
              <a:buClr>
                <a:srgbClr val="000000"/>
              </a:buClr>
              <a:buSzPts val="2867"/>
              <a:buFont typeface="Arial"/>
              <a:buNone/>
            </a:pPr>
            <a:r>
              <a:t/>
            </a:r>
            <a:endParaRPr b="0" i="0" sz="2867"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200"/>
              <a:buFont typeface="Arial"/>
              <a:buNone/>
            </a:pPr>
            <a:r>
              <a:rPr b="1" i="0" lang="en-IN" sz="3200" u="none" cap="none" strike="noStrike">
                <a:solidFill>
                  <a:srgbClr val="FFB42B"/>
                </a:solidFill>
                <a:latin typeface="Arial"/>
                <a:ea typeface="Arial"/>
                <a:cs typeface="Arial"/>
                <a:sym typeface="Arial"/>
              </a:rPr>
              <a:t>Hardware</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g279ef9b7fc5_0_258"/>
          <p:cNvSpPr txBox="1"/>
          <p:nvPr/>
        </p:nvSpPr>
        <p:spPr>
          <a:xfrm>
            <a:off x="450427" y="1541950"/>
            <a:ext cx="11193900" cy="3908400"/>
          </a:xfrm>
          <a:prstGeom prst="rect">
            <a:avLst/>
          </a:prstGeom>
          <a:noFill/>
          <a:ln>
            <a:noFill/>
          </a:ln>
        </p:spPr>
        <p:txBody>
          <a:bodyPr anchorCtr="0" anchor="t" bIns="0" lIns="0" spcFirstLastPara="1" rIns="0" wrap="square" tIns="16925">
            <a:spAutoFit/>
          </a:bodyPr>
          <a:lstStyle/>
          <a:p>
            <a:pPr indent="-711182" lvl="0" marL="727268" marR="6772"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Java runtime environment contains JVM, class  libraries and other supporting files.</a:t>
            </a:r>
            <a:endParaRPr b="0" i="0" sz="3200" u="none" cap="none" strike="noStrike">
              <a:solidFill>
                <a:schemeClr val="dk1"/>
              </a:solidFill>
              <a:latin typeface="Arial"/>
              <a:ea typeface="Arial"/>
              <a:cs typeface="Arial"/>
              <a:sym typeface="Arial"/>
            </a:endParaRPr>
          </a:p>
          <a:p>
            <a:pPr indent="-711182" lvl="0" marL="728115" marR="0" rtl="0" algn="just">
              <a:lnSpc>
                <a:spcPct val="100000"/>
              </a:lnSpc>
              <a:spcBef>
                <a:spcPts val="573"/>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It doesn’t contain any development tools such as</a:t>
            </a:r>
            <a:endParaRPr b="0" i="0" sz="3200" u="none" cap="none" strike="noStrike">
              <a:solidFill>
                <a:schemeClr val="dk1"/>
              </a:solidFill>
              <a:latin typeface="Arial"/>
              <a:ea typeface="Arial"/>
              <a:cs typeface="Arial"/>
              <a:sym typeface="Arial"/>
            </a:endParaRPr>
          </a:p>
          <a:p>
            <a:pPr indent="0" lvl="0" marL="727268" marR="0" rtl="0" algn="just">
              <a:lnSpc>
                <a:spcPct val="100000"/>
              </a:lnSpc>
              <a:spcBef>
                <a:spcPts val="579"/>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compiler, debugger etc.</a:t>
            </a:r>
            <a:endParaRPr b="0" i="0" sz="3200" u="none" cap="none" strike="noStrike">
              <a:solidFill>
                <a:schemeClr val="dk1"/>
              </a:solidFill>
              <a:latin typeface="Arial"/>
              <a:ea typeface="Arial"/>
              <a:cs typeface="Arial"/>
              <a:sym typeface="Arial"/>
            </a:endParaRPr>
          </a:p>
          <a:p>
            <a:pPr indent="-711182" lvl="0" marL="727268" marR="6772"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Actually JVM runs the program, and it uses the class  libraries, and other supporting files provided in Java  runtime environment.</a:t>
            </a:r>
            <a:endParaRPr b="0" i="0" sz="3200" u="none" cap="none" strike="noStrike">
              <a:solidFill>
                <a:schemeClr val="dk1"/>
              </a:solidFill>
              <a:latin typeface="Arial"/>
              <a:ea typeface="Arial"/>
              <a:cs typeface="Arial"/>
              <a:sym typeface="Arial"/>
            </a:endParaRPr>
          </a:p>
        </p:txBody>
      </p:sp>
      <p:sp>
        <p:nvSpPr>
          <p:cNvPr id="498" name="Google Shape;498;g279ef9b7fc5_0_258"/>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Java Runtime Environment</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grpSp>
        <p:nvGrpSpPr>
          <p:cNvPr id="503" name="Google Shape;503;g279ef9b7fc5_0_263"/>
          <p:cNvGrpSpPr/>
          <p:nvPr/>
        </p:nvGrpSpPr>
        <p:grpSpPr>
          <a:xfrm>
            <a:off x="2428178" y="1651923"/>
            <a:ext cx="7680768" cy="3616870"/>
            <a:chOff x="1821179" y="1238973"/>
            <a:chExt cx="5760720" cy="2712720"/>
          </a:xfrm>
        </p:grpSpPr>
        <p:sp>
          <p:nvSpPr>
            <p:cNvPr id="504" name="Google Shape;504;g279ef9b7fc5_0_263"/>
            <p:cNvSpPr/>
            <p:nvPr/>
          </p:nvSpPr>
          <p:spPr>
            <a:xfrm>
              <a:off x="1821179" y="1238973"/>
              <a:ext cx="5760720" cy="2712720"/>
            </a:xfrm>
            <a:custGeom>
              <a:rect b="b" l="l" r="r" t="t"/>
              <a:pathLst>
                <a:path extrusionOk="0" h="2712720" w="5760720">
                  <a:moveTo>
                    <a:pt x="5760212" y="0"/>
                  </a:moveTo>
                  <a:lnTo>
                    <a:pt x="0" y="0"/>
                  </a:lnTo>
                  <a:lnTo>
                    <a:pt x="0" y="2712339"/>
                  </a:lnTo>
                  <a:lnTo>
                    <a:pt x="5760212" y="2712339"/>
                  </a:lnTo>
                  <a:lnTo>
                    <a:pt x="5760212" y="0"/>
                  </a:lnTo>
                  <a:close/>
                </a:path>
              </a:pathLst>
            </a:custGeom>
            <a:solidFill>
              <a:srgbClr val="F3F3F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05" name="Google Shape;505;g279ef9b7fc5_0_263"/>
            <p:cNvSpPr/>
            <p:nvPr/>
          </p:nvSpPr>
          <p:spPr>
            <a:xfrm>
              <a:off x="2215895" y="2061972"/>
              <a:ext cx="2767329" cy="1339850"/>
            </a:xfrm>
            <a:custGeom>
              <a:rect b="b" l="l" r="r" t="t"/>
              <a:pathLst>
                <a:path extrusionOk="0" h="1339850" w="2767329">
                  <a:moveTo>
                    <a:pt x="2543429" y="0"/>
                  </a:moveTo>
                  <a:lnTo>
                    <a:pt x="224028" y="0"/>
                  </a:lnTo>
                  <a:lnTo>
                    <a:pt x="178816" y="4571"/>
                  </a:lnTo>
                  <a:lnTo>
                    <a:pt x="136779" y="17525"/>
                  </a:lnTo>
                  <a:lnTo>
                    <a:pt x="98806" y="38100"/>
                  </a:lnTo>
                  <a:lnTo>
                    <a:pt x="65659" y="65404"/>
                  </a:lnTo>
                  <a:lnTo>
                    <a:pt x="38227" y="98425"/>
                  </a:lnTo>
                  <a:lnTo>
                    <a:pt x="17653" y="136397"/>
                  </a:lnTo>
                  <a:lnTo>
                    <a:pt x="4572" y="178307"/>
                  </a:lnTo>
                  <a:lnTo>
                    <a:pt x="0" y="223265"/>
                  </a:lnTo>
                  <a:lnTo>
                    <a:pt x="0" y="1116329"/>
                  </a:lnTo>
                  <a:lnTo>
                    <a:pt x="4572" y="1161288"/>
                  </a:lnTo>
                  <a:lnTo>
                    <a:pt x="17653" y="1203197"/>
                  </a:lnTo>
                  <a:lnTo>
                    <a:pt x="38227" y="1241170"/>
                  </a:lnTo>
                  <a:lnTo>
                    <a:pt x="65659" y="1274190"/>
                  </a:lnTo>
                  <a:lnTo>
                    <a:pt x="98806" y="1301495"/>
                  </a:lnTo>
                  <a:lnTo>
                    <a:pt x="136779" y="1322070"/>
                  </a:lnTo>
                  <a:lnTo>
                    <a:pt x="178816" y="1335023"/>
                  </a:lnTo>
                  <a:lnTo>
                    <a:pt x="224028" y="1339595"/>
                  </a:lnTo>
                  <a:lnTo>
                    <a:pt x="2543429" y="1339595"/>
                  </a:lnTo>
                  <a:lnTo>
                    <a:pt x="2588514" y="1335023"/>
                  </a:lnTo>
                  <a:lnTo>
                    <a:pt x="2630551" y="1322070"/>
                  </a:lnTo>
                  <a:lnTo>
                    <a:pt x="2668651" y="1301495"/>
                  </a:lnTo>
                  <a:lnTo>
                    <a:pt x="2701798" y="1274190"/>
                  </a:lnTo>
                  <a:lnTo>
                    <a:pt x="2729103" y="1241170"/>
                  </a:lnTo>
                  <a:lnTo>
                    <a:pt x="2749804" y="1203197"/>
                  </a:lnTo>
                  <a:lnTo>
                    <a:pt x="2762885" y="1161288"/>
                  </a:lnTo>
                  <a:lnTo>
                    <a:pt x="2767330" y="1116329"/>
                  </a:lnTo>
                  <a:lnTo>
                    <a:pt x="2767330" y="223265"/>
                  </a:lnTo>
                  <a:lnTo>
                    <a:pt x="2763012" y="179450"/>
                  </a:lnTo>
                  <a:lnTo>
                    <a:pt x="2750312" y="137794"/>
                  </a:lnTo>
                  <a:lnTo>
                    <a:pt x="2729738" y="99440"/>
                  </a:lnTo>
                  <a:lnTo>
                    <a:pt x="2701798" y="65404"/>
                  </a:lnTo>
                  <a:lnTo>
                    <a:pt x="2667635" y="37464"/>
                  </a:lnTo>
                  <a:lnTo>
                    <a:pt x="2629154" y="17017"/>
                  </a:lnTo>
                  <a:lnTo>
                    <a:pt x="2587244" y="4317"/>
                  </a:lnTo>
                  <a:lnTo>
                    <a:pt x="2543429"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06" name="Google Shape;506;g279ef9b7fc5_0_263"/>
            <p:cNvSpPr/>
            <p:nvPr/>
          </p:nvSpPr>
          <p:spPr>
            <a:xfrm>
              <a:off x="2216657" y="2049018"/>
              <a:ext cx="2767329" cy="1339850"/>
            </a:xfrm>
            <a:custGeom>
              <a:rect b="b" l="l" r="r" t="t"/>
              <a:pathLst>
                <a:path extrusionOk="0" h="1339850" w="2767329">
                  <a:moveTo>
                    <a:pt x="0" y="223265"/>
                  </a:moveTo>
                  <a:lnTo>
                    <a:pt x="4572" y="178307"/>
                  </a:lnTo>
                  <a:lnTo>
                    <a:pt x="17653" y="136398"/>
                  </a:lnTo>
                  <a:lnTo>
                    <a:pt x="38227" y="98425"/>
                  </a:lnTo>
                  <a:lnTo>
                    <a:pt x="65659" y="65405"/>
                  </a:lnTo>
                  <a:lnTo>
                    <a:pt x="98806" y="38100"/>
                  </a:lnTo>
                  <a:lnTo>
                    <a:pt x="136779" y="17525"/>
                  </a:lnTo>
                  <a:lnTo>
                    <a:pt x="178816" y="4571"/>
                  </a:lnTo>
                  <a:lnTo>
                    <a:pt x="224028" y="0"/>
                  </a:lnTo>
                  <a:lnTo>
                    <a:pt x="2543429" y="0"/>
                  </a:lnTo>
                  <a:lnTo>
                    <a:pt x="2587244" y="4318"/>
                  </a:lnTo>
                  <a:lnTo>
                    <a:pt x="2629154" y="17018"/>
                  </a:lnTo>
                  <a:lnTo>
                    <a:pt x="2667635" y="37464"/>
                  </a:lnTo>
                  <a:lnTo>
                    <a:pt x="2701797" y="65405"/>
                  </a:lnTo>
                  <a:lnTo>
                    <a:pt x="2729738" y="99440"/>
                  </a:lnTo>
                  <a:lnTo>
                    <a:pt x="2750312" y="137794"/>
                  </a:lnTo>
                  <a:lnTo>
                    <a:pt x="2763012" y="179450"/>
                  </a:lnTo>
                  <a:lnTo>
                    <a:pt x="2767330" y="223265"/>
                  </a:lnTo>
                  <a:lnTo>
                    <a:pt x="2767330" y="1116330"/>
                  </a:lnTo>
                  <a:lnTo>
                    <a:pt x="2762885" y="1161288"/>
                  </a:lnTo>
                  <a:lnTo>
                    <a:pt x="2749804" y="1203198"/>
                  </a:lnTo>
                  <a:lnTo>
                    <a:pt x="2729103" y="1241170"/>
                  </a:lnTo>
                  <a:lnTo>
                    <a:pt x="2701797" y="1274190"/>
                  </a:lnTo>
                  <a:lnTo>
                    <a:pt x="2668651" y="1301495"/>
                  </a:lnTo>
                  <a:lnTo>
                    <a:pt x="2630551" y="1322070"/>
                  </a:lnTo>
                  <a:lnTo>
                    <a:pt x="2588514" y="1335024"/>
                  </a:lnTo>
                  <a:lnTo>
                    <a:pt x="2543429" y="1339595"/>
                  </a:lnTo>
                  <a:lnTo>
                    <a:pt x="224028" y="1339595"/>
                  </a:lnTo>
                  <a:lnTo>
                    <a:pt x="178816" y="1335024"/>
                  </a:lnTo>
                  <a:lnTo>
                    <a:pt x="136779" y="1322070"/>
                  </a:lnTo>
                  <a:lnTo>
                    <a:pt x="98806" y="1301495"/>
                  </a:lnTo>
                  <a:lnTo>
                    <a:pt x="65659" y="1274190"/>
                  </a:lnTo>
                  <a:lnTo>
                    <a:pt x="38227" y="1241170"/>
                  </a:lnTo>
                  <a:lnTo>
                    <a:pt x="17653" y="1203198"/>
                  </a:lnTo>
                  <a:lnTo>
                    <a:pt x="4572" y="1161288"/>
                  </a:lnTo>
                  <a:lnTo>
                    <a:pt x="0" y="1116330"/>
                  </a:lnTo>
                  <a:lnTo>
                    <a:pt x="0" y="223265"/>
                  </a:lnTo>
                  <a:close/>
                </a:path>
              </a:pathLst>
            </a:custGeom>
            <a:noFill/>
            <a:ln cap="flat" cmpd="sng" w="38075">
              <a:solidFill>
                <a:srgbClr val="FFB42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07" name="Google Shape;507;g279ef9b7fc5_0_263"/>
            <p:cNvSpPr/>
            <p:nvPr/>
          </p:nvSpPr>
          <p:spPr>
            <a:xfrm>
              <a:off x="5480303" y="1586484"/>
              <a:ext cx="2010409" cy="970914"/>
            </a:xfrm>
            <a:custGeom>
              <a:rect b="b" l="l" r="r" t="t"/>
              <a:pathLst>
                <a:path extrusionOk="0" h="970914" w="2010409">
                  <a:moveTo>
                    <a:pt x="1847850" y="0"/>
                  </a:moveTo>
                  <a:lnTo>
                    <a:pt x="162306" y="0"/>
                  </a:lnTo>
                  <a:lnTo>
                    <a:pt x="119125" y="5841"/>
                  </a:lnTo>
                  <a:lnTo>
                    <a:pt x="80391" y="22098"/>
                  </a:lnTo>
                  <a:lnTo>
                    <a:pt x="47498" y="47370"/>
                  </a:lnTo>
                  <a:lnTo>
                    <a:pt x="22098" y="80137"/>
                  </a:lnTo>
                  <a:lnTo>
                    <a:pt x="5842" y="118744"/>
                  </a:lnTo>
                  <a:lnTo>
                    <a:pt x="0" y="161798"/>
                  </a:lnTo>
                  <a:lnTo>
                    <a:pt x="0" y="808863"/>
                  </a:lnTo>
                  <a:lnTo>
                    <a:pt x="5842" y="851915"/>
                  </a:lnTo>
                  <a:lnTo>
                    <a:pt x="22098" y="890523"/>
                  </a:lnTo>
                  <a:lnTo>
                    <a:pt x="47498" y="923289"/>
                  </a:lnTo>
                  <a:lnTo>
                    <a:pt x="80391" y="948563"/>
                  </a:lnTo>
                  <a:lnTo>
                    <a:pt x="119125" y="964945"/>
                  </a:lnTo>
                  <a:lnTo>
                    <a:pt x="162306" y="970660"/>
                  </a:lnTo>
                  <a:lnTo>
                    <a:pt x="1847850" y="970660"/>
                  </a:lnTo>
                  <a:lnTo>
                    <a:pt x="1891029" y="964945"/>
                  </a:lnTo>
                  <a:lnTo>
                    <a:pt x="1929765" y="948563"/>
                  </a:lnTo>
                  <a:lnTo>
                    <a:pt x="1962657" y="923289"/>
                  </a:lnTo>
                  <a:lnTo>
                    <a:pt x="1987930" y="890523"/>
                  </a:lnTo>
                  <a:lnTo>
                    <a:pt x="2004314" y="851915"/>
                  </a:lnTo>
                  <a:lnTo>
                    <a:pt x="2010155" y="808863"/>
                  </a:lnTo>
                  <a:lnTo>
                    <a:pt x="2010155" y="161798"/>
                  </a:lnTo>
                  <a:lnTo>
                    <a:pt x="1997837" y="99821"/>
                  </a:lnTo>
                  <a:lnTo>
                    <a:pt x="1962657" y="47370"/>
                  </a:lnTo>
                  <a:lnTo>
                    <a:pt x="1909952" y="12318"/>
                  </a:lnTo>
                  <a:lnTo>
                    <a:pt x="1847850" y="0"/>
                  </a:lnTo>
                  <a:close/>
                </a:path>
              </a:pathLst>
            </a:custGeom>
            <a:solidFill>
              <a:srgbClr val="FFB42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08" name="Google Shape;508;g279ef9b7fc5_0_263"/>
            <p:cNvSpPr/>
            <p:nvPr/>
          </p:nvSpPr>
          <p:spPr>
            <a:xfrm>
              <a:off x="5481065" y="1587245"/>
              <a:ext cx="2010409" cy="970914"/>
            </a:xfrm>
            <a:custGeom>
              <a:rect b="b" l="l" r="r" t="t"/>
              <a:pathLst>
                <a:path extrusionOk="0" h="970914" w="2010409">
                  <a:moveTo>
                    <a:pt x="0" y="161798"/>
                  </a:moveTo>
                  <a:lnTo>
                    <a:pt x="5842" y="118744"/>
                  </a:lnTo>
                  <a:lnTo>
                    <a:pt x="22098" y="80137"/>
                  </a:lnTo>
                  <a:lnTo>
                    <a:pt x="47498" y="47370"/>
                  </a:lnTo>
                  <a:lnTo>
                    <a:pt x="80391" y="22098"/>
                  </a:lnTo>
                  <a:lnTo>
                    <a:pt x="119125" y="5841"/>
                  </a:lnTo>
                  <a:lnTo>
                    <a:pt x="162306" y="0"/>
                  </a:lnTo>
                  <a:lnTo>
                    <a:pt x="1847850" y="0"/>
                  </a:lnTo>
                  <a:lnTo>
                    <a:pt x="1909953" y="12318"/>
                  </a:lnTo>
                  <a:lnTo>
                    <a:pt x="1962658" y="47370"/>
                  </a:lnTo>
                  <a:lnTo>
                    <a:pt x="1997837" y="99821"/>
                  </a:lnTo>
                  <a:lnTo>
                    <a:pt x="2010156" y="161798"/>
                  </a:lnTo>
                  <a:lnTo>
                    <a:pt x="2010156" y="808862"/>
                  </a:lnTo>
                  <a:lnTo>
                    <a:pt x="2004314" y="851915"/>
                  </a:lnTo>
                  <a:lnTo>
                    <a:pt x="1987931" y="890523"/>
                  </a:lnTo>
                  <a:lnTo>
                    <a:pt x="1962658" y="923289"/>
                  </a:lnTo>
                  <a:lnTo>
                    <a:pt x="1929764" y="948562"/>
                  </a:lnTo>
                  <a:lnTo>
                    <a:pt x="1891030" y="964945"/>
                  </a:lnTo>
                  <a:lnTo>
                    <a:pt x="1847850" y="970660"/>
                  </a:lnTo>
                  <a:lnTo>
                    <a:pt x="162306" y="970660"/>
                  </a:lnTo>
                  <a:lnTo>
                    <a:pt x="119125" y="964945"/>
                  </a:lnTo>
                  <a:lnTo>
                    <a:pt x="80391" y="948562"/>
                  </a:lnTo>
                  <a:lnTo>
                    <a:pt x="47498" y="923289"/>
                  </a:lnTo>
                  <a:lnTo>
                    <a:pt x="22098" y="890523"/>
                  </a:lnTo>
                  <a:lnTo>
                    <a:pt x="5842" y="851915"/>
                  </a:lnTo>
                  <a:lnTo>
                    <a:pt x="0" y="808862"/>
                  </a:lnTo>
                  <a:lnTo>
                    <a:pt x="0" y="161798"/>
                  </a:lnTo>
                  <a:close/>
                </a:path>
              </a:pathLst>
            </a:custGeom>
            <a:noFill/>
            <a:ln cap="flat" cmpd="sng" w="380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09" name="Google Shape;509;g279ef9b7fc5_0_263"/>
            <p:cNvSpPr/>
            <p:nvPr/>
          </p:nvSpPr>
          <p:spPr>
            <a:xfrm>
              <a:off x="5480303" y="2752344"/>
              <a:ext cx="2010409" cy="756920"/>
            </a:xfrm>
            <a:custGeom>
              <a:rect b="b" l="l" r="r" t="t"/>
              <a:pathLst>
                <a:path extrusionOk="0" h="756920" w="2010409">
                  <a:moveTo>
                    <a:pt x="1883664" y="0"/>
                  </a:moveTo>
                  <a:lnTo>
                    <a:pt x="126492" y="0"/>
                  </a:lnTo>
                  <a:lnTo>
                    <a:pt x="77216" y="9906"/>
                  </a:lnTo>
                  <a:lnTo>
                    <a:pt x="37084" y="36956"/>
                  </a:lnTo>
                  <a:lnTo>
                    <a:pt x="9906" y="77088"/>
                  </a:lnTo>
                  <a:lnTo>
                    <a:pt x="0" y="126111"/>
                  </a:lnTo>
                  <a:lnTo>
                    <a:pt x="0" y="630682"/>
                  </a:lnTo>
                  <a:lnTo>
                    <a:pt x="9906" y="679831"/>
                  </a:lnTo>
                  <a:lnTo>
                    <a:pt x="37084" y="719836"/>
                  </a:lnTo>
                  <a:lnTo>
                    <a:pt x="77216" y="746887"/>
                  </a:lnTo>
                  <a:lnTo>
                    <a:pt x="126492" y="756793"/>
                  </a:lnTo>
                  <a:lnTo>
                    <a:pt x="1883664" y="756793"/>
                  </a:lnTo>
                  <a:lnTo>
                    <a:pt x="1932940" y="746887"/>
                  </a:lnTo>
                  <a:lnTo>
                    <a:pt x="1973072" y="719836"/>
                  </a:lnTo>
                  <a:lnTo>
                    <a:pt x="2000250" y="679831"/>
                  </a:lnTo>
                  <a:lnTo>
                    <a:pt x="2010155" y="630682"/>
                  </a:lnTo>
                  <a:lnTo>
                    <a:pt x="2010155" y="126111"/>
                  </a:lnTo>
                  <a:lnTo>
                    <a:pt x="2000503" y="77850"/>
                  </a:lnTo>
                  <a:lnTo>
                    <a:pt x="1973072" y="36956"/>
                  </a:lnTo>
                  <a:lnTo>
                    <a:pt x="1932051" y="9651"/>
                  </a:lnTo>
                  <a:lnTo>
                    <a:pt x="1883664" y="0"/>
                  </a:lnTo>
                  <a:close/>
                </a:path>
              </a:pathLst>
            </a:custGeom>
            <a:solidFill>
              <a:srgbClr val="FFB42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sp>
        <p:nvSpPr>
          <p:cNvPr id="510" name="Google Shape;510;g279ef9b7fc5_0_263"/>
          <p:cNvSpPr txBox="1"/>
          <p:nvPr/>
        </p:nvSpPr>
        <p:spPr>
          <a:xfrm>
            <a:off x="2428239" y="1651964"/>
            <a:ext cx="7680900" cy="2733000"/>
          </a:xfrm>
          <a:prstGeom prst="rect">
            <a:avLst/>
          </a:prstGeom>
          <a:noFill/>
          <a:ln>
            <a:noFill/>
          </a:ln>
        </p:spPr>
        <p:txBody>
          <a:bodyPr anchorCtr="0" anchor="t" bIns="0" lIns="0" spcFirstLastPara="1" rIns="0" wrap="square" tIns="5925">
            <a:spAutoFit/>
          </a:bodyPr>
          <a:lstStyle/>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Times New Roman"/>
              <a:ea typeface="Times New Roman"/>
              <a:cs typeface="Times New Roman"/>
              <a:sym typeface="Times New Roman"/>
            </a:endParaRPr>
          </a:p>
          <a:p>
            <a:pPr indent="-140540" lvl="0" marL="5298307" marR="684090" rtl="0" algn="l">
              <a:lnSpc>
                <a:spcPct val="100000"/>
              </a:lnSpc>
              <a:spcBef>
                <a:spcPts val="7"/>
              </a:spcBef>
              <a:spcAft>
                <a:spcPts val="0"/>
              </a:spcAft>
              <a:buClr>
                <a:srgbClr val="000000"/>
              </a:buClr>
              <a:buSzPts val="2400"/>
              <a:buFont typeface="Arial"/>
              <a:buNone/>
            </a:pPr>
            <a:r>
              <a:rPr b="1" i="0" lang="en-IN" sz="2400" u="none" cap="none" strike="noStrike">
                <a:solidFill>
                  <a:schemeClr val="dk1"/>
                </a:solidFill>
                <a:latin typeface="Calibri"/>
                <a:ea typeface="Calibri"/>
                <a:cs typeface="Calibri"/>
                <a:sym typeface="Calibri"/>
              </a:rPr>
              <a:t>Set of libraries  Eg: rt.jar,</a:t>
            </a:r>
            <a:endParaRPr b="0" i="0" sz="2400" u="none" cap="none" strike="noStrike">
              <a:solidFill>
                <a:schemeClr val="dk1"/>
              </a:solidFill>
              <a:latin typeface="Calibri"/>
              <a:ea typeface="Calibri"/>
              <a:cs typeface="Calibri"/>
              <a:sym typeface="Calibri"/>
            </a:endParaRPr>
          </a:p>
          <a:p>
            <a:pPr indent="0" lvl="0" marL="5717398" marR="0" rtl="0" algn="l">
              <a:lnSpc>
                <a:spcPct val="100000"/>
              </a:lnSpc>
              <a:spcBef>
                <a:spcPts val="0"/>
              </a:spcBef>
              <a:spcAft>
                <a:spcPts val="0"/>
              </a:spcAft>
              <a:buClr>
                <a:srgbClr val="000000"/>
              </a:buClr>
              <a:buSzPts val="2400"/>
              <a:buFont typeface="Arial"/>
              <a:buNone/>
            </a:pPr>
            <a:r>
              <a:rPr b="1" i="0" lang="en-IN" sz="2400" u="none" cap="none" strike="noStrike">
                <a:solidFill>
                  <a:schemeClr val="dk1"/>
                </a:solidFill>
                <a:latin typeface="Calibri"/>
                <a:ea typeface="Calibri"/>
                <a:cs typeface="Calibri"/>
                <a:sym typeface="Calibri"/>
              </a:rPr>
              <a:t>jce.jar</a:t>
            </a:r>
            <a:endParaRPr b="0" i="0" sz="2400" u="none" cap="none" strike="noStrike">
              <a:solidFill>
                <a:schemeClr val="dk1"/>
              </a:solidFill>
              <a:latin typeface="Calibri"/>
              <a:ea typeface="Calibri"/>
              <a:cs typeface="Calibri"/>
              <a:sym typeface="Calibri"/>
            </a:endParaRPr>
          </a:p>
          <a:p>
            <a:pPr indent="0" lvl="0" marL="1922731" marR="0" rtl="0" algn="l">
              <a:lnSpc>
                <a:spcPct val="100000"/>
              </a:lnSpc>
              <a:spcBef>
                <a:spcPts val="1940"/>
              </a:spcBef>
              <a:spcAft>
                <a:spcPts val="0"/>
              </a:spcAft>
              <a:buClr>
                <a:srgbClr val="000000"/>
              </a:buClr>
              <a:buSzPts val="2400"/>
              <a:buFont typeface="Arial"/>
              <a:buNone/>
            </a:pPr>
            <a:r>
              <a:rPr b="0" i="0" lang="en-IN" sz="2400" u="none" cap="none" strike="noStrike">
                <a:solidFill>
                  <a:srgbClr val="FFFFFF"/>
                </a:solidFill>
                <a:latin typeface="Arial Black"/>
                <a:ea typeface="Arial Black"/>
                <a:cs typeface="Arial Black"/>
                <a:sym typeface="Arial Black"/>
              </a:rPr>
              <a:t>JVM</a:t>
            </a:r>
            <a:endParaRPr b="0" i="0" sz="2400" u="none" cap="none" strike="noStrike">
              <a:solidFill>
                <a:schemeClr val="dk1"/>
              </a:solidFill>
              <a:latin typeface="Arial Black"/>
              <a:ea typeface="Arial Black"/>
              <a:cs typeface="Arial Black"/>
              <a:sym typeface="Arial Black"/>
            </a:endParaRPr>
          </a:p>
          <a:p>
            <a:pPr indent="0" lvl="0" marL="0" marR="905911" rtl="0" algn="r">
              <a:lnSpc>
                <a:spcPct val="100000"/>
              </a:lnSpc>
              <a:spcBef>
                <a:spcPts val="1313"/>
              </a:spcBef>
              <a:spcAft>
                <a:spcPts val="0"/>
              </a:spcAft>
              <a:buClr>
                <a:srgbClr val="000000"/>
              </a:buClr>
              <a:buSzPts val="2400"/>
              <a:buFont typeface="Arial"/>
              <a:buNone/>
            </a:pPr>
            <a:r>
              <a:rPr b="1" i="0" lang="en-IN" sz="2400" u="none" cap="none" strike="noStrike">
                <a:solidFill>
                  <a:schemeClr val="dk1"/>
                </a:solidFill>
                <a:latin typeface="Calibri"/>
                <a:ea typeface="Calibri"/>
                <a:cs typeface="Calibri"/>
                <a:sym typeface="Calibri"/>
              </a:rPr>
              <a:t>Other files</a:t>
            </a:r>
            <a:endParaRPr b="0" i="0" sz="2400" u="none" cap="none" strike="noStrike">
              <a:solidFill>
                <a:schemeClr val="dk1"/>
              </a:solidFill>
              <a:latin typeface="Calibri"/>
              <a:ea typeface="Calibri"/>
              <a:cs typeface="Calibri"/>
              <a:sym typeface="Calibri"/>
            </a:endParaRPr>
          </a:p>
        </p:txBody>
      </p:sp>
      <p:sp>
        <p:nvSpPr>
          <p:cNvPr id="511" name="Google Shape;511;g279ef9b7fc5_0_263"/>
          <p:cNvSpPr/>
          <p:nvPr/>
        </p:nvSpPr>
        <p:spPr>
          <a:xfrm>
            <a:off x="7308087" y="3670807"/>
            <a:ext cx="2678870" cy="1008596"/>
          </a:xfrm>
          <a:custGeom>
            <a:rect b="b" l="l" r="r" t="t"/>
            <a:pathLst>
              <a:path extrusionOk="0" h="756920" w="2010409">
                <a:moveTo>
                  <a:pt x="0" y="126111"/>
                </a:moveTo>
                <a:lnTo>
                  <a:pt x="9906" y="77088"/>
                </a:lnTo>
                <a:lnTo>
                  <a:pt x="37084" y="36956"/>
                </a:lnTo>
                <a:lnTo>
                  <a:pt x="77216" y="9906"/>
                </a:lnTo>
                <a:lnTo>
                  <a:pt x="126492" y="0"/>
                </a:lnTo>
                <a:lnTo>
                  <a:pt x="1883664" y="0"/>
                </a:lnTo>
                <a:lnTo>
                  <a:pt x="1932051" y="9651"/>
                </a:lnTo>
                <a:lnTo>
                  <a:pt x="1973072" y="36956"/>
                </a:lnTo>
                <a:lnTo>
                  <a:pt x="2000504" y="77850"/>
                </a:lnTo>
                <a:lnTo>
                  <a:pt x="2010156" y="126111"/>
                </a:lnTo>
                <a:lnTo>
                  <a:pt x="2010156" y="630682"/>
                </a:lnTo>
                <a:lnTo>
                  <a:pt x="2000250" y="679831"/>
                </a:lnTo>
                <a:lnTo>
                  <a:pt x="1973072" y="719836"/>
                </a:lnTo>
                <a:lnTo>
                  <a:pt x="1932939" y="746887"/>
                </a:lnTo>
                <a:lnTo>
                  <a:pt x="1883664" y="756793"/>
                </a:lnTo>
                <a:lnTo>
                  <a:pt x="126492" y="756793"/>
                </a:lnTo>
                <a:lnTo>
                  <a:pt x="77216" y="746887"/>
                </a:lnTo>
                <a:lnTo>
                  <a:pt x="37084" y="719836"/>
                </a:lnTo>
                <a:lnTo>
                  <a:pt x="9906" y="679831"/>
                </a:lnTo>
                <a:lnTo>
                  <a:pt x="0" y="630682"/>
                </a:lnTo>
                <a:lnTo>
                  <a:pt x="0" y="126111"/>
                </a:lnTo>
                <a:close/>
              </a:path>
            </a:pathLst>
          </a:custGeom>
          <a:noFill/>
          <a:ln cap="flat" cmpd="sng" w="380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12" name="Google Shape;512;g279ef9b7fc5_0_263"/>
          <p:cNvSpPr txBox="1"/>
          <p:nvPr/>
        </p:nvSpPr>
        <p:spPr>
          <a:xfrm>
            <a:off x="4127501" y="5346733"/>
            <a:ext cx="4527900" cy="7560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2400"/>
              <a:buFont typeface="Arial"/>
              <a:buNone/>
            </a:pPr>
            <a:r>
              <a:rPr b="1" i="0" lang="en-IN" sz="2400" u="none" cap="none" strike="noStrike">
                <a:solidFill>
                  <a:srgbClr val="FFFFFF"/>
                </a:solidFill>
                <a:latin typeface="Arial"/>
                <a:ea typeface="Arial"/>
                <a:cs typeface="Arial"/>
                <a:sym typeface="Arial"/>
              </a:rPr>
              <a:t>JAVA RUNTIME ENVIRONMENT</a:t>
            </a:r>
            <a:endParaRPr b="0" i="0" sz="2400" u="none" cap="none" strike="noStrike">
              <a:solidFill>
                <a:schemeClr val="dk1"/>
              </a:solidFill>
              <a:latin typeface="Arial"/>
              <a:ea typeface="Arial"/>
              <a:cs typeface="Arial"/>
              <a:sym typeface="Arial"/>
            </a:endParaRPr>
          </a:p>
        </p:txBody>
      </p:sp>
      <p:sp>
        <p:nvSpPr>
          <p:cNvPr id="513" name="Google Shape;513;g279ef9b7fc5_0_263"/>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Java Runtime Environment</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279ef9b7fc5_0_277"/>
          <p:cNvSpPr txBox="1"/>
          <p:nvPr/>
        </p:nvSpPr>
        <p:spPr>
          <a:xfrm>
            <a:off x="608921" y="931272"/>
            <a:ext cx="10412400" cy="3500700"/>
          </a:xfrm>
          <a:prstGeom prst="rect">
            <a:avLst/>
          </a:prstGeom>
          <a:noFill/>
          <a:ln>
            <a:noFill/>
          </a:ln>
        </p:spPr>
        <p:txBody>
          <a:bodyPr anchorCtr="0" anchor="t" bIns="0" lIns="0" spcFirstLastPara="1" rIns="0" wrap="square" tIns="90575">
            <a:spAutoFit/>
          </a:bodyPr>
          <a:lstStyle/>
          <a:p>
            <a:pPr indent="-712029" lvl="0" marL="728115" marR="0" rtl="0" algn="l">
              <a:lnSpc>
                <a:spcPct val="1000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Java development kit provides all necessary tools</a:t>
            </a:r>
            <a:endParaRPr b="0" i="0" sz="3200" u="none" cap="none" strike="noStrike">
              <a:solidFill>
                <a:schemeClr val="dk1"/>
              </a:solidFill>
              <a:latin typeface="Arial"/>
              <a:ea typeface="Arial"/>
              <a:cs typeface="Arial"/>
              <a:sym typeface="Arial"/>
            </a:endParaRPr>
          </a:p>
          <a:p>
            <a:pPr indent="0" lvl="0" marL="728115" marR="0" rtl="0" algn="l">
              <a:lnSpc>
                <a:spcPct val="100000"/>
              </a:lnSpc>
              <a:spcBef>
                <a:spcPts val="579"/>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to develop any java application as well as runs it.</a:t>
            </a:r>
            <a:endParaRPr b="0" i="0" sz="3200" u="none" cap="none" strike="noStrike">
              <a:solidFill>
                <a:schemeClr val="dk1"/>
              </a:solidFill>
              <a:latin typeface="Arial"/>
              <a:ea typeface="Arial"/>
              <a:cs typeface="Arial"/>
              <a:sym typeface="Arial"/>
            </a:endParaRPr>
          </a:p>
          <a:p>
            <a:pPr indent="0" lvl="0" marL="0" marR="0" rtl="0" algn="l">
              <a:lnSpc>
                <a:spcPct val="100000"/>
              </a:lnSpc>
              <a:spcBef>
                <a:spcPts val="60"/>
              </a:spcBef>
              <a:spcAft>
                <a:spcPts val="0"/>
              </a:spcAft>
              <a:buClr>
                <a:srgbClr val="000000"/>
              </a:buClr>
              <a:buSzPts val="4733"/>
              <a:buFont typeface="Arial"/>
              <a:buNone/>
            </a:pPr>
            <a:r>
              <a:t/>
            </a:r>
            <a:endParaRPr b="0" i="0" sz="4733" u="none" cap="none" strike="noStrike">
              <a:solidFill>
                <a:schemeClr val="dk1"/>
              </a:solidFill>
              <a:latin typeface="Arial"/>
              <a:ea typeface="Arial"/>
              <a:cs typeface="Arial"/>
              <a:sym typeface="Arial"/>
            </a:endParaRPr>
          </a:p>
          <a:p>
            <a:pPr indent="-712029" lvl="0" marL="728115" marR="0" rtl="0" algn="l">
              <a:lnSpc>
                <a:spcPct val="1000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JDK = Tools required to develop java application</a:t>
            </a:r>
            <a:endParaRPr b="0" i="0" sz="3200" u="none" cap="none" strike="noStrike">
              <a:solidFill>
                <a:schemeClr val="dk1"/>
              </a:solidFill>
              <a:latin typeface="Arial"/>
              <a:ea typeface="Arial"/>
              <a:cs typeface="Arial"/>
              <a:sym typeface="Arial"/>
            </a:endParaRPr>
          </a:p>
          <a:p>
            <a:pPr indent="0" lvl="0" marL="5178931" marR="0" rtl="0" algn="l">
              <a:lnSpc>
                <a:spcPct val="100000"/>
              </a:lnSpc>
              <a:spcBef>
                <a:spcPts val="533"/>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a:p>
            <a:pPr indent="0" lvl="0" marL="2372301" marR="0" rtl="0" algn="l">
              <a:lnSpc>
                <a:spcPct val="100000"/>
              </a:lnSpc>
              <a:spcBef>
                <a:spcPts val="527"/>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Java Runtime Environment</a:t>
            </a:r>
            <a:endParaRPr b="0" i="0" sz="3200" u="none" cap="none" strike="noStrike">
              <a:solidFill>
                <a:schemeClr val="dk1"/>
              </a:solidFill>
              <a:latin typeface="Arial"/>
              <a:ea typeface="Arial"/>
              <a:cs typeface="Arial"/>
              <a:sym typeface="Arial"/>
            </a:endParaRPr>
          </a:p>
        </p:txBody>
      </p:sp>
      <p:sp>
        <p:nvSpPr>
          <p:cNvPr id="519" name="Google Shape;519;g279ef9b7fc5_0_277"/>
          <p:cNvSpPr/>
          <p:nvPr/>
        </p:nvSpPr>
        <p:spPr>
          <a:xfrm>
            <a:off x="1112519" y="2478023"/>
            <a:ext cx="10001345" cy="2130573"/>
          </a:xfrm>
          <a:custGeom>
            <a:rect b="b" l="l" r="r" t="t"/>
            <a:pathLst>
              <a:path extrusionOk="0" h="1598929" w="7505700">
                <a:moveTo>
                  <a:pt x="0" y="266446"/>
                </a:moveTo>
                <a:lnTo>
                  <a:pt x="4292" y="218567"/>
                </a:lnTo>
                <a:lnTo>
                  <a:pt x="16662" y="173482"/>
                </a:lnTo>
                <a:lnTo>
                  <a:pt x="36360" y="131953"/>
                </a:lnTo>
                <a:lnTo>
                  <a:pt x="62636" y="94742"/>
                </a:lnTo>
                <a:lnTo>
                  <a:pt x="94729" y="62611"/>
                </a:lnTo>
                <a:lnTo>
                  <a:pt x="131902" y="36322"/>
                </a:lnTo>
                <a:lnTo>
                  <a:pt x="173380" y="16637"/>
                </a:lnTo>
                <a:lnTo>
                  <a:pt x="218440" y="4318"/>
                </a:lnTo>
                <a:lnTo>
                  <a:pt x="266306" y="0"/>
                </a:lnTo>
                <a:lnTo>
                  <a:pt x="7239381" y="0"/>
                </a:lnTo>
                <a:lnTo>
                  <a:pt x="7291578" y="5207"/>
                </a:lnTo>
                <a:lnTo>
                  <a:pt x="7341234" y="20320"/>
                </a:lnTo>
                <a:lnTo>
                  <a:pt x="7387082" y="44704"/>
                </a:lnTo>
                <a:lnTo>
                  <a:pt x="7427594" y="77978"/>
                </a:lnTo>
                <a:lnTo>
                  <a:pt x="7460868" y="118618"/>
                </a:lnTo>
                <a:lnTo>
                  <a:pt x="7485380" y="164465"/>
                </a:lnTo>
                <a:lnTo>
                  <a:pt x="7500492" y="214249"/>
                </a:lnTo>
                <a:lnTo>
                  <a:pt x="7505573" y="266446"/>
                </a:lnTo>
                <a:lnTo>
                  <a:pt x="7505573" y="1332103"/>
                </a:lnTo>
                <a:lnTo>
                  <a:pt x="7501382" y="1379982"/>
                </a:lnTo>
                <a:lnTo>
                  <a:pt x="7488935" y="1425067"/>
                </a:lnTo>
                <a:lnTo>
                  <a:pt x="7469251" y="1466469"/>
                </a:lnTo>
                <a:lnTo>
                  <a:pt x="7442961" y="1503680"/>
                </a:lnTo>
                <a:lnTo>
                  <a:pt x="7410958" y="1535811"/>
                </a:lnTo>
                <a:lnTo>
                  <a:pt x="7373746" y="1562100"/>
                </a:lnTo>
                <a:lnTo>
                  <a:pt x="7332217" y="1581785"/>
                </a:lnTo>
                <a:lnTo>
                  <a:pt x="7287133" y="1594231"/>
                </a:lnTo>
                <a:lnTo>
                  <a:pt x="7239381" y="1598422"/>
                </a:lnTo>
                <a:lnTo>
                  <a:pt x="266306" y="1598422"/>
                </a:lnTo>
                <a:lnTo>
                  <a:pt x="218440" y="1594231"/>
                </a:lnTo>
                <a:lnTo>
                  <a:pt x="173380" y="1581785"/>
                </a:lnTo>
                <a:lnTo>
                  <a:pt x="131902" y="1562100"/>
                </a:lnTo>
                <a:lnTo>
                  <a:pt x="94729" y="1535811"/>
                </a:lnTo>
                <a:lnTo>
                  <a:pt x="62636" y="1503680"/>
                </a:lnTo>
                <a:lnTo>
                  <a:pt x="36360" y="1466469"/>
                </a:lnTo>
                <a:lnTo>
                  <a:pt x="16662" y="1425067"/>
                </a:lnTo>
                <a:lnTo>
                  <a:pt x="4292" y="1379982"/>
                </a:lnTo>
                <a:lnTo>
                  <a:pt x="0" y="1332103"/>
                </a:lnTo>
                <a:lnTo>
                  <a:pt x="0" y="266446"/>
                </a:lnTo>
                <a:close/>
              </a:path>
            </a:pathLst>
          </a:custGeom>
          <a:noFill/>
          <a:ln cap="flat" cmpd="sng" w="38075">
            <a:solidFill>
              <a:srgbClr val="FFB42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20" name="Google Shape;520;g279ef9b7fc5_0_277"/>
          <p:cNvSpPr/>
          <p:nvPr/>
        </p:nvSpPr>
        <p:spPr>
          <a:xfrm>
            <a:off x="3028741" y="212525"/>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J   A  V A  DEVELOPMENT KIT</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g279ef9b7fc5_0_283"/>
          <p:cNvSpPr txBox="1"/>
          <p:nvPr/>
        </p:nvSpPr>
        <p:spPr>
          <a:xfrm>
            <a:off x="285022" y="866649"/>
            <a:ext cx="11304600" cy="3499800"/>
          </a:xfrm>
          <a:prstGeom prst="rect">
            <a:avLst/>
          </a:prstGeom>
          <a:noFill/>
          <a:ln>
            <a:noFill/>
          </a:ln>
        </p:spPr>
        <p:txBody>
          <a:bodyPr anchorCtr="0" anchor="t" bIns="0" lIns="0" spcFirstLastPara="1" rIns="0" wrap="square" tIns="16925">
            <a:spAutoFit/>
          </a:bodyPr>
          <a:lstStyle/>
          <a:p>
            <a:pPr indent="-712029" lvl="0" marL="728115" marR="6772" rtl="0" algn="l">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The tools provided by JDK to develop java	application  are listed below</a:t>
            </a:r>
            <a:endParaRPr b="0" i="0" sz="3200" u="none" cap="none" strike="noStrike">
              <a:solidFill>
                <a:schemeClr val="dk1"/>
              </a:solidFill>
              <a:latin typeface="Arial"/>
              <a:ea typeface="Arial"/>
              <a:cs typeface="Arial"/>
              <a:sym typeface="Arial"/>
            </a:endParaRPr>
          </a:p>
          <a:p>
            <a:pPr indent="0" lvl="0" marL="0" marR="0" rtl="0" algn="l">
              <a:lnSpc>
                <a:spcPct val="100000"/>
              </a:lnSpc>
              <a:spcBef>
                <a:spcPts val="60"/>
              </a:spcBef>
              <a:spcAft>
                <a:spcPts val="0"/>
              </a:spcAft>
              <a:buClr>
                <a:srgbClr val="000000"/>
              </a:buClr>
              <a:buSzPts val="4733"/>
              <a:buFont typeface="Arial"/>
              <a:buNone/>
            </a:pPr>
            <a:r>
              <a:t/>
            </a:r>
            <a:endParaRPr b="0" i="0" sz="4733" u="none" cap="none" strike="noStrike">
              <a:solidFill>
                <a:schemeClr val="dk1"/>
              </a:solidFill>
              <a:latin typeface="Arial"/>
              <a:ea typeface="Arial"/>
              <a:cs typeface="Arial"/>
              <a:sym typeface="Arial"/>
            </a:endParaRPr>
          </a:p>
          <a:p>
            <a:pPr indent="-712029" lvl="0" marL="728115" marR="0" rtl="0" algn="l">
              <a:lnSpc>
                <a:spcPct val="1000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Java Compiler</a:t>
            </a:r>
            <a:endParaRPr b="0" i="0" sz="3200" u="none" cap="none" strike="noStrike">
              <a:solidFill>
                <a:schemeClr val="dk1"/>
              </a:solidFill>
              <a:latin typeface="Arial"/>
              <a:ea typeface="Arial"/>
              <a:cs typeface="Arial"/>
              <a:sym typeface="Arial"/>
            </a:endParaRPr>
          </a:p>
          <a:p>
            <a:pPr indent="-712029" lvl="0" marL="728115" marR="0" rtl="0" algn="l">
              <a:lnSpc>
                <a:spcPct val="100000"/>
              </a:lnSpc>
              <a:spcBef>
                <a:spcPts val="527"/>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Java Debugger</a:t>
            </a:r>
            <a:endParaRPr b="0" i="0" sz="3200" u="none" cap="none" strike="noStrike">
              <a:solidFill>
                <a:schemeClr val="dk1"/>
              </a:solidFill>
              <a:latin typeface="Arial"/>
              <a:ea typeface="Arial"/>
              <a:cs typeface="Arial"/>
              <a:sym typeface="Arial"/>
            </a:endParaRPr>
          </a:p>
          <a:p>
            <a:pPr indent="-712029" lvl="0" marL="728115" marR="0" rtl="0" algn="l">
              <a:lnSpc>
                <a:spcPct val="100000"/>
              </a:lnSpc>
              <a:spcBef>
                <a:spcPts val="533"/>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Java appletviewer etc.</a:t>
            </a:r>
            <a:endParaRPr b="0" i="0" sz="3200" u="none" cap="none" strike="noStrike">
              <a:solidFill>
                <a:schemeClr val="dk1"/>
              </a:solidFill>
              <a:latin typeface="Arial"/>
              <a:ea typeface="Arial"/>
              <a:cs typeface="Arial"/>
              <a:sym typeface="Arial"/>
            </a:endParaRPr>
          </a:p>
        </p:txBody>
      </p:sp>
      <p:sp>
        <p:nvSpPr>
          <p:cNvPr id="526" name="Google Shape;526;g279ef9b7fc5_0_283"/>
          <p:cNvSpPr/>
          <p:nvPr/>
        </p:nvSpPr>
        <p:spPr>
          <a:xfrm>
            <a:off x="3017044" y="174563"/>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J   A V A      DEVELOPMENT KIT</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grpSp>
        <p:nvGrpSpPr>
          <p:cNvPr id="531" name="Google Shape;531;g279ef9b7fc5_0_288"/>
          <p:cNvGrpSpPr/>
          <p:nvPr/>
        </p:nvGrpSpPr>
        <p:grpSpPr>
          <a:xfrm>
            <a:off x="841227" y="1078965"/>
            <a:ext cx="10698211" cy="4516854"/>
            <a:chOff x="630936" y="809244"/>
            <a:chExt cx="8023859" cy="3387725"/>
          </a:xfrm>
        </p:grpSpPr>
        <p:sp>
          <p:nvSpPr>
            <p:cNvPr id="532" name="Google Shape;532;g279ef9b7fc5_0_288"/>
            <p:cNvSpPr/>
            <p:nvPr/>
          </p:nvSpPr>
          <p:spPr>
            <a:xfrm>
              <a:off x="630936" y="809244"/>
              <a:ext cx="8023859" cy="3387725"/>
            </a:xfrm>
            <a:custGeom>
              <a:rect b="b" l="l" r="r" t="t"/>
              <a:pathLst>
                <a:path extrusionOk="0" h="3387725" w="8023859">
                  <a:moveTo>
                    <a:pt x="8023479" y="0"/>
                  </a:moveTo>
                  <a:lnTo>
                    <a:pt x="0" y="0"/>
                  </a:lnTo>
                  <a:lnTo>
                    <a:pt x="0" y="3387725"/>
                  </a:lnTo>
                  <a:lnTo>
                    <a:pt x="8023479" y="3387725"/>
                  </a:lnTo>
                  <a:lnTo>
                    <a:pt x="8023479" y="0"/>
                  </a:lnTo>
                  <a:close/>
                </a:path>
              </a:pathLst>
            </a:custGeom>
            <a:solidFill>
              <a:srgbClr val="F3F3F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33" name="Google Shape;533;g279ef9b7fc5_0_288"/>
            <p:cNvSpPr/>
            <p:nvPr/>
          </p:nvSpPr>
          <p:spPr>
            <a:xfrm>
              <a:off x="630936" y="809244"/>
              <a:ext cx="8023859" cy="3387725"/>
            </a:xfrm>
            <a:custGeom>
              <a:rect b="b" l="l" r="r" t="t"/>
              <a:pathLst>
                <a:path extrusionOk="0" h="3387725" w="8023859">
                  <a:moveTo>
                    <a:pt x="0" y="3387725"/>
                  </a:moveTo>
                  <a:lnTo>
                    <a:pt x="8023479" y="3387725"/>
                  </a:lnTo>
                  <a:lnTo>
                    <a:pt x="8023479" y="0"/>
                  </a:lnTo>
                  <a:lnTo>
                    <a:pt x="0" y="0"/>
                  </a:lnTo>
                  <a:lnTo>
                    <a:pt x="0" y="3387725"/>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34" name="Google Shape;534;g279ef9b7fc5_0_288"/>
            <p:cNvSpPr/>
            <p:nvPr/>
          </p:nvSpPr>
          <p:spPr>
            <a:xfrm>
              <a:off x="1013460" y="1383792"/>
              <a:ext cx="4726940" cy="1800860"/>
            </a:xfrm>
            <a:custGeom>
              <a:rect b="b" l="l" r="r" t="t"/>
              <a:pathLst>
                <a:path extrusionOk="0" h="1800860" w="4726940">
                  <a:moveTo>
                    <a:pt x="4426839" y="0"/>
                  </a:moveTo>
                  <a:lnTo>
                    <a:pt x="300101" y="0"/>
                  </a:lnTo>
                  <a:lnTo>
                    <a:pt x="251459" y="3937"/>
                  </a:lnTo>
                  <a:lnTo>
                    <a:pt x="205282" y="15240"/>
                  </a:lnTo>
                  <a:lnTo>
                    <a:pt x="162217" y="33528"/>
                  </a:lnTo>
                  <a:lnTo>
                    <a:pt x="122885" y="57912"/>
                  </a:lnTo>
                  <a:lnTo>
                    <a:pt x="87909" y="87884"/>
                  </a:lnTo>
                  <a:lnTo>
                    <a:pt x="57912" y="122936"/>
                  </a:lnTo>
                  <a:lnTo>
                    <a:pt x="33502" y="162179"/>
                  </a:lnTo>
                  <a:lnTo>
                    <a:pt x="15303" y="205232"/>
                  </a:lnTo>
                  <a:lnTo>
                    <a:pt x="3924" y="251460"/>
                  </a:lnTo>
                  <a:lnTo>
                    <a:pt x="0" y="300100"/>
                  </a:lnTo>
                  <a:lnTo>
                    <a:pt x="0" y="1500632"/>
                  </a:lnTo>
                  <a:lnTo>
                    <a:pt x="3924" y="1549273"/>
                  </a:lnTo>
                  <a:lnTo>
                    <a:pt x="15303" y="1595501"/>
                  </a:lnTo>
                  <a:lnTo>
                    <a:pt x="33502" y="1638554"/>
                  </a:lnTo>
                  <a:lnTo>
                    <a:pt x="57912" y="1677924"/>
                  </a:lnTo>
                  <a:lnTo>
                    <a:pt x="87909" y="1712849"/>
                  </a:lnTo>
                  <a:lnTo>
                    <a:pt x="122885" y="1742821"/>
                  </a:lnTo>
                  <a:lnTo>
                    <a:pt x="162217" y="1767332"/>
                  </a:lnTo>
                  <a:lnTo>
                    <a:pt x="205282" y="1785493"/>
                  </a:lnTo>
                  <a:lnTo>
                    <a:pt x="251459" y="1796796"/>
                  </a:lnTo>
                  <a:lnTo>
                    <a:pt x="300101" y="1800733"/>
                  </a:lnTo>
                  <a:lnTo>
                    <a:pt x="4426839" y="1800733"/>
                  </a:lnTo>
                  <a:lnTo>
                    <a:pt x="4475480" y="1796796"/>
                  </a:lnTo>
                  <a:lnTo>
                    <a:pt x="4521708" y="1785493"/>
                  </a:lnTo>
                  <a:lnTo>
                    <a:pt x="4564761" y="1767332"/>
                  </a:lnTo>
                  <a:lnTo>
                    <a:pt x="4604131" y="1742821"/>
                  </a:lnTo>
                  <a:lnTo>
                    <a:pt x="4639056" y="1712849"/>
                  </a:lnTo>
                  <a:lnTo>
                    <a:pt x="4669028" y="1677924"/>
                  </a:lnTo>
                  <a:lnTo>
                    <a:pt x="4693412" y="1638554"/>
                  </a:lnTo>
                  <a:lnTo>
                    <a:pt x="4711700" y="1595501"/>
                  </a:lnTo>
                  <a:lnTo>
                    <a:pt x="4723003" y="1549273"/>
                  </a:lnTo>
                  <a:lnTo>
                    <a:pt x="4726940" y="1500632"/>
                  </a:lnTo>
                  <a:lnTo>
                    <a:pt x="4726940" y="300100"/>
                  </a:lnTo>
                  <a:lnTo>
                    <a:pt x="4723257" y="252857"/>
                  </a:lnTo>
                  <a:lnTo>
                    <a:pt x="4712208" y="207263"/>
                  </a:lnTo>
                  <a:lnTo>
                    <a:pt x="4694301" y="163957"/>
                  </a:lnTo>
                  <a:lnTo>
                    <a:pt x="4669790" y="123952"/>
                  </a:lnTo>
                  <a:lnTo>
                    <a:pt x="4639056" y="87884"/>
                  </a:lnTo>
                  <a:lnTo>
                    <a:pt x="4602988" y="57150"/>
                  </a:lnTo>
                  <a:lnTo>
                    <a:pt x="4562983" y="32638"/>
                  </a:lnTo>
                  <a:lnTo>
                    <a:pt x="4519676" y="14732"/>
                  </a:lnTo>
                  <a:lnTo>
                    <a:pt x="4474083" y="3683"/>
                  </a:lnTo>
                  <a:lnTo>
                    <a:pt x="4426839"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35" name="Google Shape;535;g279ef9b7fc5_0_288"/>
            <p:cNvSpPr/>
            <p:nvPr/>
          </p:nvSpPr>
          <p:spPr>
            <a:xfrm>
              <a:off x="1014222" y="1384554"/>
              <a:ext cx="4726940" cy="1800860"/>
            </a:xfrm>
            <a:custGeom>
              <a:rect b="b" l="l" r="r" t="t"/>
              <a:pathLst>
                <a:path extrusionOk="0" h="1800860" w="4726940">
                  <a:moveTo>
                    <a:pt x="0" y="300100"/>
                  </a:moveTo>
                  <a:lnTo>
                    <a:pt x="3924" y="251460"/>
                  </a:lnTo>
                  <a:lnTo>
                    <a:pt x="15303" y="205232"/>
                  </a:lnTo>
                  <a:lnTo>
                    <a:pt x="33502" y="162179"/>
                  </a:lnTo>
                  <a:lnTo>
                    <a:pt x="57912" y="122936"/>
                  </a:lnTo>
                  <a:lnTo>
                    <a:pt x="87909" y="87884"/>
                  </a:lnTo>
                  <a:lnTo>
                    <a:pt x="122885" y="57912"/>
                  </a:lnTo>
                  <a:lnTo>
                    <a:pt x="162217" y="33528"/>
                  </a:lnTo>
                  <a:lnTo>
                    <a:pt x="205282" y="15240"/>
                  </a:lnTo>
                  <a:lnTo>
                    <a:pt x="251459" y="3937"/>
                  </a:lnTo>
                  <a:lnTo>
                    <a:pt x="300100" y="0"/>
                  </a:lnTo>
                  <a:lnTo>
                    <a:pt x="4426839" y="0"/>
                  </a:lnTo>
                  <a:lnTo>
                    <a:pt x="4474083" y="3683"/>
                  </a:lnTo>
                  <a:lnTo>
                    <a:pt x="4519676" y="14732"/>
                  </a:lnTo>
                  <a:lnTo>
                    <a:pt x="4562983" y="32638"/>
                  </a:lnTo>
                  <a:lnTo>
                    <a:pt x="4602988" y="57150"/>
                  </a:lnTo>
                  <a:lnTo>
                    <a:pt x="4639056" y="87884"/>
                  </a:lnTo>
                  <a:lnTo>
                    <a:pt x="4669790" y="123951"/>
                  </a:lnTo>
                  <a:lnTo>
                    <a:pt x="4694301" y="163957"/>
                  </a:lnTo>
                  <a:lnTo>
                    <a:pt x="4712208" y="207263"/>
                  </a:lnTo>
                  <a:lnTo>
                    <a:pt x="4723257" y="252857"/>
                  </a:lnTo>
                  <a:lnTo>
                    <a:pt x="4726940" y="300100"/>
                  </a:lnTo>
                  <a:lnTo>
                    <a:pt x="4726940" y="1500632"/>
                  </a:lnTo>
                  <a:lnTo>
                    <a:pt x="4723003" y="1549273"/>
                  </a:lnTo>
                  <a:lnTo>
                    <a:pt x="4711700" y="1595501"/>
                  </a:lnTo>
                  <a:lnTo>
                    <a:pt x="4693412" y="1638554"/>
                  </a:lnTo>
                  <a:lnTo>
                    <a:pt x="4669028" y="1677924"/>
                  </a:lnTo>
                  <a:lnTo>
                    <a:pt x="4639056" y="1712849"/>
                  </a:lnTo>
                  <a:lnTo>
                    <a:pt x="4604131" y="1742821"/>
                  </a:lnTo>
                  <a:lnTo>
                    <a:pt x="4564761" y="1767332"/>
                  </a:lnTo>
                  <a:lnTo>
                    <a:pt x="4521708" y="1785493"/>
                  </a:lnTo>
                  <a:lnTo>
                    <a:pt x="4475480" y="1796796"/>
                  </a:lnTo>
                  <a:lnTo>
                    <a:pt x="4426839" y="1800733"/>
                  </a:lnTo>
                  <a:lnTo>
                    <a:pt x="300100" y="1800733"/>
                  </a:lnTo>
                  <a:lnTo>
                    <a:pt x="251459" y="1796796"/>
                  </a:lnTo>
                  <a:lnTo>
                    <a:pt x="205282" y="1785493"/>
                  </a:lnTo>
                  <a:lnTo>
                    <a:pt x="162217" y="1767332"/>
                  </a:lnTo>
                  <a:lnTo>
                    <a:pt x="122885" y="1742821"/>
                  </a:lnTo>
                  <a:lnTo>
                    <a:pt x="87909" y="1712849"/>
                  </a:lnTo>
                  <a:lnTo>
                    <a:pt x="57912" y="1677924"/>
                  </a:lnTo>
                  <a:lnTo>
                    <a:pt x="33502" y="1638554"/>
                  </a:lnTo>
                  <a:lnTo>
                    <a:pt x="15303" y="1595501"/>
                  </a:lnTo>
                  <a:lnTo>
                    <a:pt x="3924" y="1549273"/>
                  </a:lnTo>
                  <a:lnTo>
                    <a:pt x="0" y="1500632"/>
                  </a:lnTo>
                  <a:lnTo>
                    <a:pt x="0" y="300100"/>
                  </a:lnTo>
                  <a:close/>
                </a:path>
              </a:pathLst>
            </a:custGeom>
            <a:noFill/>
            <a:ln cap="flat" cmpd="sng" w="38075">
              <a:solidFill>
                <a:srgbClr val="FFB42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sp>
        <p:nvSpPr>
          <p:cNvPr id="536" name="Google Shape;536;g279ef9b7fc5_0_288"/>
          <p:cNvSpPr txBox="1"/>
          <p:nvPr/>
        </p:nvSpPr>
        <p:spPr>
          <a:xfrm>
            <a:off x="2012697" y="2478023"/>
            <a:ext cx="2655900" cy="529200"/>
          </a:xfrm>
          <a:prstGeom prst="rect">
            <a:avLst/>
          </a:prstGeom>
          <a:solidFill>
            <a:srgbClr val="FFB42B"/>
          </a:solidFill>
          <a:ln cap="flat" cmpd="sng" w="38075">
            <a:solidFill>
              <a:srgbClr val="FFFFFF"/>
            </a:solidFill>
            <a:prstDash val="solid"/>
            <a:round/>
            <a:headEnd len="sm" w="sm" type="none"/>
            <a:tailEnd len="sm" w="sm" type="none"/>
          </a:ln>
        </p:spPr>
        <p:txBody>
          <a:bodyPr anchorCtr="0" anchor="t" bIns="0" lIns="0" spcFirstLastPara="1" rIns="0" wrap="square" tIns="158325">
            <a:spAutoFit/>
          </a:bodyPr>
          <a:lstStyle/>
          <a:p>
            <a:pPr indent="0" lvl="0" marL="573178" marR="0" rtl="0" algn="l">
              <a:lnSpc>
                <a:spcPct val="100000"/>
              </a:lnSpc>
              <a:spcBef>
                <a:spcPts val="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libraries</a:t>
            </a:r>
            <a:endParaRPr b="0" i="0" sz="2400" u="none" cap="none" strike="noStrike">
              <a:solidFill>
                <a:schemeClr val="dk1"/>
              </a:solidFill>
              <a:latin typeface="Arial"/>
              <a:ea typeface="Arial"/>
              <a:cs typeface="Arial"/>
              <a:sym typeface="Arial"/>
            </a:endParaRPr>
          </a:p>
        </p:txBody>
      </p:sp>
      <p:grpSp>
        <p:nvGrpSpPr>
          <p:cNvPr id="537" name="Google Shape;537;g279ef9b7fc5_0_288"/>
          <p:cNvGrpSpPr/>
          <p:nvPr/>
        </p:nvGrpSpPr>
        <p:grpSpPr>
          <a:xfrm>
            <a:off x="5522838" y="2399716"/>
            <a:ext cx="1636735" cy="1232037"/>
            <a:chOff x="4142232" y="1799831"/>
            <a:chExt cx="1227582" cy="924051"/>
          </a:xfrm>
        </p:grpSpPr>
        <p:sp>
          <p:nvSpPr>
            <p:cNvPr id="538" name="Google Shape;538;g279ef9b7fc5_0_288"/>
            <p:cNvSpPr/>
            <p:nvPr/>
          </p:nvSpPr>
          <p:spPr>
            <a:xfrm>
              <a:off x="4142232" y="1799831"/>
              <a:ext cx="1226820" cy="923289"/>
            </a:xfrm>
            <a:custGeom>
              <a:rect b="b" l="l" r="r" t="t"/>
              <a:pathLst>
                <a:path extrusionOk="0" h="923289" w="1226820">
                  <a:moveTo>
                    <a:pt x="1226692" y="0"/>
                  </a:moveTo>
                  <a:lnTo>
                    <a:pt x="0" y="0"/>
                  </a:lnTo>
                  <a:lnTo>
                    <a:pt x="0" y="923048"/>
                  </a:lnTo>
                  <a:lnTo>
                    <a:pt x="1226692" y="923048"/>
                  </a:lnTo>
                  <a:lnTo>
                    <a:pt x="1226692" y="0"/>
                  </a:lnTo>
                  <a:close/>
                </a:path>
              </a:pathLst>
            </a:custGeom>
            <a:solidFill>
              <a:srgbClr val="FFB42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39" name="Google Shape;539;g279ef9b7fc5_0_288"/>
            <p:cNvSpPr/>
            <p:nvPr/>
          </p:nvSpPr>
          <p:spPr>
            <a:xfrm>
              <a:off x="4142994" y="1800593"/>
              <a:ext cx="1226820" cy="923289"/>
            </a:xfrm>
            <a:custGeom>
              <a:rect b="b" l="l" r="r" t="t"/>
              <a:pathLst>
                <a:path extrusionOk="0" h="923289" w="1226820">
                  <a:moveTo>
                    <a:pt x="0" y="923048"/>
                  </a:moveTo>
                  <a:lnTo>
                    <a:pt x="1226693" y="923048"/>
                  </a:lnTo>
                  <a:lnTo>
                    <a:pt x="1226693" y="0"/>
                  </a:lnTo>
                  <a:lnTo>
                    <a:pt x="0" y="0"/>
                  </a:lnTo>
                  <a:lnTo>
                    <a:pt x="0" y="923048"/>
                  </a:lnTo>
                  <a:close/>
                </a:path>
              </a:pathLst>
            </a:custGeom>
            <a:noFill/>
            <a:ln cap="flat" cmpd="sng" w="38075">
              <a:solidFill>
                <a:srgbClr val="F3F3F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sp>
        <p:nvSpPr>
          <p:cNvPr id="540" name="Google Shape;540;g279ef9b7fc5_0_288"/>
          <p:cNvSpPr txBox="1"/>
          <p:nvPr/>
        </p:nvSpPr>
        <p:spPr>
          <a:xfrm>
            <a:off x="5522976" y="2399775"/>
            <a:ext cx="1635900" cy="726900"/>
          </a:xfrm>
          <a:prstGeom prst="rect">
            <a:avLst/>
          </a:prstGeom>
          <a:noFill/>
          <a:ln>
            <a:noFill/>
          </a:ln>
        </p:spPr>
        <p:txBody>
          <a:bodyPr anchorCtr="0" anchor="t" bIns="0" lIns="0" spcFirstLastPara="1" rIns="0" wrap="square" tIns="7600">
            <a:spAutoFit/>
          </a:bodyPr>
          <a:lstStyle/>
          <a:p>
            <a:pPr indent="0" lvl="0" marL="0" marR="0" rtl="0" algn="l">
              <a:lnSpc>
                <a:spcPct val="100000"/>
              </a:lnSpc>
              <a:spcBef>
                <a:spcPts val="0"/>
              </a:spcBef>
              <a:spcAft>
                <a:spcPts val="0"/>
              </a:spcAft>
              <a:buClr>
                <a:srgbClr val="000000"/>
              </a:buClr>
              <a:buSzPts val="2267"/>
              <a:buFont typeface="Arial"/>
              <a:buNone/>
            </a:pPr>
            <a:r>
              <a:t/>
            </a:r>
            <a:endParaRPr b="0" i="0" sz="2267" u="none" cap="none" strike="noStrike">
              <a:solidFill>
                <a:schemeClr val="dk1"/>
              </a:solidFill>
              <a:latin typeface="Times New Roman"/>
              <a:ea typeface="Times New Roman"/>
              <a:cs typeface="Times New Roman"/>
              <a:sym typeface="Times New Roman"/>
            </a:endParaRPr>
          </a:p>
          <a:p>
            <a:pPr indent="0" lvl="0" marL="457188" marR="0" rtl="0" algn="l">
              <a:lnSpc>
                <a:spcPct val="100000"/>
              </a:lnSpc>
              <a:spcBef>
                <a:spcPts val="7"/>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J V M</a:t>
            </a:r>
            <a:endParaRPr b="0" i="0" sz="2400" u="none" cap="none" strike="noStrike">
              <a:solidFill>
                <a:schemeClr val="dk1"/>
              </a:solidFill>
              <a:latin typeface="Arial"/>
              <a:ea typeface="Arial"/>
              <a:cs typeface="Arial"/>
              <a:sym typeface="Arial"/>
            </a:endParaRPr>
          </a:p>
        </p:txBody>
      </p:sp>
      <p:sp>
        <p:nvSpPr>
          <p:cNvPr id="541" name="Google Shape;541;g279ef9b7fc5_0_288"/>
          <p:cNvSpPr txBox="1"/>
          <p:nvPr/>
        </p:nvSpPr>
        <p:spPr>
          <a:xfrm>
            <a:off x="1676128" y="3595623"/>
            <a:ext cx="630000" cy="3864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2400"/>
              <a:buFont typeface="Arial"/>
              <a:buNone/>
            </a:pPr>
            <a:r>
              <a:rPr b="1" i="0" lang="en-IN" sz="2400" u="none" cap="none" strike="noStrike">
                <a:solidFill>
                  <a:srgbClr val="FFFFFF"/>
                </a:solidFill>
                <a:latin typeface="Arial"/>
                <a:ea typeface="Arial"/>
                <a:cs typeface="Arial"/>
                <a:sym typeface="Arial"/>
              </a:rPr>
              <a:t>JRE</a:t>
            </a:r>
            <a:endParaRPr b="0" i="0" sz="2400" u="none" cap="none" strike="noStrike">
              <a:solidFill>
                <a:schemeClr val="dk1"/>
              </a:solidFill>
              <a:latin typeface="Arial"/>
              <a:ea typeface="Arial"/>
              <a:cs typeface="Arial"/>
              <a:sym typeface="Arial"/>
            </a:endParaRPr>
          </a:p>
        </p:txBody>
      </p:sp>
      <p:grpSp>
        <p:nvGrpSpPr>
          <p:cNvPr id="542" name="Google Shape;542;g279ef9b7fc5_0_288"/>
          <p:cNvGrpSpPr/>
          <p:nvPr/>
        </p:nvGrpSpPr>
        <p:grpSpPr>
          <a:xfrm>
            <a:off x="8824754" y="1544282"/>
            <a:ext cx="1982166" cy="693572"/>
            <a:chOff x="6618731" y="1158240"/>
            <a:chExt cx="1486662" cy="520192"/>
          </a:xfrm>
        </p:grpSpPr>
        <p:sp>
          <p:nvSpPr>
            <p:cNvPr id="543" name="Google Shape;543;g279ef9b7fc5_0_288"/>
            <p:cNvSpPr/>
            <p:nvPr/>
          </p:nvSpPr>
          <p:spPr>
            <a:xfrm>
              <a:off x="6618731" y="1158240"/>
              <a:ext cx="1485900" cy="519430"/>
            </a:xfrm>
            <a:custGeom>
              <a:rect b="b" l="l" r="r" t="t"/>
              <a:pathLst>
                <a:path extrusionOk="0" h="519430" w="1485900">
                  <a:moveTo>
                    <a:pt x="1399286" y="0"/>
                  </a:moveTo>
                  <a:lnTo>
                    <a:pt x="86360" y="0"/>
                  </a:lnTo>
                  <a:lnTo>
                    <a:pt x="52704" y="6858"/>
                  </a:lnTo>
                  <a:lnTo>
                    <a:pt x="25273" y="25400"/>
                  </a:lnTo>
                  <a:lnTo>
                    <a:pt x="6731" y="52832"/>
                  </a:lnTo>
                  <a:lnTo>
                    <a:pt x="0" y="86613"/>
                  </a:lnTo>
                  <a:lnTo>
                    <a:pt x="0" y="432815"/>
                  </a:lnTo>
                  <a:lnTo>
                    <a:pt x="6731" y="466471"/>
                  </a:lnTo>
                  <a:lnTo>
                    <a:pt x="25273" y="494030"/>
                  </a:lnTo>
                  <a:lnTo>
                    <a:pt x="52704" y="512572"/>
                  </a:lnTo>
                  <a:lnTo>
                    <a:pt x="86360" y="519302"/>
                  </a:lnTo>
                  <a:lnTo>
                    <a:pt x="1399286" y="519302"/>
                  </a:lnTo>
                  <a:lnTo>
                    <a:pt x="1432941" y="512572"/>
                  </a:lnTo>
                  <a:lnTo>
                    <a:pt x="1460373" y="494030"/>
                  </a:lnTo>
                  <a:lnTo>
                    <a:pt x="1478788" y="466471"/>
                  </a:lnTo>
                  <a:lnTo>
                    <a:pt x="1485646" y="432815"/>
                  </a:lnTo>
                  <a:lnTo>
                    <a:pt x="1485646" y="86613"/>
                  </a:lnTo>
                  <a:lnTo>
                    <a:pt x="1479042" y="53467"/>
                  </a:lnTo>
                  <a:lnTo>
                    <a:pt x="1447165" y="14477"/>
                  </a:lnTo>
                  <a:lnTo>
                    <a:pt x="1399286" y="0"/>
                  </a:lnTo>
                  <a:close/>
                </a:path>
              </a:pathLst>
            </a:custGeom>
            <a:solidFill>
              <a:srgbClr val="B7B7B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44" name="Google Shape;544;g279ef9b7fc5_0_288"/>
            <p:cNvSpPr/>
            <p:nvPr/>
          </p:nvSpPr>
          <p:spPr>
            <a:xfrm>
              <a:off x="6619493" y="1159002"/>
              <a:ext cx="1485900" cy="519430"/>
            </a:xfrm>
            <a:custGeom>
              <a:rect b="b" l="l" r="r" t="t"/>
              <a:pathLst>
                <a:path extrusionOk="0" h="519430" w="1485900">
                  <a:moveTo>
                    <a:pt x="0" y="86613"/>
                  </a:moveTo>
                  <a:lnTo>
                    <a:pt x="6730" y="52832"/>
                  </a:lnTo>
                  <a:lnTo>
                    <a:pt x="25273" y="25400"/>
                  </a:lnTo>
                  <a:lnTo>
                    <a:pt x="52704" y="6858"/>
                  </a:lnTo>
                  <a:lnTo>
                    <a:pt x="86359" y="0"/>
                  </a:lnTo>
                  <a:lnTo>
                    <a:pt x="1399285" y="0"/>
                  </a:lnTo>
                  <a:lnTo>
                    <a:pt x="1447164" y="14477"/>
                  </a:lnTo>
                  <a:lnTo>
                    <a:pt x="1479041" y="53467"/>
                  </a:lnTo>
                  <a:lnTo>
                    <a:pt x="1485646" y="86613"/>
                  </a:lnTo>
                  <a:lnTo>
                    <a:pt x="1485646" y="432815"/>
                  </a:lnTo>
                  <a:lnTo>
                    <a:pt x="1478787" y="466471"/>
                  </a:lnTo>
                  <a:lnTo>
                    <a:pt x="1460373" y="494030"/>
                  </a:lnTo>
                  <a:lnTo>
                    <a:pt x="1432940" y="512572"/>
                  </a:lnTo>
                  <a:lnTo>
                    <a:pt x="1399285" y="519302"/>
                  </a:lnTo>
                  <a:lnTo>
                    <a:pt x="86359" y="519302"/>
                  </a:lnTo>
                  <a:lnTo>
                    <a:pt x="52704" y="512572"/>
                  </a:lnTo>
                  <a:lnTo>
                    <a:pt x="25273" y="494030"/>
                  </a:lnTo>
                  <a:lnTo>
                    <a:pt x="6730" y="466471"/>
                  </a:lnTo>
                  <a:lnTo>
                    <a:pt x="0" y="432815"/>
                  </a:lnTo>
                  <a:lnTo>
                    <a:pt x="0" y="86613"/>
                  </a:lnTo>
                  <a:close/>
                </a:path>
              </a:pathLst>
            </a:custGeom>
            <a:noFill/>
            <a:ln cap="flat" cmpd="sng" w="380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sp>
        <p:nvSpPr>
          <p:cNvPr id="545" name="Google Shape;545;g279ef9b7fc5_0_288"/>
          <p:cNvSpPr txBox="1"/>
          <p:nvPr/>
        </p:nvSpPr>
        <p:spPr>
          <a:xfrm>
            <a:off x="9087612" y="1670812"/>
            <a:ext cx="1396200" cy="3864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Compiler</a:t>
            </a:r>
            <a:endParaRPr b="0" i="0" sz="2400" u="none" cap="none" strike="noStrike">
              <a:solidFill>
                <a:schemeClr val="dk1"/>
              </a:solidFill>
              <a:latin typeface="Arial"/>
              <a:ea typeface="Arial"/>
              <a:cs typeface="Arial"/>
              <a:sym typeface="Arial"/>
            </a:endParaRPr>
          </a:p>
        </p:txBody>
      </p:sp>
      <p:grpSp>
        <p:nvGrpSpPr>
          <p:cNvPr id="546" name="Google Shape;546;g279ef9b7fc5_0_288"/>
          <p:cNvGrpSpPr/>
          <p:nvPr/>
        </p:nvGrpSpPr>
        <p:grpSpPr>
          <a:xfrm>
            <a:off x="8838978" y="2783770"/>
            <a:ext cx="1982166" cy="691879"/>
            <a:chOff x="6629399" y="2087880"/>
            <a:chExt cx="1486662" cy="518922"/>
          </a:xfrm>
        </p:grpSpPr>
        <p:sp>
          <p:nvSpPr>
            <p:cNvPr id="547" name="Google Shape;547;g279ef9b7fc5_0_288"/>
            <p:cNvSpPr/>
            <p:nvPr/>
          </p:nvSpPr>
          <p:spPr>
            <a:xfrm>
              <a:off x="6629399" y="2087880"/>
              <a:ext cx="1485900" cy="518160"/>
            </a:xfrm>
            <a:custGeom>
              <a:rect b="b" l="l" r="r" t="t"/>
              <a:pathLst>
                <a:path extrusionOk="0" h="518160" w="1485900">
                  <a:moveTo>
                    <a:pt x="1399285" y="0"/>
                  </a:moveTo>
                  <a:lnTo>
                    <a:pt x="86359" y="0"/>
                  </a:lnTo>
                  <a:lnTo>
                    <a:pt x="52704" y="6731"/>
                  </a:lnTo>
                  <a:lnTo>
                    <a:pt x="25273" y="25272"/>
                  </a:lnTo>
                  <a:lnTo>
                    <a:pt x="6730" y="52705"/>
                  </a:lnTo>
                  <a:lnTo>
                    <a:pt x="0" y="86359"/>
                  </a:lnTo>
                  <a:lnTo>
                    <a:pt x="0" y="431545"/>
                  </a:lnTo>
                  <a:lnTo>
                    <a:pt x="6730" y="465074"/>
                  </a:lnTo>
                  <a:lnTo>
                    <a:pt x="25273" y="492506"/>
                  </a:lnTo>
                  <a:lnTo>
                    <a:pt x="52704" y="511047"/>
                  </a:lnTo>
                  <a:lnTo>
                    <a:pt x="86359" y="517778"/>
                  </a:lnTo>
                  <a:lnTo>
                    <a:pt x="1399285" y="517778"/>
                  </a:lnTo>
                  <a:lnTo>
                    <a:pt x="1432941" y="511047"/>
                  </a:lnTo>
                  <a:lnTo>
                    <a:pt x="1460373" y="492506"/>
                  </a:lnTo>
                  <a:lnTo>
                    <a:pt x="1478788" y="465074"/>
                  </a:lnTo>
                  <a:lnTo>
                    <a:pt x="1485646" y="431545"/>
                  </a:lnTo>
                  <a:lnTo>
                    <a:pt x="1485646" y="86359"/>
                  </a:lnTo>
                  <a:lnTo>
                    <a:pt x="1479042" y="53212"/>
                  </a:lnTo>
                  <a:lnTo>
                    <a:pt x="1447165" y="14477"/>
                  </a:lnTo>
                  <a:lnTo>
                    <a:pt x="1399285" y="0"/>
                  </a:lnTo>
                  <a:close/>
                </a:path>
              </a:pathLst>
            </a:custGeom>
            <a:solidFill>
              <a:srgbClr val="B7B7B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48" name="Google Shape;548;g279ef9b7fc5_0_288"/>
            <p:cNvSpPr/>
            <p:nvPr/>
          </p:nvSpPr>
          <p:spPr>
            <a:xfrm>
              <a:off x="6630161" y="2088642"/>
              <a:ext cx="1485900" cy="518160"/>
            </a:xfrm>
            <a:custGeom>
              <a:rect b="b" l="l" r="r" t="t"/>
              <a:pathLst>
                <a:path extrusionOk="0" h="518160" w="1485900">
                  <a:moveTo>
                    <a:pt x="0" y="86359"/>
                  </a:moveTo>
                  <a:lnTo>
                    <a:pt x="6731" y="52705"/>
                  </a:lnTo>
                  <a:lnTo>
                    <a:pt x="25273" y="25272"/>
                  </a:lnTo>
                  <a:lnTo>
                    <a:pt x="52705" y="6731"/>
                  </a:lnTo>
                  <a:lnTo>
                    <a:pt x="86360" y="0"/>
                  </a:lnTo>
                  <a:lnTo>
                    <a:pt x="1399286" y="0"/>
                  </a:lnTo>
                  <a:lnTo>
                    <a:pt x="1447165" y="14477"/>
                  </a:lnTo>
                  <a:lnTo>
                    <a:pt x="1479042" y="53212"/>
                  </a:lnTo>
                  <a:lnTo>
                    <a:pt x="1485646" y="86359"/>
                  </a:lnTo>
                  <a:lnTo>
                    <a:pt x="1485646" y="431545"/>
                  </a:lnTo>
                  <a:lnTo>
                    <a:pt x="1478788" y="465074"/>
                  </a:lnTo>
                  <a:lnTo>
                    <a:pt x="1460373" y="492506"/>
                  </a:lnTo>
                  <a:lnTo>
                    <a:pt x="1432941" y="511047"/>
                  </a:lnTo>
                  <a:lnTo>
                    <a:pt x="1399286" y="517778"/>
                  </a:lnTo>
                  <a:lnTo>
                    <a:pt x="86360" y="517778"/>
                  </a:lnTo>
                  <a:lnTo>
                    <a:pt x="52705" y="511047"/>
                  </a:lnTo>
                  <a:lnTo>
                    <a:pt x="25273" y="492506"/>
                  </a:lnTo>
                  <a:lnTo>
                    <a:pt x="6731" y="465074"/>
                  </a:lnTo>
                  <a:lnTo>
                    <a:pt x="0" y="431545"/>
                  </a:lnTo>
                  <a:lnTo>
                    <a:pt x="0" y="86359"/>
                  </a:lnTo>
                  <a:close/>
                </a:path>
              </a:pathLst>
            </a:custGeom>
            <a:noFill/>
            <a:ln cap="flat" cmpd="sng" w="380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sp>
        <p:nvSpPr>
          <p:cNvPr id="549" name="Google Shape;549;g279ef9b7fc5_0_288"/>
          <p:cNvSpPr txBox="1"/>
          <p:nvPr/>
        </p:nvSpPr>
        <p:spPr>
          <a:xfrm>
            <a:off x="9087611" y="2922185"/>
            <a:ext cx="1484100" cy="3864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Debugger</a:t>
            </a:r>
            <a:endParaRPr b="0" i="0" sz="2400" u="none" cap="none" strike="noStrike">
              <a:solidFill>
                <a:schemeClr val="dk1"/>
              </a:solidFill>
              <a:latin typeface="Arial"/>
              <a:ea typeface="Arial"/>
              <a:cs typeface="Arial"/>
              <a:sym typeface="Arial"/>
            </a:endParaRPr>
          </a:p>
        </p:txBody>
      </p:sp>
      <p:grpSp>
        <p:nvGrpSpPr>
          <p:cNvPr id="550" name="Google Shape;550;g279ef9b7fc5_0_288"/>
          <p:cNvGrpSpPr/>
          <p:nvPr/>
        </p:nvGrpSpPr>
        <p:grpSpPr>
          <a:xfrm>
            <a:off x="8877585" y="4232551"/>
            <a:ext cx="1982166" cy="1110122"/>
            <a:chOff x="6658355" y="3174492"/>
            <a:chExt cx="1486662" cy="832612"/>
          </a:xfrm>
        </p:grpSpPr>
        <p:sp>
          <p:nvSpPr>
            <p:cNvPr id="551" name="Google Shape;551;g279ef9b7fc5_0_288"/>
            <p:cNvSpPr/>
            <p:nvPr/>
          </p:nvSpPr>
          <p:spPr>
            <a:xfrm>
              <a:off x="6658355" y="3174492"/>
              <a:ext cx="1485900" cy="831850"/>
            </a:xfrm>
            <a:custGeom>
              <a:rect b="b" l="l" r="r" t="t"/>
              <a:pathLst>
                <a:path extrusionOk="0" h="831850" w="1485900">
                  <a:moveTo>
                    <a:pt x="1346962" y="0"/>
                  </a:moveTo>
                  <a:lnTo>
                    <a:pt x="138684" y="0"/>
                  </a:lnTo>
                  <a:lnTo>
                    <a:pt x="94869" y="7112"/>
                  </a:lnTo>
                  <a:lnTo>
                    <a:pt x="56769" y="26796"/>
                  </a:lnTo>
                  <a:lnTo>
                    <a:pt x="26797" y="56768"/>
                  </a:lnTo>
                  <a:lnTo>
                    <a:pt x="7112" y="94741"/>
                  </a:lnTo>
                  <a:lnTo>
                    <a:pt x="0" y="138556"/>
                  </a:lnTo>
                  <a:lnTo>
                    <a:pt x="0" y="692911"/>
                  </a:lnTo>
                  <a:lnTo>
                    <a:pt x="7112" y="736739"/>
                  </a:lnTo>
                  <a:lnTo>
                    <a:pt x="26797" y="774776"/>
                  </a:lnTo>
                  <a:lnTo>
                    <a:pt x="56769" y="804773"/>
                  </a:lnTo>
                  <a:lnTo>
                    <a:pt x="94869" y="824458"/>
                  </a:lnTo>
                  <a:lnTo>
                    <a:pt x="138684" y="831519"/>
                  </a:lnTo>
                  <a:lnTo>
                    <a:pt x="1346962" y="831519"/>
                  </a:lnTo>
                  <a:lnTo>
                    <a:pt x="1390777" y="824458"/>
                  </a:lnTo>
                  <a:lnTo>
                    <a:pt x="1428877" y="804773"/>
                  </a:lnTo>
                  <a:lnTo>
                    <a:pt x="1458849" y="774776"/>
                  </a:lnTo>
                  <a:lnTo>
                    <a:pt x="1478534" y="736739"/>
                  </a:lnTo>
                  <a:lnTo>
                    <a:pt x="1485646" y="692911"/>
                  </a:lnTo>
                  <a:lnTo>
                    <a:pt x="1485646" y="138556"/>
                  </a:lnTo>
                  <a:lnTo>
                    <a:pt x="1475104" y="85597"/>
                  </a:lnTo>
                  <a:lnTo>
                    <a:pt x="1445005" y="40639"/>
                  </a:lnTo>
                  <a:lnTo>
                    <a:pt x="1400048" y="10540"/>
                  </a:lnTo>
                  <a:lnTo>
                    <a:pt x="1346962" y="0"/>
                  </a:lnTo>
                  <a:close/>
                </a:path>
              </a:pathLst>
            </a:custGeom>
            <a:solidFill>
              <a:srgbClr val="B7B7B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52" name="Google Shape;552;g279ef9b7fc5_0_288"/>
            <p:cNvSpPr/>
            <p:nvPr/>
          </p:nvSpPr>
          <p:spPr>
            <a:xfrm>
              <a:off x="6659117" y="3175254"/>
              <a:ext cx="1485900" cy="831850"/>
            </a:xfrm>
            <a:custGeom>
              <a:rect b="b" l="l" r="r" t="t"/>
              <a:pathLst>
                <a:path extrusionOk="0" h="831850" w="1485900">
                  <a:moveTo>
                    <a:pt x="0" y="138556"/>
                  </a:moveTo>
                  <a:lnTo>
                    <a:pt x="7111" y="94741"/>
                  </a:lnTo>
                  <a:lnTo>
                    <a:pt x="26797" y="56768"/>
                  </a:lnTo>
                  <a:lnTo>
                    <a:pt x="56768" y="26796"/>
                  </a:lnTo>
                  <a:lnTo>
                    <a:pt x="94868" y="7112"/>
                  </a:lnTo>
                  <a:lnTo>
                    <a:pt x="138683" y="0"/>
                  </a:lnTo>
                  <a:lnTo>
                    <a:pt x="1346961" y="0"/>
                  </a:lnTo>
                  <a:lnTo>
                    <a:pt x="1400048" y="10540"/>
                  </a:lnTo>
                  <a:lnTo>
                    <a:pt x="1445005" y="40639"/>
                  </a:lnTo>
                  <a:lnTo>
                    <a:pt x="1475104" y="85597"/>
                  </a:lnTo>
                  <a:lnTo>
                    <a:pt x="1485646" y="138556"/>
                  </a:lnTo>
                  <a:lnTo>
                    <a:pt x="1485646" y="692911"/>
                  </a:lnTo>
                  <a:lnTo>
                    <a:pt x="1478533" y="736739"/>
                  </a:lnTo>
                  <a:lnTo>
                    <a:pt x="1458849" y="774776"/>
                  </a:lnTo>
                  <a:lnTo>
                    <a:pt x="1428877" y="804773"/>
                  </a:lnTo>
                  <a:lnTo>
                    <a:pt x="1390777" y="824458"/>
                  </a:lnTo>
                  <a:lnTo>
                    <a:pt x="1346961" y="831519"/>
                  </a:lnTo>
                  <a:lnTo>
                    <a:pt x="138683" y="831519"/>
                  </a:lnTo>
                  <a:lnTo>
                    <a:pt x="94868" y="824458"/>
                  </a:lnTo>
                  <a:lnTo>
                    <a:pt x="56768" y="804773"/>
                  </a:lnTo>
                  <a:lnTo>
                    <a:pt x="26797" y="774776"/>
                  </a:lnTo>
                  <a:lnTo>
                    <a:pt x="7111" y="736739"/>
                  </a:lnTo>
                  <a:lnTo>
                    <a:pt x="0" y="692911"/>
                  </a:lnTo>
                  <a:lnTo>
                    <a:pt x="0" y="138556"/>
                  </a:lnTo>
                  <a:close/>
                </a:path>
              </a:pathLst>
            </a:custGeom>
            <a:noFill/>
            <a:ln cap="flat" cmpd="sng" w="380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sp>
        <p:nvSpPr>
          <p:cNvPr id="553" name="Google Shape;553;g279ef9b7fc5_0_288"/>
          <p:cNvSpPr txBox="1"/>
          <p:nvPr/>
        </p:nvSpPr>
        <p:spPr>
          <a:xfrm>
            <a:off x="9345676" y="4176268"/>
            <a:ext cx="984600" cy="1129200"/>
          </a:xfrm>
          <a:prstGeom prst="rect">
            <a:avLst/>
          </a:prstGeom>
          <a:noFill/>
          <a:ln>
            <a:noFill/>
          </a:ln>
        </p:spPr>
        <p:txBody>
          <a:bodyPr anchorCtr="0" anchor="t" bIns="0" lIns="0" spcFirstLastPara="1" rIns="0" wrap="square" tIns="12700">
            <a:spAutoFit/>
          </a:bodyPr>
          <a:lstStyle/>
          <a:p>
            <a:pPr indent="155780" lvl="0" marL="16932" marR="6772" rtl="0" algn="just">
              <a:lnSpc>
                <a:spcPct val="101099"/>
              </a:lnSpc>
              <a:spcBef>
                <a:spcPts val="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Java  applet  viewer</a:t>
            </a:r>
            <a:endParaRPr b="0" i="0" sz="2400" u="none" cap="none" strike="noStrike">
              <a:solidFill>
                <a:schemeClr val="dk1"/>
              </a:solidFill>
              <a:latin typeface="Arial"/>
              <a:ea typeface="Arial"/>
              <a:cs typeface="Arial"/>
              <a:sym typeface="Arial"/>
            </a:endParaRPr>
          </a:p>
        </p:txBody>
      </p:sp>
      <p:sp>
        <p:nvSpPr>
          <p:cNvPr id="554" name="Google Shape;554;g279ef9b7fc5_0_288"/>
          <p:cNvSpPr txBox="1"/>
          <p:nvPr/>
        </p:nvSpPr>
        <p:spPr>
          <a:xfrm>
            <a:off x="5469467" y="5676729"/>
            <a:ext cx="702000" cy="3864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2400"/>
              <a:buFont typeface="Arial"/>
              <a:buNone/>
            </a:pPr>
            <a:r>
              <a:rPr b="1" i="0" lang="en-IN" sz="2400" u="none" cap="none" strike="noStrike">
                <a:solidFill>
                  <a:srgbClr val="FFFFFF"/>
                </a:solidFill>
                <a:latin typeface="Arial"/>
                <a:ea typeface="Arial"/>
                <a:cs typeface="Arial"/>
                <a:sym typeface="Arial"/>
              </a:rPr>
              <a:t>JDK</a:t>
            </a:r>
            <a:endParaRPr b="0" i="0" sz="2400" u="none" cap="none" strike="noStrike">
              <a:solidFill>
                <a:schemeClr val="dk1"/>
              </a:solidFill>
              <a:latin typeface="Arial"/>
              <a:ea typeface="Arial"/>
              <a:cs typeface="Arial"/>
              <a:sym typeface="Arial"/>
            </a:endParaRPr>
          </a:p>
        </p:txBody>
      </p:sp>
      <p:sp>
        <p:nvSpPr>
          <p:cNvPr id="555" name="Google Shape;555;g279ef9b7fc5_0_288"/>
          <p:cNvSpPr/>
          <p:nvPr/>
        </p:nvSpPr>
        <p:spPr>
          <a:xfrm>
            <a:off x="3034077" y="186182"/>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JAVA DEVELOPMENT KIT</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g279ef9b7fc5_0_316"/>
          <p:cNvSpPr txBox="1"/>
          <p:nvPr/>
        </p:nvSpPr>
        <p:spPr>
          <a:xfrm>
            <a:off x="209024" y="1032058"/>
            <a:ext cx="11203200" cy="2775600"/>
          </a:xfrm>
          <a:prstGeom prst="rect">
            <a:avLst/>
          </a:prstGeom>
          <a:noFill/>
          <a:ln>
            <a:noFill/>
          </a:ln>
        </p:spPr>
        <p:txBody>
          <a:bodyPr anchorCtr="0" anchor="t" bIns="0" lIns="0" spcFirstLastPara="1" rIns="0" wrap="square" tIns="16075">
            <a:spAutoFit/>
          </a:bodyPr>
          <a:lstStyle/>
          <a:p>
            <a:pPr indent="-711182" lvl="0" marL="728115" marR="6772"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Just-in-time compiler is a part of JVM that is used to  speed up the execution time of a program.</a:t>
            </a:r>
            <a:endParaRPr b="0" i="0" sz="3200" u="none" cap="none" strike="noStrike">
              <a:solidFill>
                <a:schemeClr val="dk1"/>
              </a:solidFill>
              <a:latin typeface="Arial"/>
              <a:ea typeface="Arial"/>
              <a:cs typeface="Arial"/>
              <a:sym typeface="Arial"/>
            </a:endParaRPr>
          </a:p>
          <a:p>
            <a:pPr indent="-711182" lvl="0" marL="728115" marR="7620" rtl="0" algn="just">
              <a:lnSpc>
                <a:spcPct val="1151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Basic definition of compiler is </a:t>
            </a:r>
            <a:r>
              <a:rPr b="1" i="0" lang="en-IN" sz="3200" u="none" cap="none" strike="noStrike">
                <a:solidFill>
                  <a:srgbClr val="FF0000"/>
                </a:solidFill>
                <a:latin typeface="Arial"/>
                <a:ea typeface="Arial"/>
                <a:cs typeface="Arial"/>
                <a:sym typeface="Arial"/>
              </a:rPr>
              <a:t>“</a:t>
            </a:r>
            <a:r>
              <a:rPr b="1" i="0" lang="en-IN" sz="3200" u="none" cap="none" strike="noStrike">
                <a:solidFill>
                  <a:srgbClr val="00FF00"/>
                </a:solidFill>
                <a:latin typeface="Arial"/>
                <a:ea typeface="Arial"/>
                <a:cs typeface="Arial"/>
                <a:sym typeface="Arial"/>
              </a:rPr>
              <a:t>a program that  translates the source code to a machine executable  code</a:t>
            </a:r>
            <a:r>
              <a:rPr b="1" i="0" lang="en-IN" sz="3200" u="none" cap="none" strike="noStrike">
                <a:solidFill>
                  <a:srgbClr val="FF0000"/>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sp>
        <p:nvSpPr>
          <p:cNvPr id="561" name="Google Shape;561;g279ef9b7fc5_0_316"/>
          <p:cNvSpPr txBox="1"/>
          <p:nvPr/>
        </p:nvSpPr>
        <p:spPr>
          <a:xfrm>
            <a:off x="1638807" y="4514087"/>
            <a:ext cx="8917200" cy="492600"/>
          </a:xfrm>
          <a:prstGeom prst="rect">
            <a:avLst/>
          </a:prstGeom>
          <a:solidFill>
            <a:srgbClr val="000000"/>
          </a:solidFill>
          <a:ln cap="flat" cmpd="sng" w="38075">
            <a:solidFill>
              <a:srgbClr val="FFB42B"/>
            </a:solidFill>
            <a:prstDash val="solid"/>
            <a:round/>
            <a:headEnd len="sm" w="sm" type="none"/>
            <a:tailEnd len="sm" w="sm" type="none"/>
          </a:ln>
        </p:spPr>
        <p:txBody>
          <a:bodyPr anchorCtr="0" anchor="t" bIns="0" lIns="0" spcFirstLastPara="1" rIns="0" wrap="square" tIns="0">
            <a:spAutoFit/>
          </a:bodyPr>
          <a:lstStyle/>
          <a:p>
            <a:pPr indent="0" lvl="0" marL="653610" marR="0" rtl="0" algn="l">
              <a:lnSpc>
                <a:spcPct val="113968"/>
              </a:lnSpc>
              <a:spcBef>
                <a:spcPts val="0"/>
              </a:spcBef>
              <a:spcAft>
                <a:spcPts val="0"/>
              </a:spcAft>
              <a:buClr>
                <a:srgbClr val="000000"/>
              </a:buClr>
              <a:buSzPts val="3200"/>
              <a:buFont typeface="Arial"/>
              <a:buNone/>
            </a:pPr>
            <a:r>
              <a:rPr b="1" i="0" lang="en-IN" sz="3200" u="none" cap="none" strike="noStrike">
                <a:solidFill>
                  <a:srgbClr val="FFFFFF"/>
                </a:solidFill>
                <a:latin typeface="Arial"/>
                <a:ea typeface="Arial"/>
                <a:cs typeface="Arial"/>
                <a:sym typeface="Arial"/>
              </a:rPr>
              <a:t>So, How Just-in-time compiler differs?</a:t>
            </a:r>
            <a:endParaRPr b="0" i="0" sz="3200" u="none" cap="none" strike="noStrike">
              <a:solidFill>
                <a:schemeClr val="dk1"/>
              </a:solidFill>
              <a:latin typeface="Arial"/>
              <a:ea typeface="Arial"/>
              <a:cs typeface="Arial"/>
              <a:sym typeface="Arial"/>
            </a:endParaRPr>
          </a:p>
        </p:txBody>
      </p:sp>
      <p:sp>
        <p:nvSpPr>
          <p:cNvPr id="562" name="Google Shape;562;g279ef9b7fc5_0_316"/>
          <p:cNvSpPr/>
          <p:nvPr/>
        </p:nvSpPr>
        <p:spPr>
          <a:xfrm>
            <a:off x="3159297" y="209905"/>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JUST-IN-TIME Compiler</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g279ef9b7fc5_0_322"/>
          <p:cNvSpPr txBox="1"/>
          <p:nvPr/>
        </p:nvSpPr>
        <p:spPr>
          <a:xfrm>
            <a:off x="209024" y="1032057"/>
            <a:ext cx="11203200" cy="3341400"/>
          </a:xfrm>
          <a:prstGeom prst="rect">
            <a:avLst/>
          </a:prstGeom>
          <a:noFill/>
          <a:ln>
            <a:noFill/>
          </a:ln>
        </p:spPr>
        <p:txBody>
          <a:bodyPr anchorCtr="0" anchor="t" bIns="0" lIns="0" spcFirstLastPara="1" rIns="0" wrap="square" tIns="16075">
            <a:spAutoFit/>
          </a:bodyPr>
          <a:lstStyle/>
          <a:p>
            <a:pPr indent="-711182" lvl="0" marL="728115" marR="9312"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When compiling a java program, the static compiler  that is run using the command </a:t>
            </a:r>
            <a:r>
              <a:rPr b="1" i="0" lang="en-IN" sz="3200" u="none" cap="none" strike="noStrike">
                <a:solidFill>
                  <a:srgbClr val="00FF00"/>
                </a:solidFill>
                <a:latin typeface="Arial"/>
                <a:ea typeface="Arial"/>
                <a:cs typeface="Arial"/>
                <a:sym typeface="Arial"/>
              </a:rPr>
              <a:t>javac </a:t>
            </a:r>
            <a:r>
              <a:rPr b="1" i="0" lang="en-IN" sz="3200" u="none" cap="none" strike="noStrike">
                <a:solidFill>
                  <a:schemeClr val="dk1"/>
                </a:solidFill>
                <a:latin typeface="Arial"/>
                <a:ea typeface="Arial"/>
                <a:cs typeface="Arial"/>
                <a:sym typeface="Arial"/>
              </a:rPr>
              <a:t>converts the  source code to bytecode which are in the form of</a:t>
            </a:r>
            <a:endParaRPr b="0" i="0" sz="3200" u="none" cap="none" strike="noStrike">
              <a:solidFill>
                <a:schemeClr val="dk1"/>
              </a:solidFill>
              <a:latin typeface="Arial"/>
              <a:ea typeface="Arial"/>
              <a:cs typeface="Arial"/>
              <a:sym typeface="Arial"/>
            </a:endParaRPr>
          </a:p>
          <a:p>
            <a:pPr indent="0" lvl="0" marL="728115" marR="0" rtl="0" algn="just">
              <a:lnSpc>
                <a:spcPct val="100000"/>
              </a:lnSpc>
              <a:spcBef>
                <a:spcPts val="579"/>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.class files. These .class files (or) byte code needs to</a:t>
            </a:r>
            <a:endParaRPr b="0" i="0" sz="3200" u="none" cap="none" strike="noStrike">
              <a:solidFill>
                <a:schemeClr val="dk1"/>
              </a:solidFill>
              <a:latin typeface="Arial"/>
              <a:ea typeface="Arial"/>
              <a:cs typeface="Arial"/>
              <a:sym typeface="Arial"/>
            </a:endParaRPr>
          </a:p>
          <a:p>
            <a:pPr indent="0" lvl="0" marL="728115" marR="11852" rtl="0" algn="just">
              <a:lnSpc>
                <a:spcPct val="114999"/>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be interpreted to convert it into a machine executable  code</a:t>
            </a:r>
            <a:endParaRPr b="0" i="0" sz="3200" u="none" cap="none" strike="noStrike">
              <a:solidFill>
                <a:schemeClr val="dk1"/>
              </a:solidFill>
              <a:latin typeface="Arial"/>
              <a:ea typeface="Arial"/>
              <a:cs typeface="Arial"/>
              <a:sym typeface="Arial"/>
            </a:endParaRPr>
          </a:p>
        </p:txBody>
      </p:sp>
      <p:sp>
        <p:nvSpPr>
          <p:cNvPr id="568" name="Google Shape;568;g279ef9b7fc5_0_322"/>
          <p:cNvSpPr/>
          <p:nvPr/>
        </p:nvSpPr>
        <p:spPr>
          <a:xfrm>
            <a:off x="3024237" y="221489"/>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JUST-IN-TIME Compiler</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279ef9b7fc5_0_327"/>
          <p:cNvSpPr txBox="1"/>
          <p:nvPr/>
        </p:nvSpPr>
        <p:spPr>
          <a:xfrm>
            <a:off x="209024" y="1032058"/>
            <a:ext cx="11201400" cy="3909000"/>
          </a:xfrm>
          <a:prstGeom prst="rect">
            <a:avLst/>
          </a:prstGeom>
          <a:noFill/>
          <a:ln>
            <a:noFill/>
          </a:ln>
        </p:spPr>
        <p:txBody>
          <a:bodyPr anchorCtr="0" anchor="t" bIns="0" lIns="0" spcFirstLastPara="1" rIns="0" wrap="square" tIns="16075">
            <a:spAutoFit/>
          </a:bodyPr>
          <a:lstStyle/>
          <a:p>
            <a:pPr indent="-711182" lvl="0" marL="728115" marR="9312"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Bytecode of a program may usually consists of  methods, variables, threads and other instructions</a:t>
            </a:r>
            <a:endParaRPr b="0" i="0" sz="3200" u="none" cap="none" strike="noStrike">
              <a:solidFill>
                <a:schemeClr val="dk1"/>
              </a:solidFill>
              <a:latin typeface="Arial"/>
              <a:ea typeface="Arial"/>
              <a:cs typeface="Arial"/>
              <a:sym typeface="Arial"/>
            </a:endParaRPr>
          </a:p>
          <a:p>
            <a:pPr indent="-711182" lvl="0" marL="728115" marR="6772" rtl="0" algn="just">
              <a:lnSpc>
                <a:spcPct val="1151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So, if there is a repeated code, instead of interpreting  it every time the code is compiled to an executable  code by the JIT compiler.</a:t>
            </a:r>
            <a:endParaRPr b="0" i="0" sz="3200" u="none" cap="none" strike="noStrike">
              <a:solidFill>
                <a:schemeClr val="dk1"/>
              </a:solidFill>
              <a:latin typeface="Arial"/>
              <a:ea typeface="Arial"/>
              <a:cs typeface="Arial"/>
              <a:sym typeface="Arial"/>
            </a:endParaRPr>
          </a:p>
          <a:p>
            <a:pPr indent="-711182" lvl="0" marL="728115" marR="9312"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JIT compiles the code when it is needed but not  before runtime.</a:t>
            </a:r>
            <a:endParaRPr b="0" i="0" sz="3200" u="none" cap="none" strike="noStrike">
              <a:solidFill>
                <a:schemeClr val="dk1"/>
              </a:solidFill>
              <a:latin typeface="Arial"/>
              <a:ea typeface="Arial"/>
              <a:cs typeface="Arial"/>
              <a:sym typeface="Arial"/>
            </a:endParaRPr>
          </a:p>
        </p:txBody>
      </p:sp>
      <p:sp>
        <p:nvSpPr>
          <p:cNvPr id="574" name="Google Shape;574;g279ef9b7fc5_0_327"/>
          <p:cNvSpPr/>
          <p:nvPr/>
        </p:nvSpPr>
        <p:spPr>
          <a:xfrm>
            <a:off x="3132403" y="264411"/>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JUST-IN-TIME Compiler</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g279ef9b7fc5_0_332"/>
          <p:cNvSpPr txBox="1"/>
          <p:nvPr/>
        </p:nvSpPr>
        <p:spPr>
          <a:xfrm>
            <a:off x="209025" y="1032057"/>
            <a:ext cx="11202300" cy="4474800"/>
          </a:xfrm>
          <a:prstGeom prst="rect">
            <a:avLst/>
          </a:prstGeom>
          <a:noFill/>
          <a:ln>
            <a:noFill/>
          </a:ln>
        </p:spPr>
        <p:txBody>
          <a:bodyPr anchorCtr="0" anchor="t" bIns="0" lIns="0" spcFirstLastPara="1" rIns="0" wrap="square" tIns="16075">
            <a:spAutoFit/>
          </a:bodyPr>
          <a:lstStyle/>
          <a:p>
            <a:pPr indent="-711182" lvl="0" marL="728115" marR="7620"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Whenever a program is executed this compiled code  is invoked instead of interpreting the entire byte code  and is quite efficient, and increases the performance  of the program as well.</a:t>
            </a:r>
            <a:endParaRPr b="0" i="0" sz="3200" u="none" cap="none" strike="noStrike">
              <a:solidFill>
                <a:schemeClr val="dk1"/>
              </a:solidFill>
              <a:latin typeface="Arial"/>
              <a:ea typeface="Arial"/>
              <a:cs typeface="Arial"/>
              <a:sym typeface="Arial"/>
            </a:endParaRPr>
          </a:p>
          <a:p>
            <a:pPr indent="-711182" lvl="0" marL="728115" marR="6772" rtl="0" algn="just">
              <a:lnSpc>
                <a:spcPct val="114999"/>
              </a:lnSpc>
              <a:spcBef>
                <a:spcPts val="7"/>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However, the use of JIT is optional, but SUN  microsystems suggest that it is quite efficient to use  JIT especially if there exists a repeated code in the  program.</a:t>
            </a:r>
            <a:endParaRPr b="0" i="0" sz="3200" u="none" cap="none" strike="noStrike">
              <a:solidFill>
                <a:schemeClr val="dk1"/>
              </a:solidFill>
              <a:latin typeface="Arial"/>
              <a:ea typeface="Arial"/>
              <a:cs typeface="Arial"/>
              <a:sym typeface="Arial"/>
            </a:endParaRPr>
          </a:p>
        </p:txBody>
      </p:sp>
      <p:sp>
        <p:nvSpPr>
          <p:cNvPr id="580" name="Google Shape;580;g279ef9b7fc5_0_332"/>
          <p:cNvSpPr/>
          <p:nvPr/>
        </p:nvSpPr>
        <p:spPr>
          <a:xfrm>
            <a:off x="2899321" y="149772"/>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JUST-IN-TIME Compiler</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g279ef9b7fc5_0_337"/>
          <p:cNvSpPr txBox="1"/>
          <p:nvPr/>
        </p:nvSpPr>
        <p:spPr>
          <a:xfrm>
            <a:off x="164321" y="1032057"/>
            <a:ext cx="11202300" cy="4475400"/>
          </a:xfrm>
          <a:prstGeom prst="rect">
            <a:avLst/>
          </a:prstGeom>
          <a:noFill/>
          <a:ln>
            <a:noFill/>
          </a:ln>
        </p:spPr>
        <p:txBody>
          <a:bodyPr anchorCtr="0" anchor="t" bIns="0" lIns="0" spcFirstLastPara="1" rIns="0" wrap="square" tIns="16075">
            <a:spAutoFit/>
          </a:bodyPr>
          <a:lstStyle/>
          <a:p>
            <a:pPr indent="-712029" lvl="0" marL="728115" marR="9312"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Using a compiler, java source code is converted to  byte code.</a:t>
            </a:r>
            <a:endParaRPr b="0" i="0" sz="3200" u="none" cap="none" strike="noStrike">
              <a:solidFill>
                <a:schemeClr val="dk1"/>
              </a:solidFill>
              <a:latin typeface="Arial"/>
              <a:ea typeface="Arial"/>
              <a:cs typeface="Arial"/>
              <a:sym typeface="Arial"/>
            </a:endParaRPr>
          </a:p>
          <a:p>
            <a:pPr indent="-712029" lvl="0" marL="728115" marR="6772" rtl="0" algn="just">
              <a:lnSpc>
                <a:spcPct val="1151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JVM loads the .class files at runtime and converts  them to a machine understandable code using an  interpreter.</a:t>
            </a:r>
            <a:endParaRPr b="0" i="0" sz="3200" u="none" cap="none" strike="noStrike">
              <a:solidFill>
                <a:schemeClr val="dk1"/>
              </a:solidFill>
              <a:latin typeface="Arial"/>
              <a:ea typeface="Arial"/>
              <a:cs typeface="Arial"/>
              <a:sym typeface="Arial"/>
            </a:endParaRPr>
          </a:p>
          <a:p>
            <a:pPr indent="-712029" lvl="0" marL="728115" marR="6772"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JIT compiler is a feature of JVM which when enabled  makes the JVM analyze the method calls in byte code  and compiles them to more efficient code.</a:t>
            </a:r>
            <a:endParaRPr b="0" i="0" sz="3200" u="none" cap="none" strike="noStrike">
              <a:solidFill>
                <a:schemeClr val="dk1"/>
              </a:solidFill>
              <a:latin typeface="Arial"/>
              <a:ea typeface="Arial"/>
              <a:cs typeface="Arial"/>
              <a:sym typeface="Arial"/>
            </a:endParaRPr>
          </a:p>
        </p:txBody>
      </p:sp>
      <p:sp>
        <p:nvSpPr>
          <p:cNvPr id="586" name="Google Shape;586;g279ef9b7fc5_0_337"/>
          <p:cNvSpPr/>
          <p:nvPr/>
        </p:nvSpPr>
        <p:spPr>
          <a:xfrm>
            <a:off x="2979111" y="275278"/>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16932" marR="0" rtl="0" algn="l">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Overview of How JIT compiler helps in</a:t>
            </a:r>
            <a:endParaRPr b="0" i="0" sz="1400" u="none" cap="none" strike="noStrike">
              <a:solidFill>
                <a:srgbClr val="000000"/>
              </a:solidFill>
              <a:latin typeface="Arial"/>
              <a:ea typeface="Arial"/>
              <a:cs typeface="Arial"/>
              <a:sym typeface="Arial"/>
            </a:endParaRPr>
          </a:p>
          <a:p>
            <a:pPr indent="0" lvl="0" marL="3223178" marR="0" rtl="0" algn="l">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compilation of code</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g279ef9b7fc5_0_342"/>
          <p:cNvSpPr txBox="1"/>
          <p:nvPr/>
        </p:nvSpPr>
        <p:spPr>
          <a:xfrm>
            <a:off x="934042" y="1672844"/>
            <a:ext cx="10646700" cy="2535600"/>
          </a:xfrm>
          <a:prstGeom prst="rect">
            <a:avLst/>
          </a:prstGeom>
          <a:noFill/>
          <a:ln>
            <a:noFill/>
          </a:ln>
        </p:spPr>
        <p:txBody>
          <a:bodyPr anchorCtr="0" anchor="t" bIns="0" lIns="0" spcFirstLastPara="1" rIns="0" wrap="square" tIns="16925">
            <a:spAutoFit/>
          </a:bodyPr>
          <a:lstStyle/>
          <a:p>
            <a:pPr indent="-458035" lvl="0" marL="474121" marR="0" rtl="0" algn="l">
              <a:lnSpc>
                <a:spcPct val="100000"/>
              </a:lnSpc>
              <a:spcBef>
                <a:spcPts val="0"/>
              </a:spcBef>
              <a:spcAft>
                <a:spcPts val="0"/>
              </a:spcAft>
              <a:buClr>
                <a:schemeClr val="dk1"/>
              </a:buClr>
              <a:buSzPts val="3200"/>
              <a:buFont typeface="Noto Sans Symbols"/>
              <a:buChar char="⮚"/>
            </a:pPr>
            <a:r>
              <a:rPr b="1" i="0" lang="en-IN" sz="3200" u="none" cap="none" strike="noStrike">
                <a:solidFill>
                  <a:schemeClr val="dk1"/>
                </a:solidFill>
                <a:latin typeface="Arial"/>
                <a:ea typeface="Arial"/>
                <a:cs typeface="Arial"/>
                <a:sym typeface="Arial"/>
              </a:rPr>
              <a:t>JIT optimizes the code.</a:t>
            </a:r>
            <a:endParaRPr b="0" i="0" sz="3200" u="none" cap="none" strike="noStrike">
              <a:solidFill>
                <a:schemeClr val="dk1"/>
              </a:solidFill>
              <a:latin typeface="Arial"/>
              <a:ea typeface="Arial"/>
              <a:cs typeface="Arial"/>
              <a:sym typeface="Arial"/>
            </a:endParaRPr>
          </a:p>
          <a:p>
            <a:pPr indent="0" lvl="0" marL="0" marR="0" rtl="0" algn="l">
              <a:lnSpc>
                <a:spcPct val="100000"/>
              </a:lnSpc>
              <a:spcBef>
                <a:spcPts val="27"/>
              </a:spcBef>
              <a:spcAft>
                <a:spcPts val="0"/>
              </a:spcAft>
              <a:buClr>
                <a:srgbClr val="FFFFFF"/>
              </a:buClr>
              <a:buSzPts val="3533"/>
              <a:buFont typeface="Noto Sans Symbols"/>
              <a:buNone/>
            </a:pPr>
            <a:r>
              <a:t/>
            </a:r>
            <a:endParaRPr b="0" i="0" sz="3533" u="none" cap="none" strike="noStrike">
              <a:solidFill>
                <a:schemeClr val="dk1"/>
              </a:solidFill>
              <a:latin typeface="Arial"/>
              <a:ea typeface="Arial"/>
              <a:cs typeface="Arial"/>
              <a:sym typeface="Arial"/>
            </a:endParaRPr>
          </a:p>
          <a:p>
            <a:pPr indent="-458035" lvl="0" marL="474121" marR="6772" rtl="0" algn="just">
              <a:lnSpc>
                <a:spcPct val="100000"/>
              </a:lnSpc>
              <a:spcBef>
                <a:spcPts val="7"/>
              </a:spcBef>
              <a:spcAft>
                <a:spcPts val="0"/>
              </a:spcAft>
              <a:buClr>
                <a:schemeClr val="dk1"/>
              </a:buClr>
              <a:buSzPts val="3200"/>
              <a:buFont typeface="Noto Sans Symbols"/>
              <a:buChar char="⮚"/>
            </a:pPr>
            <a:r>
              <a:rPr b="1" i="0" lang="en-IN" sz="3200" u="none" cap="none" strike="noStrike">
                <a:solidFill>
                  <a:schemeClr val="dk1"/>
                </a:solidFill>
                <a:latin typeface="Arial"/>
                <a:ea typeface="Arial"/>
                <a:cs typeface="Arial"/>
                <a:sym typeface="Arial"/>
              </a:rPr>
              <a:t>The JVM then executes this optimized code instead  of interpreting it. Which is likely to increase the  performance of the execution.</a:t>
            </a:r>
            <a:endParaRPr b="0" i="0" sz="3200" u="none" cap="none" strike="noStrike">
              <a:solidFill>
                <a:schemeClr val="dk1"/>
              </a:solidFill>
              <a:latin typeface="Arial"/>
              <a:ea typeface="Arial"/>
              <a:cs typeface="Arial"/>
              <a:sym typeface="Arial"/>
            </a:endParaRPr>
          </a:p>
        </p:txBody>
      </p:sp>
      <p:sp>
        <p:nvSpPr>
          <p:cNvPr id="592" name="Google Shape;592;g279ef9b7fc5_0_342"/>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16932" marR="0" rtl="0" algn="l">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Overview of How JIT compiler helps in</a:t>
            </a:r>
            <a:endParaRPr b="0" i="0" sz="1400" u="none" cap="none" strike="noStrike">
              <a:solidFill>
                <a:srgbClr val="000000"/>
              </a:solidFill>
              <a:latin typeface="Arial"/>
              <a:ea typeface="Arial"/>
              <a:cs typeface="Arial"/>
              <a:sym typeface="Arial"/>
            </a:endParaRPr>
          </a:p>
          <a:p>
            <a:pPr indent="0" lvl="0" marL="3221485" marR="0" rtl="0" algn="l">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compilation of code</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g279ef9b7fc5_0_347"/>
          <p:cNvSpPr txBox="1"/>
          <p:nvPr/>
        </p:nvSpPr>
        <p:spPr>
          <a:xfrm>
            <a:off x="272424" y="805688"/>
            <a:ext cx="9234600" cy="3663900"/>
          </a:xfrm>
          <a:prstGeom prst="rect">
            <a:avLst/>
          </a:prstGeom>
          <a:noFill/>
          <a:ln>
            <a:noFill/>
          </a:ln>
        </p:spPr>
        <p:txBody>
          <a:bodyPr anchorCtr="0" anchor="t" bIns="0" lIns="0" spcFirstLastPara="1" rIns="0" wrap="square" tIns="185400">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rgbClr val="00FF00"/>
                </a:solidFill>
                <a:latin typeface="Consolas"/>
                <a:ea typeface="Consolas"/>
                <a:cs typeface="Consolas"/>
                <a:sym typeface="Consolas"/>
              </a:rPr>
              <a:t>class </a:t>
            </a:r>
            <a:r>
              <a:rPr b="1" i="0" lang="en-IN" sz="3200" u="none" cap="none" strike="noStrike">
                <a:solidFill>
                  <a:schemeClr val="dk1"/>
                </a:solidFill>
                <a:latin typeface="Consolas"/>
                <a:ea typeface="Consolas"/>
                <a:cs typeface="Consolas"/>
                <a:sym typeface="Consolas"/>
              </a:rPr>
              <a:t>FirstProgram {</a:t>
            </a:r>
            <a:endParaRPr b="0" i="0" sz="3200" u="none" cap="none" strike="noStrike">
              <a:solidFill>
                <a:schemeClr val="dk1"/>
              </a:solidFill>
              <a:latin typeface="Consolas"/>
              <a:ea typeface="Consolas"/>
              <a:cs typeface="Consolas"/>
              <a:sym typeface="Consolas"/>
            </a:endParaRPr>
          </a:p>
          <a:p>
            <a:pPr indent="0" lvl="0" marL="16932" marR="0" rtl="0" algn="l">
              <a:lnSpc>
                <a:spcPct val="100000"/>
              </a:lnSpc>
              <a:spcBef>
                <a:spcPts val="1325"/>
              </a:spcBef>
              <a:spcAft>
                <a:spcPts val="0"/>
              </a:spcAft>
              <a:buClr>
                <a:srgbClr val="000000"/>
              </a:buClr>
              <a:buSzPts val="3200"/>
              <a:buFont typeface="Arial"/>
              <a:buNone/>
            </a:pPr>
            <a:r>
              <a:rPr b="1" i="0" lang="en-IN" sz="3200" u="none" cap="none" strike="noStrike">
                <a:solidFill>
                  <a:srgbClr val="00FF00"/>
                </a:solidFill>
                <a:latin typeface="Consolas"/>
                <a:ea typeface="Consolas"/>
                <a:cs typeface="Consolas"/>
                <a:sym typeface="Consolas"/>
              </a:rPr>
              <a:t>public static void </a:t>
            </a:r>
            <a:r>
              <a:rPr b="1" i="0" lang="en-IN" sz="3200" u="none" cap="none" strike="noStrike">
                <a:solidFill>
                  <a:srgbClr val="87BCFF"/>
                </a:solidFill>
                <a:latin typeface="Consolas"/>
                <a:ea typeface="Consolas"/>
                <a:cs typeface="Consolas"/>
                <a:sym typeface="Consolas"/>
              </a:rPr>
              <a:t>main</a:t>
            </a:r>
            <a:r>
              <a:rPr b="1" i="0" lang="en-IN" sz="3200" u="none" cap="none" strike="noStrike">
                <a:solidFill>
                  <a:srgbClr val="F7F7F7"/>
                </a:solidFill>
                <a:latin typeface="Consolas"/>
                <a:ea typeface="Consolas"/>
                <a:cs typeface="Consolas"/>
                <a:sym typeface="Consolas"/>
              </a:rPr>
              <a:t>(</a:t>
            </a:r>
            <a:r>
              <a:rPr b="1" i="0" lang="en-IN" sz="3200" u="none" cap="none" strike="noStrike">
                <a:solidFill>
                  <a:srgbClr val="00FF00"/>
                </a:solidFill>
                <a:latin typeface="Consolas"/>
                <a:ea typeface="Consolas"/>
                <a:cs typeface="Consolas"/>
                <a:sym typeface="Consolas"/>
              </a:rPr>
              <a:t>String </a:t>
            </a:r>
            <a:r>
              <a:rPr b="1" i="0" lang="en-IN" sz="3200" u="none" cap="none" strike="noStrike">
                <a:solidFill>
                  <a:srgbClr val="3D86E2"/>
                </a:solidFill>
                <a:latin typeface="Consolas"/>
                <a:ea typeface="Consolas"/>
                <a:cs typeface="Consolas"/>
                <a:sym typeface="Consolas"/>
              </a:rPr>
              <a:t>args</a:t>
            </a:r>
            <a:r>
              <a:rPr b="1" i="0" lang="en-IN" sz="3200" u="none" cap="none" strike="noStrike">
                <a:solidFill>
                  <a:schemeClr val="dk1"/>
                </a:solidFill>
                <a:latin typeface="Consolas"/>
                <a:ea typeface="Consolas"/>
                <a:cs typeface="Consolas"/>
                <a:sym typeface="Consolas"/>
              </a:rPr>
              <a:t>[]) {</a:t>
            </a:r>
            <a:endParaRPr b="0" i="0" sz="3200" u="none" cap="none" strike="noStrike">
              <a:solidFill>
                <a:schemeClr val="dk1"/>
              </a:solidFill>
              <a:latin typeface="Consolas"/>
              <a:ea typeface="Consolas"/>
              <a:cs typeface="Consolas"/>
              <a:sym typeface="Consolas"/>
            </a:endParaRPr>
          </a:p>
          <a:p>
            <a:pPr indent="0" lvl="0" marL="16932" marR="0" rtl="0" algn="l">
              <a:lnSpc>
                <a:spcPct val="100000"/>
              </a:lnSpc>
              <a:spcBef>
                <a:spcPts val="1953"/>
              </a:spcBef>
              <a:spcAft>
                <a:spcPts val="0"/>
              </a:spcAft>
              <a:buClr>
                <a:srgbClr val="000000"/>
              </a:buClr>
              <a:buSzPts val="3200"/>
              <a:buFont typeface="Arial"/>
              <a:buNone/>
            </a:pPr>
            <a:r>
              <a:rPr b="1" i="0" lang="en-IN" sz="3200" u="none" cap="none" strike="noStrike">
                <a:solidFill>
                  <a:srgbClr val="00FF00"/>
                </a:solidFill>
                <a:latin typeface="Consolas"/>
                <a:ea typeface="Consolas"/>
                <a:cs typeface="Consolas"/>
                <a:sym typeface="Consolas"/>
              </a:rPr>
              <a:t>System</a:t>
            </a:r>
            <a:r>
              <a:rPr b="1" i="0" lang="en-IN" sz="3200" u="none" cap="none" strike="noStrike">
                <a:solidFill>
                  <a:srgbClr val="A8D08C"/>
                </a:solidFill>
                <a:latin typeface="Consolas"/>
                <a:ea typeface="Consolas"/>
                <a:cs typeface="Consolas"/>
                <a:sym typeface="Consolas"/>
              </a:rPr>
              <a:t>.out.println("</a:t>
            </a:r>
            <a:r>
              <a:rPr b="1" i="0" lang="en-IN" sz="3200" u="none" cap="none" strike="noStrike">
                <a:solidFill>
                  <a:srgbClr val="00FF00"/>
                </a:solidFill>
                <a:latin typeface="Consolas"/>
                <a:ea typeface="Consolas"/>
                <a:cs typeface="Consolas"/>
                <a:sym typeface="Consolas"/>
              </a:rPr>
              <a:t>First Java Program</a:t>
            </a:r>
            <a:r>
              <a:rPr b="1" i="0" lang="en-IN" sz="3200" u="none" cap="none" strike="noStrike">
                <a:solidFill>
                  <a:schemeClr val="dk1"/>
                </a:solidFill>
                <a:latin typeface="Consolas"/>
                <a:ea typeface="Consolas"/>
                <a:cs typeface="Consolas"/>
                <a:sym typeface="Consolas"/>
              </a:rPr>
              <a:t>");</a:t>
            </a:r>
            <a:endParaRPr b="0" i="0" sz="3200" u="none" cap="none" strike="noStrike">
              <a:solidFill>
                <a:schemeClr val="dk1"/>
              </a:solidFill>
              <a:latin typeface="Consolas"/>
              <a:ea typeface="Consolas"/>
              <a:cs typeface="Consolas"/>
              <a:sym typeface="Consolas"/>
            </a:endParaRPr>
          </a:p>
          <a:p>
            <a:pPr indent="0" lvl="0" marL="16932" marR="0" rtl="0" algn="l">
              <a:lnSpc>
                <a:spcPct val="100000"/>
              </a:lnSpc>
              <a:spcBef>
                <a:spcPts val="2627"/>
              </a:spcBef>
              <a:spcAft>
                <a:spcPts val="0"/>
              </a:spcAft>
              <a:buClr>
                <a:srgbClr val="000000"/>
              </a:buClr>
              <a:buSzPts val="3200"/>
              <a:buFont typeface="Arial"/>
              <a:buNone/>
            </a:pPr>
            <a:r>
              <a:rPr b="1" i="0" lang="en-IN" sz="3200" u="none" cap="none" strike="noStrike">
                <a:solidFill>
                  <a:schemeClr val="dk1"/>
                </a:solidFill>
                <a:latin typeface="Consolas"/>
                <a:ea typeface="Consolas"/>
                <a:cs typeface="Consolas"/>
                <a:sym typeface="Consolas"/>
              </a:rPr>
              <a:t>}</a:t>
            </a:r>
            <a:endParaRPr b="0" i="0" sz="3200" u="none" cap="none" strike="noStrike">
              <a:solidFill>
                <a:schemeClr val="dk1"/>
              </a:solidFill>
              <a:latin typeface="Consolas"/>
              <a:ea typeface="Consolas"/>
              <a:cs typeface="Consolas"/>
              <a:sym typeface="Consolas"/>
            </a:endParaRPr>
          </a:p>
          <a:p>
            <a:pPr indent="0" lvl="0" marL="16932" marR="0" rtl="0" algn="l">
              <a:lnSpc>
                <a:spcPct val="100000"/>
              </a:lnSpc>
              <a:spcBef>
                <a:spcPts val="2000"/>
              </a:spcBef>
              <a:spcAft>
                <a:spcPts val="0"/>
              </a:spcAft>
              <a:buClr>
                <a:srgbClr val="000000"/>
              </a:buClr>
              <a:buSzPts val="3200"/>
              <a:buFont typeface="Arial"/>
              <a:buNone/>
            </a:pPr>
            <a:r>
              <a:rPr b="1" i="0" lang="en-IN" sz="3200" u="none" cap="none" strike="noStrike">
                <a:solidFill>
                  <a:schemeClr val="dk1"/>
                </a:solidFill>
                <a:latin typeface="Consolas"/>
                <a:ea typeface="Consolas"/>
                <a:cs typeface="Consolas"/>
                <a:sym typeface="Consolas"/>
              </a:rPr>
              <a:t>}</a:t>
            </a:r>
            <a:endParaRPr b="0" i="0" sz="3200" u="none" cap="none" strike="noStrike">
              <a:solidFill>
                <a:schemeClr val="dk1"/>
              </a:solidFill>
              <a:latin typeface="Consolas"/>
              <a:ea typeface="Consolas"/>
              <a:cs typeface="Consolas"/>
              <a:sym typeface="Consolas"/>
            </a:endParaRPr>
          </a:p>
        </p:txBody>
      </p:sp>
      <p:sp>
        <p:nvSpPr>
          <p:cNvPr id="598" name="Google Shape;598;g279ef9b7fc5_0_347"/>
          <p:cNvSpPr/>
          <p:nvPr/>
        </p:nvSpPr>
        <p:spPr>
          <a:xfrm>
            <a:off x="3213086" y="170145"/>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Creating	Java Program</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g279ef9b7fc5_0_352"/>
          <p:cNvSpPr txBox="1"/>
          <p:nvPr/>
        </p:nvSpPr>
        <p:spPr>
          <a:xfrm>
            <a:off x="209024" y="1032057"/>
            <a:ext cx="11206500" cy="3941400"/>
          </a:xfrm>
          <a:prstGeom prst="rect">
            <a:avLst/>
          </a:prstGeom>
          <a:noFill/>
          <a:ln>
            <a:noFill/>
          </a:ln>
        </p:spPr>
        <p:txBody>
          <a:bodyPr anchorCtr="0" anchor="t" bIns="0" lIns="0" spcFirstLastPara="1" rIns="0" wrap="square" tIns="16075">
            <a:spAutoFit/>
          </a:bodyPr>
          <a:lstStyle/>
          <a:p>
            <a:pPr indent="-711182" lvl="0" marL="728115" marR="6772"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A compiler is an application that translates programs  from the Java language to a language more suitable  for executing on the computer.</a:t>
            </a:r>
            <a:endParaRPr b="0" i="0" sz="3200" u="none" cap="none" strike="noStrike">
              <a:solidFill>
                <a:schemeClr val="dk1"/>
              </a:solidFill>
              <a:latin typeface="Arial"/>
              <a:ea typeface="Arial"/>
              <a:cs typeface="Arial"/>
              <a:sym typeface="Arial"/>
            </a:endParaRPr>
          </a:p>
          <a:p>
            <a:pPr indent="0" lvl="0" marL="0" marR="0" rtl="0" algn="l">
              <a:lnSpc>
                <a:spcPct val="100000"/>
              </a:lnSpc>
              <a:spcBef>
                <a:spcPts val="40"/>
              </a:spcBef>
              <a:spcAft>
                <a:spcPts val="0"/>
              </a:spcAft>
              <a:buClr>
                <a:srgbClr val="FFFFFF"/>
              </a:buClr>
              <a:buSzPts val="3867"/>
              <a:buFont typeface="MS PGothic"/>
              <a:buNone/>
            </a:pPr>
            <a:r>
              <a:t/>
            </a:r>
            <a:endParaRPr b="0" i="0" sz="3866" u="none" cap="none" strike="noStrike">
              <a:solidFill>
                <a:schemeClr val="dk1"/>
              </a:solidFill>
              <a:latin typeface="Arial"/>
              <a:ea typeface="Arial"/>
              <a:cs typeface="Arial"/>
              <a:sym typeface="Arial"/>
            </a:endParaRPr>
          </a:p>
          <a:p>
            <a:pPr indent="-711182" lvl="0" marL="728115" marR="7620"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It takes a text file with the </a:t>
            </a:r>
            <a:r>
              <a:rPr b="1" i="0" lang="en-IN" sz="3200" u="none" cap="none" strike="noStrike">
                <a:solidFill>
                  <a:srgbClr val="BF9000"/>
                </a:solidFill>
                <a:latin typeface="Arial"/>
                <a:ea typeface="Arial"/>
                <a:cs typeface="Arial"/>
                <a:sym typeface="Arial"/>
              </a:rPr>
              <a:t>.java </a:t>
            </a:r>
            <a:r>
              <a:rPr b="1" i="0" lang="en-IN" sz="3200" u="none" cap="none" strike="noStrike">
                <a:solidFill>
                  <a:schemeClr val="dk1"/>
                </a:solidFill>
                <a:latin typeface="Arial"/>
                <a:ea typeface="Arial"/>
                <a:cs typeface="Arial"/>
                <a:sym typeface="Arial"/>
              </a:rPr>
              <a:t>extension as input  (your program) and produces a file with a </a:t>
            </a:r>
            <a:r>
              <a:rPr b="1" i="0" lang="en-IN" sz="3200" u="none" cap="none" strike="noStrike">
                <a:solidFill>
                  <a:srgbClr val="BF9000"/>
                </a:solidFill>
                <a:latin typeface="Arial"/>
                <a:ea typeface="Arial"/>
                <a:cs typeface="Arial"/>
                <a:sym typeface="Arial"/>
              </a:rPr>
              <a:t>.class  </a:t>
            </a:r>
            <a:r>
              <a:rPr b="1" i="0" lang="en-IN" sz="3200" u="none" cap="none" strike="noStrike">
                <a:solidFill>
                  <a:schemeClr val="dk1"/>
                </a:solidFill>
                <a:latin typeface="Arial"/>
                <a:ea typeface="Arial"/>
                <a:cs typeface="Arial"/>
                <a:sym typeface="Arial"/>
              </a:rPr>
              <a:t>extension (the computer-language version).</a:t>
            </a:r>
            <a:endParaRPr b="0" i="0" sz="3200" u="none" cap="none" strike="noStrike">
              <a:solidFill>
                <a:schemeClr val="dk1"/>
              </a:solidFill>
              <a:latin typeface="Arial"/>
              <a:ea typeface="Arial"/>
              <a:cs typeface="Arial"/>
              <a:sym typeface="Arial"/>
            </a:endParaRPr>
          </a:p>
        </p:txBody>
      </p:sp>
      <p:sp>
        <p:nvSpPr>
          <p:cNvPr id="604" name="Google Shape;604;g279ef9b7fc5_0_352"/>
          <p:cNvSpPr/>
          <p:nvPr/>
        </p:nvSpPr>
        <p:spPr>
          <a:xfrm>
            <a:off x="3025931" y="176666"/>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Compiling a Java Program</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g279ef9b7fc5_0_357"/>
          <p:cNvSpPr txBox="1"/>
          <p:nvPr/>
        </p:nvSpPr>
        <p:spPr>
          <a:xfrm>
            <a:off x="9419337" y="1104730"/>
            <a:ext cx="1817700" cy="5097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rgbClr val="FFFFFF"/>
                </a:solidFill>
                <a:latin typeface="Arial"/>
                <a:ea typeface="Arial"/>
                <a:cs typeface="Arial"/>
                <a:sym typeface="Arial"/>
              </a:rPr>
              <a:t>following</a:t>
            </a:r>
            <a:endParaRPr b="0" i="0" sz="3200" u="none" cap="none" strike="noStrike">
              <a:solidFill>
                <a:schemeClr val="dk1"/>
              </a:solidFill>
              <a:latin typeface="Arial"/>
              <a:ea typeface="Arial"/>
              <a:cs typeface="Arial"/>
              <a:sym typeface="Arial"/>
            </a:endParaRPr>
          </a:p>
        </p:txBody>
      </p:sp>
      <p:sp>
        <p:nvSpPr>
          <p:cNvPr id="610" name="Google Shape;610;g279ef9b7fc5_0_357"/>
          <p:cNvSpPr txBox="1"/>
          <p:nvPr/>
        </p:nvSpPr>
        <p:spPr>
          <a:xfrm>
            <a:off x="209025" y="1032058"/>
            <a:ext cx="8929800" cy="1075200"/>
          </a:xfrm>
          <a:prstGeom prst="rect">
            <a:avLst/>
          </a:prstGeom>
          <a:noFill/>
          <a:ln>
            <a:noFill/>
          </a:ln>
        </p:spPr>
        <p:txBody>
          <a:bodyPr anchorCtr="0" anchor="t" bIns="0" lIns="0" spcFirstLastPara="1" rIns="0" wrap="square" tIns="16075">
            <a:spAutoFit/>
          </a:bodyPr>
          <a:lstStyle/>
          <a:p>
            <a:pPr indent="-711182" lvl="0" marL="728115" marR="6772" rtl="0" algn="l">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To	compile	</a:t>
            </a:r>
            <a:r>
              <a:rPr b="1" i="0" lang="en-IN" sz="3200" u="none" cap="none" strike="noStrike">
                <a:solidFill>
                  <a:srgbClr val="2E75B5"/>
                </a:solidFill>
                <a:latin typeface="Arial"/>
                <a:ea typeface="Arial"/>
                <a:cs typeface="Arial"/>
                <a:sym typeface="Arial"/>
              </a:rPr>
              <a:t>FirstProgram.java</a:t>
            </a:r>
            <a:r>
              <a:rPr b="1" i="0" lang="en-IN" sz="3200" u="none" cap="none" strike="noStrike">
                <a:solidFill>
                  <a:schemeClr val="dk1"/>
                </a:solidFill>
                <a:latin typeface="Arial"/>
                <a:ea typeface="Arial"/>
                <a:cs typeface="Arial"/>
                <a:sym typeface="Arial"/>
              </a:rPr>
              <a:t>	type	the  command at the terminal.</a:t>
            </a:r>
            <a:endParaRPr b="0" i="0" sz="3200" u="none" cap="none" strike="noStrike">
              <a:solidFill>
                <a:schemeClr val="dk1"/>
              </a:solidFill>
              <a:latin typeface="Arial"/>
              <a:ea typeface="Arial"/>
              <a:cs typeface="Arial"/>
              <a:sym typeface="Arial"/>
            </a:endParaRPr>
          </a:p>
        </p:txBody>
      </p:sp>
      <p:sp>
        <p:nvSpPr>
          <p:cNvPr id="611" name="Google Shape;611;g279ef9b7fc5_0_357"/>
          <p:cNvSpPr/>
          <p:nvPr/>
        </p:nvSpPr>
        <p:spPr>
          <a:xfrm>
            <a:off x="959103" y="2920418"/>
            <a:ext cx="9623968" cy="1982499"/>
          </a:xfrm>
          <a:custGeom>
            <a:rect b="b" l="l" r="r" t="t"/>
            <a:pathLst>
              <a:path extrusionOk="0" h="1487804" w="7222490">
                <a:moveTo>
                  <a:pt x="0" y="247904"/>
                </a:moveTo>
                <a:lnTo>
                  <a:pt x="5041" y="197993"/>
                </a:lnTo>
                <a:lnTo>
                  <a:pt x="19481" y="151383"/>
                </a:lnTo>
                <a:lnTo>
                  <a:pt x="42341" y="109347"/>
                </a:lnTo>
                <a:lnTo>
                  <a:pt x="72605" y="72643"/>
                </a:lnTo>
                <a:lnTo>
                  <a:pt x="109296" y="42291"/>
                </a:lnTo>
                <a:lnTo>
                  <a:pt x="151409" y="19431"/>
                </a:lnTo>
                <a:lnTo>
                  <a:pt x="197942" y="5080"/>
                </a:lnTo>
                <a:lnTo>
                  <a:pt x="247903" y="0"/>
                </a:lnTo>
                <a:lnTo>
                  <a:pt x="6974332" y="0"/>
                </a:lnTo>
                <a:lnTo>
                  <a:pt x="7022846" y="4825"/>
                </a:lnTo>
                <a:lnTo>
                  <a:pt x="7069201" y="18923"/>
                </a:lnTo>
                <a:lnTo>
                  <a:pt x="7111873" y="41656"/>
                </a:lnTo>
                <a:lnTo>
                  <a:pt x="7149592" y="72643"/>
                </a:lnTo>
                <a:lnTo>
                  <a:pt x="7180580" y="110362"/>
                </a:lnTo>
                <a:lnTo>
                  <a:pt x="7203313" y="153035"/>
                </a:lnTo>
                <a:lnTo>
                  <a:pt x="7217410" y="199262"/>
                </a:lnTo>
                <a:lnTo>
                  <a:pt x="7222236" y="247904"/>
                </a:lnTo>
                <a:lnTo>
                  <a:pt x="7222236" y="1239393"/>
                </a:lnTo>
                <a:lnTo>
                  <a:pt x="7217156" y="1289431"/>
                </a:lnTo>
                <a:lnTo>
                  <a:pt x="7202678" y="1335913"/>
                </a:lnTo>
                <a:lnTo>
                  <a:pt x="7179818" y="1378077"/>
                </a:lnTo>
                <a:lnTo>
                  <a:pt x="7149592" y="1414653"/>
                </a:lnTo>
                <a:lnTo>
                  <a:pt x="7112889" y="1445006"/>
                </a:lnTo>
                <a:lnTo>
                  <a:pt x="7070725" y="1467866"/>
                </a:lnTo>
                <a:lnTo>
                  <a:pt x="7024243" y="1482344"/>
                </a:lnTo>
                <a:lnTo>
                  <a:pt x="6974332" y="1487297"/>
                </a:lnTo>
                <a:lnTo>
                  <a:pt x="247903" y="1487297"/>
                </a:lnTo>
                <a:lnTo>
                  <a:pt x="197942" y="1482344"/>
                </a:lnTo>
                <a:lnTo>
                  <a:pt x="151409" y="1467866"/>
                </a:lnTo>
                <a:lnTo>
                  <a:pt x="109296" y="1445006"/>
                </a:lnTo>
                <a:lnTo>
                  <a:pt x="72605" y="1414653"/>
                </a:lnTo>
                <a:lnTo>
                  <a:pt x="42341" y="1378077"/>
                </a:lnTo>
                <a:lnTo>
                  <a:pt x="19481" y="1335913"/>
                </a:lnTo>
                <a:lnTo>
                  <a:pt x="5041" y="1289431"/>
                </a:lnTo>
                <a:lnTo>
                  <a:pt x="0" y="1239393"/>
                </a:lnTo>
                <a:lnTo>
                  <a:pt x="0" y="247904"/>
                </a:lnTo>
                <a:close/>
              </a:path>
            </a:pathLst>
          </a:custGeom>
          <a:solidFill>
            <a:schemeClr val="dk1"/>
          </a:solidFill>
          <a:ln cap="flat" cmpd="sng" w="761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2E75B5"/>
              </a:solidFill>
              <a:latin typeface="Calibri"/>
              <a:ea typeface="Calibri"/>
              <a:cs typeface="Calibri"/>
              <a:sym typeface="Calibri"/>
            </a:endParaRPr>
          </a:p>
        </p:txBody>
      </p:sp>
      <p:sp>
        <p:nvSpPr>
          <p:cNvPr id="612" name="Google Shape;612;g279ef9b7fc5_0_357"/>
          <p:cNvSpPr txBox="1"/>
          <p:nvPr/>
        </p:nvSpPr>
        <p:spPr>
          <a:xfrm>
            <a:off x="2655994" y="3595963"/>
            <a:ext cx="6091800" cy="6327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4000"/>
              <a:buFont typeface="Arial"/>
              <a:buNone/>
            </a:pPr>
            <a:r>
              <a:rPr b="1" i="0" lang="en-IN" sz="4000" u="none" cap="none" strike="noStrike">
                <a:solidFill>
                  <a:srgbClr val="EDFF41"/>
                </a:solidFill>
                <a:latin typeface="Arial"/>
                <a:ea typeface="Arial"/>
                <a:cs typeface="Arial"/>
                <a:sym typeface="Arial"/>
              </a:rPr>
              <a:t>javac	</a:t>
            </a:r>
            <a:r>
              <a:rPr b="1" i="0" lang="en-IN" sz="4000" u="none" cap="none" strike="noStrike">
                <a:solidFill>
                  <a:srgbClr val="FFAB40"/>
                </a:solidFill>
                <a:latin typeface="Arial"/>
                <a:ea typeface="Arial"/>
                <a:cs typeface="Arial"/>
                <a:sym typeface="Arial"/>
              </a:rPr>
              <a:t>FirstProgram.java</a:t>
            </a:r>
            <a:endParaRPr b="0" i="0" sz="4000" u="none" cap="none" strike="noStrike">
              <a:solidFill>
                <a:schemeClr val="dk1"/>
              </a:solidFill>
              <a:latin typeface="Arial"/>
              <a:ea typeface="Arial"/>
              <a:cs typeface="Arial"/>
              <a:sym typeface="Arial"/>
            </a:endParaRPr>
          </a:p>
        </p:txBody>
      </p:sp>
      <p:sp>
        <p:nvSpPr>
          <p:cNvPr id="613" name="Google Shape;613;g279ef9b7fc5_0_357"/>
          <p:cNvSpPr/>
          <p:nvPr/>
        </p:nvSpPr>
        <p:spPr>
          <a:xfrm>
            <a:off x="3392379" y="246296"/>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Compiling a Java Program</a:t>
            </a:r>
            <a:endParaRPr b="1" i="0" sz="1800" u="none" cap="none" strike="noStrike">
              <a:solidFill>
                <a:srgbClr val="BF9000"/>
              </a:solidFill>
              <a:latin typeface="Cantarell"/>
              <a:ea typeface="Cantarell"/>
              <a:cs typeface="Cantarell"/>
              <a:sym typeface="Cantarell"/>
            </a:endParaRPr>
          </a:p>
        </p:txBody>
      </p:sp>
      <p:cxnSp>
        <p:nvCxnSpPr>
          <p:cNvPr id="614" name="Google Shape;614;g279ef9b7fc5_0_357"/>
          <p:cNvCxnSpPr/>
          <p:nvPr/>
        </p:nvCxnSpPr>
        <p:spPr>
          <a:xfrm rot="10800000">
            <a:off x="10246659" y="2106666"/>
            <a:ext cx="0" cy="26100"/>
          </a:xfrm>
          <a:prstGeom prst="straightConnector1">
            <a:avLst/>
          </a:prstGeom>
          <a:noFill/>
          <a:ln cap="flat" cmpd="sng" w="9525">
            <a:solidFill>
              <a:schemeClr val="accent1"/>
            </a:solidFill>
            <a:prstDash val="solid"/>
            <a:miter lim="800000"/>
            <a:headEnd len="sm" w="sm" type="none"/>
            <a:tailEnd len="sm" w="sm" type="none"/>
          </a:ln>
        </p:spPr>
      </p:cxn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279ef9b7fc5_0_366"/>
          <p:cNvSpPr/>
          <p:nvPr/>
        </p:nvSpPr>
        <p:spPr>
          <a:xfrm>
            <a:off x="942848" y="2958592"/>
            <a:ext cx="8600142" cy="1545047"/>
          </a:xfrm>
          <a:custGeom>
            <a:rect b="b" l="l" r="r" t="t"/>
            <a:pathLst>
              <a:path extrusionOk="0" h="1159510" w="6454140">
                <a:moveTo>
                  <a:pt x="0" y="193294"/>
                </a:moveTo>
                <a:lnTo>
                  <a:pt x="5105" y="148970"/>
                </a:lnTo>
                <a:lnTo>
                  <a:pt x="19646" y="108204"/>
                </a:lnTo>
                <a:lnTo>
                  <a:pt x="42456" y="72389"/>
                </a:lnTo>
                <a:lnTo>
                  <a:pt x="72390" y="42418"/>
                </a:lnTo>
                <a:lnTo>
                  <a:pt x="108280" y="19685"/>
                </a:lnTo>
                <a:lnTo>
                  <a:pt x="148970" y="5080"/>
                </a:lnTo>
                <a:lnTo>
                  <a:pt x="193281" y="0"/>
                </a:lnTo>
                <a:lnTo>
                  <a:pt x="6260592" y="0"/>
                </a:lnTo>
                <a:lnTo>
                  <a:pt x="6334506" y="14731"/>
                </a:lnTo>
                <a:lnTo>
                  <a:pt x="6397244" y="56642"/>
                </a:lnTo>
                <a:lnTo>
                  <a:pt x="6439154" y="119253"/>
                </a:lnTo>
                <a:lnTo>
                  <a:pt x="6453886" y="193294"/>
                </a:lnTo>
                <a:lnTo>
                  <a:pt x="6453886" y="966216"/>
                </a:lnTo>
                <a:lnTo>
                  <a:pt x="6448806" y="1010538"/>
                </a:lnTo>
                <a:lnTo>
                  <a:pt x="6434200" y="1051179"/>
                </a:lnTo>
                <a:lnTo>
                  <a:pt x="6411341" y="1086993"/>
                </a:lnTo>
                <a:lnTo>
                  <a:pt x="6381495" y="1116964"/>
                </a:lnTo>
                <a:lnTo>
                  <a:pt x="6345555" y="1139825"/>
                </a:lnTo>
                <a:lnTo>
                  <a:pt x="6304915" y="1154303"/>
                </a:lnTo>
                <a:lnTo>
                  <a:pt x="6260592" y="1159383"/>
                </a:lnTo>
                <a:lnTo>
                  <a:pt x="193281" y="1159383"/>
                </a:lnTo>
                <a:lnTo>
                  <a:pt x="148970" y="1154303"/>
                </a:lnTo>
                <a:lnTo>
                  <a:pt x="108280" y="1139825"/>
                </a:lnTo>
                <a:lnTo>
                  <a:pt x="72390" y="1116964"/>
                </a:lnTo>
                <a:lnTo>
                  <a:pt x="42456" y="1086993"/>
                </a:lnTo>
                <a:lnTo>
                  <a:pt x="19646" y="1051179"/>
                </a:lnTo>
                <a:lnTo>
                  <a:pt x="5105" y="1010538"/>
                </a:lnTo>
                <a:lnTo>
                  <a:pt x="0" y="966216"/>
                </a:lnTo>
                <a:lnTo>
                  <a:pt x="0" y="193294"/>
                </a:lnTo>
                <a:close/>
              </a:path>
            </a:pathLst>
          </a:custGeom>
          <a:solidFill>
            <a:schemeClr val="dk1"/>
          </a:solidFill>
          <a:ln cap="flat" cmpd="sng" w="761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620" name="Google Shape;620;g279ef9b7fc5_0_366"/>
          <p:cNvSpPr txBox="1"/>
          <p:nvPr/>
        </p:nvSpPr>
        <p:spPr>
          <a:xfrm>
            <a:off x="209025" y="1032057"/>
            <a:ext cx="11192100" cy="3063900"/>
          </a:xfrm>
          <a:prstGeom prst="rect">
            <a:avLst/>
          </a:prstGeom>
          <a:noFill/>
          <a:ln>
            <a:noFill/>
          </a:ln>
        </p:spPr>
        <p:txBody>
          <a:bodyPr anchorCtr="0" anchor="t" bIns="0" lIns="0" spcFirstLastPara="1" rIns="0" wrap="square" tIns="16075">
            <a:spAutoFit/>
          </a:bodyPr>
          <a:lstStyle/>
          <a:p>
            <a:pPr indent="-711182" lvl="0" marL="728115" marR="6772"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Once you compile your program, you will get .class  file. Now, we can execute the .class file by following  command</a:t>
            </a:r>
            <a:endParaRPr b="0" i="0" sz="3200" u="none" cap="none" strike="noStrike">
              <a:solidFill>
                <a:schemeClr val="dk1"/>
              </a:solidFill>
              <a:latin typeface="Arial"/>
              <a:ea typeface="Arial"/>
              <a:cs typeface="Arial"/>
              <a:sym typeface="Arial"/>
            </a:endParaRPr>
          </a:p>
          <a:p>
            <a:pPr indent="0" lvl="0" marL="0" marR="0" rtl="0" algn="l">
              <a:lnSpc>
                <a:spcPct val="100000"/>
              </a:lnSpc>
              <a:spcBef>
                <a:spcPts val="33"/>
              </a:spcBef>
              <a:spcAft>
                <a:spcPts val="0"/>
              </a:spcAft>
              <a:buClr>
                <a:srgbClr val="000000"/>
              </a:buClr>
              <a:buSzPts val="4733"/>
              <a:buFont typeface="Arial"/>
              <a:buNone/>
            </a:pPr>
            <a:r>
              <a:t/>
            </a:r>
            <a:endParaRPr b="0" i="0" sz="4733"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rgbClr val="EDFF41"/>
                </a:solidFill>
                <a:latin typeface="Arial"/>
                <a:ea typeface="Arial"/>
                <a:cs typeface="Arial"/>
                <a:sym typeface="Arial"/>
              </a:rPr>
              <a:t>java	</a:t>
            </a:r>
            <a:r>
              <a:rPr b="1" i="0" lang="en-IN" sz="4000" u="none" cap="none" strike="noStrike">
                <a:solidFill>
                  <a:srgbClr val="FFAB40"/>
                </a:solidFill>
                <a:latin typeface="Arial"/>
                <a:ea typeface="Arial"/>
                <a:cs typeface="Arial"/>
                <a:sym typeface="Arial"/>
              </a:rPr>
              <a:t>FirstProgram</a:t>
            </a:r>
            <a:endParaRPr b="0" i="0" sz="4000" u="none" cap="none" strike="noStrike">
              <a:solidFill>
                <a:schemeClr val="dk1"/>
              </a:solidFill>
              <a:latin typeface="Arial"/>
              <a:ea typeface="Arial"/>
              <a:cs typeface="Arial"/>
              <a:sym typeface="Arial"/>
            </a:endParaRPr>
          </a:p>
        </p:txBody>
      </p:sp>
      <p:sp>
        <p:nvSpPr>
          <p:cNvPr id="621" name="Google Shape;621;g279ef9b7fc5_0_366"/>
          <p:cNvSpPr txBox="1"/>
          <p:nvPr/>
        </p:nvSpPr>
        <p:spPr>
          <a:xfrm>
            <a:off x="209024" y="5141502"/>
            <a:ext cx="1793100" cy="10023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rgbClr val="00FF00"/>
                </a:solidFill>
                <a:latin typeface="Arial"/>
                <a:ea typeface="Arial"/>
                <a:cs typeface="Arial"/>
                <a:sym typeface="Arial"/>
              </a:rPr>
              <a:t>OUTPUT</a:t>
            </a:r>
            <a:r>
              <a:rPr b="1" i="0" lang="en-IN" sz="3200" u="none" cap="none" strike="noStrike">
                <a:solidFill>
                  <a:srgbClr val="FFFFFF"/>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sp>
        <p:nvSpPr>
          <p:cNvPr id="622" name="Google Shape;622;g279ef9b7fc5_0_366"/>
          <p:cNvSpPr txBox="1"/>
          <p:nvPr/>
        </p:nvSpPr>
        <p:spPr>
          <a:xfrm>
            <a:off x="2631610" y="5141502"/>
            <a:ext cx="3715200" cy="5097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First Java Program</a:t>
            </a:r>
            <a:endParaRPr b="0" i="0" sz="3200" u="none" cap="none" strike="noStrike">
              <a:solidFill>
                <a:schemeClr val="dk1"/>
              </a:solidFill>
              <a:latin typeface="Arial"/>
              <a:ea typeface="Arial"/>
              <a:cs typeface="Arial"/>
              <a:sym typeface="Arial"/>
            </a:endParaRPr>
          </a:p>
        </p:txBody>
      </p:sp>
      <p:sp>
        <p:nvSpPr>
          <p:cNvPr id="623" name="Google Shape;623;g279ef9b7fc5_0_366"/>
          <p:cNvSpPr/>
          <p:nvPr/>
        </p:nvSpPr>
        <p:spPr>
          <a:xfrm>
            <a:off x="2917250" y="91309"/>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Executing a java program</a:t>
            </a:r>
            <a:endParaRPr b="1" i="0" sz="1800" u="none" cap="none" strike="noStrike">
              <a:solidFill>
                <a:srgbClr val="BF9000"/>
              </a:solidFill>
              <a:latin typeface="Cantarell"/>
              <a:ea typeface="Cantarell"/>
              <a:cs typeface="Cantarell"/>
              <a:sym typeface="Cantarell"/>
            </a:endParaRPr>
          </a:p>
        </p:txBody>
      </p:sp>
      <p:cxnSp>
        <p:nvCxnSpPr>
          <p:cNvPr id="624" name="Google Shape;624;g279ef9b7fc5_0_366"/>
          <p:cNvCxnSpPr/>
          <p:nvPr/>
        </p:nvCxnSpPr>
        <p:spPr>
          <a:xfrm>
            <a:off x="11401112" y="3101788"/>
            <a:ext cx="28800" cy="0"/>
          </a:xfrm>
          <a:prstGeom prst="straightConnector1">
            <a:avLst/>
          </a:prstGeom>
          <a:noFill/>
          <a:ln cap="flat" cmpd="sng" w="9525">
            <a:solidFill>
              <a:schemeClr val="accent1"/>
            </a:solidFill>
            <a:prstDash val="solid"/>
            <a:miter lim="800000"/>
            <a:headEnd len="sm" w="sm" type="none"/>
            <a:tailEnd len="sm" w="sm" type="none"/>
          </a:ln>
        </p:spPr>
      </p:cxn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g279ef9b7fc5_0_375"/>
          <p:cNvSpPr txBox="1"/>
          <p:nvPr/>
        </p:nvSpPr>
        <p:spPr>
          <a:xfrm>
            <a:off x="209024" y="1059119"/>
            <a:ext cx="11694300" cy="4519500"/>
          </a:xfrm>
          <a:prstGeom prst="rect">
            <a:avLst/>
          </a:prstGeom>
          <a:noFill/>
          <a:ln>
            <a:noFill/>
          </a:ln>
        </p:spPr>
        <p:txBody>
          <a:bodyPr anchorCtr="0" anchor="t" bIns="0" lIns="0" spcFirstLastPara="1" rIns="0" wrap="square" tIns="261600">
            <a:spAutoFit/>
          </a:bodyPr>
          <a:lstStyle/>
          <a:p>
            <a:pPr indent="-711182" lvl="0" marL="728115" marR="0" rtl="0" algn="l">
              <a:lnSpc>
                <a:spcPct val="100000"/>
              </a:lnSpc>
              <a:spcBef>
                <a:spcPts val="0"/>
              </a:spcBef>
              <a:spcAft>
                <a:spcPts val="0"/>
              </a:spcAft>
              <a:buClr>
                <a:srgbClr val="FFFFFF"/>
              </a:buClr>
              <a:buSzPts val="3200"/>
              <a:buFont typeface="MS PGothic"/>
              <a:buChar char="➢"/>
            </a:pPr>
            <a:r>
              <a:rPr b="1" i="0" lang="en-IN" sz="3200" u="none" cap="none" strike="noStrike">
                <a:solidFill>
                  <a:schemeClr val="accent2"/>
                </a:solidFill>
                <a:latin typeface="Arial"/>
                <a:ea typeface="Arial"/>
                <a:cs typeface="Arial"/>
                <a:sym typeface="Arial"/>
              </a:rPr>
              <a:t>class</a:t>
            </a:r>
            <a:r>
              <a:rPr b="1" i="0" lang="en-IN" sz="3200" u="none" cap="none" strike="noStrike">
                <a:solidFill>
                  <a:schemeClr val="dk1"/>
                </a:solidFill>
                <a:latin typeface="Arial"/>
                <a:ea typeface="Arial"/>
                <a:cs typeface="Arial"/>
                <a:sym typeface="Arial"/>
              </a:rPr>
              <a:t> keyword is used to declare a class in java.</a:t>
            </a:r>
            <a:endParaRPr b="0" i="0" sz="3200" u="none" cap="none" strike="noStrike">
              <a:solidFill>
                <a:schemeClr val="dk1"/>
              </a:solidFill>
              <a:latin typeface="Arial"/>
              <a:ea typeface="Arial"/>
              <a:cs typeface="Arial"/>
              <a:sym typeface="Arial"/>
            </a:endParaRPr>
          </a:p>
          <a:p>
            <a:pPr indent="-711182" lvl="0" marL="728115" marR="7620" rtl="0" algn="l">
              <a:lnSpc>
                <a:spcPct val="150000"/>
              </a:lnSpc>
              <a:spcBef>
                <a:spcPts val="0"/>
              </a:spcBef>
              <a:spcAft>
                <a:spcPts val="0"/>
              </a:spcAft>
              <a:buClr>
                <a:srgbClr val="FFFFFF"/>
              </a:buClr>
              <a:buSzPts val="3200"/>
              <a:buFont typeface="MS PGothic"/>
              <a:buChar char="➢"/>
            </a:pPr>
            <a:r>
              <a:rPr b="1" i="0" lang="en-IN" sz="3200" u="none" cap="none" strike="noStrike">
                <a:solidFill>
                  <a:schemeClr val="accent2"/>
                </a:solidFill>
                <a:latin typeface="Arial"/>
                <a:ea typeface="Arial"/>
                <a:cs typeface="Arial"/>
                <a:sym typeface="Arial"/>
              </a:rPr>
              <a:t>public</a:t>
            </a:r>
            <a:r>
              <a:rPr b="1" i="0" lang="en-IN" sz="3200" u="none" cap="none" strike="noStrike">
                <a:solidFill>
                  <a:schemeClr val="dk1"/>
                </a:solidFill>
                <a:latin typeface="Arial"/>
                <a:ea typeface="Arial"/>
                <a:cs typeface="Arial"/>
                <a:sym typeface="Arial"/>
              </a:rPr>
              <a:t> keyword is an access modifier which	represents  visibility, it means it is visible to all.</a:t>
            </a:r>
            <a:endParaRPr b="0" i="0" sz="3200" u="none" cap="none" strike="noStrike">
              <a:solidFill>
                <a:schemeClr val="dk1"/>
              </a:solidFill>
              <a:latin typeface="Arial"/>
              <a:ea typeface="Arial"/>
              <a:cs typeface="Arial"/>
              <a:sym typeface="Arial"/>
            </a:endParaRPr>
          </a:p>
          <a:p>
            <a:pPr indent="-711182" lvl="0" marL="728115" marR="6772" rtl="0" algn="l">
              <a:lnSpc>
                <a:spcPct val="150000"/>
              </a:lnSpc>
              <a:spcBef>
                <a:spcPts val="7"/>
              </a:spcBef>
              <a:spcAft>
                <a:spcPts val="0"/>
              </a:spcAft>
              <a:buClr>
                <a:srgbClr val="FFFFFF"/>
              </a:buClr>
              <a:buSzPts val="3200"/>
              <a:buFont typeface="MS PGothic"/>
              <a:buChar char="➢"/>
            </a:pPr>
            <a:r>
              <a:rPr b="1" i="0" lang="en-IN" sz="3200" u="none" cap="none" strike="noStrike">
                <a:solidFill>
                  <a:schemeClr val="accent2"/>
                </a:solidFill>
                <a:latin typeface="Arial"/>
                <a:ea typeface="Arial"/>
                <a:cs typeface="Arial"/>
                <a:sym typeface="Arial"/>
              </a:rPr>
              <a:t>void</a:t>
            </a:r>
            <a:r>
              <a:rPr b="1" i="0" lang="en-IN" sz="3200" u="none" cap="none" strike="noStrike">
                <a:solidFill>
                  <a:schemeClr val="dk1"/>
                </a:solidFill>
                <a:latin typeface="Arial"/>
                <a:ea typeface="Arial"/>
                <a:cs typeface="Arial"/>
                <a:sym typeface="Arial"/>
              </a:rPr>
              <a:t> is the return type of the method, it means it	doesn't  return any value.</a:t>
            </a:r>
            <a:endParaRPr b="0" i="0" sz="3200" u="none" cap="none" strike="noStrike">
              <a:solidFill>
                <a:schemeClr val="dk1"/>
              </a:solidFill>
              <a:latin typeface="Arial"/>
              <a:ea typeface="Arial"/>
              <a:cs typeface="Arial"/>
              <a:sym typeface="Arial"/>
            </a:endParaRPr>
          </a:p>
          <a:p>
            <a:pPr indent="-711182" lvl="0" marL="728115" marR="0" rtl="0" algn="l">
              <a:lnSpc>
                <a:spcPct val="100000"/>
              </a:lnSpc>
              <a:spcBef>
                <a:spcPts val="2447"/>
              </a:spcBef>
              <a:spcAft>
                <a:spcPts val="0"/>
              </a:spcAft>
              <a:buClr>
                <a:srgbClr val="FFFFFF"/>
              </a:buClr>
              <a:buSzPts val="3200"/>
              <a:buFont typeface="MS PGothic"/>
              <a:buChar char="➢"/>
            </a:pPr>
            <a:r>
              <a:rPr b="1" i="0" lang="en-IN" sz="3200" u="none" cap="none" strike="noStrike">
                <a:solidFill>
                  <a:schemeClr val="accent2"/>
                </a:solidFill>
                <a:latin typeface="Arial"/>
                <a:ea typeface="Arial"/>
                <a:cs typeface="Arial"/>
                <a:sym typeface="Arial"/>
              </a:rPr>
              <a:t>main</a:t>
            </a:r>
            <a:r>
              <a:rPr b="1" i="0" lang="en-IN" sz="3200" u="none" cap="none" strike="noStrike">
                <a:solidFill>
                  <a:schemeClr val="dk1"/>
                </a:solidFill>
                <a:latin typeface="Arial"/>
                <a:ea typeface="Arial"/>
                <a:cs typeface="Arial"/>
                <a:sym typeface="Arial"/>
              </a:rPr>
              <a:t> represents startup of the program.</a:t>
            </a:r>
            <a:endParaRPr b="0" i="0" sz="3200" u="none" cap="none" strike="noStrike">
              <a:solidFill>
                <a:schemeClr val="dk1"/>
              </a:solidFill>
              <a:latin typeface="Arial"/>
              <a:ea typeface="Arial"/>
              <a:cs typeface="Arial"/>
              <a:sym typeface="Arial"/>
            </a:endParaRPr>
          </a:p>
        </p:txBody>
      </p:sp>
      <p:sp>
        <p:nvSpPr>
          <p:cNvPr id="630" name="Google Shape;630;g279ef9b7fc5_0_375"/>
          <p:cNvSpPr/>
          <p:nvPr/>
        </p:nvSpPr>
        <p:spPr>
          <a:xfrm>
            <a:off x="3033791" y="302171"/>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Understanding First Java Program</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g279ef9b7fc5_0_380"/>
          <p:cNvSpPr txBox="1"/>
          <p:nvPr/>
        </p:nvSpPr>
        <p:spPr>
          <a:xfrm>
            <a:off x="209024" y="1032057"/>
            <a:ext cx="11198100" cy="1075200"/>
          </a:xfrm>
          <a:prstGeom prst="rect">
            <a:avLst/>
          </a:prstGeom>
          <a:noFill/>
          <a:ln>
            <a:noFill/>
          </a:ln>
        </p:spPr>
        <p:txBody>
          <a:bodyPr anchorCtr="0" anchor="t" bIns="0" lIns="0" spcFirstLastPara="1" rIns="0" wrap="square" tIns="16075">
            <a:spAutoFit/>
          </a:bodyPr>
          <a:lstStyle/>
          <a:p>
            <a:pPr indent="-711182" lvl="0" marL="728115" marR="6772" rtl="0" algn="l">
              <a:lnSpc>
                <a:spcPct val="114999"/>
              </a:lnSpc>
              <a:spcBef>
                <a:spcPts val="0"/>
              </a:spcBef>
              <a:spcAft>
                <a:spcPts val="0"/>
              </a:spcAft>
              <a:buClr>
                <a:srgbClr val="FFFFFF"/>
              </a:buClr>
              <a:buSzPts val="3200"/>
              <a:buFont typeface="MS PGothic"/>
              <a:buChar char="➢"/>
            </a:pPr>
            <a:r>
              <a:rPr b="1" i="0" lang="en-IN" sz="3200" u="none" cap="none" strike="noStrike">
                <a:solidFill>
                  <a:srgbClr val="00FF00"/>
                </a:solidFill>
                <a:latin typeface="Arial"/>
                <a:ea typeface="Arial"/>
                <a:cs typeface="Arial"/>
                <a:sym typeface="Arial"/>
              </a:rPr>
              <a:t>static</a:t>
            </a:r>
            <a:r>
              <a:rPr b="1" i="0" lang="en-IN" sz="3200" u="none" cap="none" strike="noStrike">
                <a:solidFill>
                  <a:schemeClr val="accent2"/>
                </a:solidFill>
                <a:latin typeface="Arial"/>
                <a:ea typeface="Arial"/>
                <a:cs typeface="Arial"/>
                <a:sym typeface="Arial"/>
              </a:rPr>
              <a:t>	</a:t>
            </a:r>
            <a:r>
              <a:rPr b="1" i="0" lang="en-IN" sz="3200" u="none" cap="none" strike="noStrike">
                <a:solidFill>
                  <a:schemeClr val="dk1"/>
                </a:solidFill>
                <a:latin typeface="Arial"/>
                <a:ea typeface="Arial"/>
                <a:cs typeface="Arial"/>
                <a:sym typeface="Arial"/>
              </a:rPr>
              <a:t>is	a	keyword,	if	we	declare	any	method	as  static, it is known as static method.</a:t>
            </a:r>
            <a:endParaRPr b="0" i="0" sz="3200" u="none" cap="none" strike="noStrike">
              <a:solidFill>
                <a:schemeClr val="dk1"/>
              </a:solidFill>
              <a:latin typeface="Arial"/>
              <a:ea typeface="Arial"/>
              <a:cs typeface="Arial"/>
              <a:sym typeface="Arial"/>
            </a:endParaRPr>
          </a:p>
        </p:txBody>
      </p:sp>
      <p:sp>
        <p:nvSpPr>
          <p:cNvPr id="636" name="Google Shape;636;g279ef9b7fc5_0_380"/>
          <p:cNvSpPr txBox="1"/>
          <p:nvPr/>
        </p:nvSpPr>
        <p:spPr>
          <a:xfrm>
            <a:off x="10311384" y="2154061"/>
            <a:ext cx="1098000" cy="1075200"/>
          </a:xfrm>
          <a:prstGeom prst="rect">
            <a:avLst/>
          </a:prstGeom>
          <a:noFill/>
          <a:ln>
            <a:noFill/>
          </a:ln>
        </p:spPr>
        <p:txBody>
          <a:bodyPr anchorCtr="0" anchor="t" bIns="0" lIns="0" spcFirstLastPara="1" rIns="0" wrap="square" tIns="16075">
            <a:spAutoFit/>
          </a:bodyPr>
          <a:lstStyle/>
          <a:p>
            <a:pPr indent="68577" lvl="0" marL="16932" marR="6772" rtl="0" algn="l">
              <a:lnSpc>
                <a:spcPct val="114999"/>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there  static</a:t>
            </a:r>
            <a:endParaRPr b="0" i="0" sz="3200" u="none" cap="none" strike="noStrike">
              <a:solidFill>
                <a:schemeClr val="dk1"/>
              </a:solidFill>
              <a:latin typeface="Arial"/>
              <a:ea typeface="Arial"/>
              <a:cs typeface="Arial"/>
              <a:sym typeface="Arial"/>
            </a:endParaRPr>
          </a:p>
        </p:txBody>
      </p:sp>
      <p:sp>
        <p:nvSpPr>
          <p:cNvPr id="637" name="Google Shape;637;g279ef9b7fc5_0_380"/>
          <p:cNvSpPr txBox="1"/>
          <p:nvPr/>
        </p:nvSpPr>
        <p:spPr>
          <a:xfrm>
            <a:off x="981184" y="2154061"/>
            <a:ext cx="9152400" cy="1642800"/>
          </a:xfrm>
          <a:prstGeom prst="rect">
            <a:avLst/>
          </a:prstGeom>
          <a:noFill/>
          <a:ln>
            <a:noFill/>
          </a:ln>
        </p:spPr>
        <p:txBody>
          <a:bodyPr anchorCtr="0" anchor="t" bIns="0" lIns="0" spcFirstLastPara="1" rIns="0" wrap="square" tIns="16075">
            <a:spAutoFit/>
          </a:bodyPr>
          <a:lstStyle/>
          <a:p>
            <a:pPr indent="-548626" lvl="0" marL="564713" marR="6772" rtl="0" algn="l">
              <a:lnSpc>
                <a:spcPct val="115100"/>
              </a:lnSpc>
              <a:spcBef>
                <a:spcPts val="0"/>
              </a:spcBef>
              <a:spcAft>
                <a:spcPts val="0"/>
              </a:spcAft>
              <a:buClr>
                <a:schemeClr val="dk1"/>
              </a:buClr>
              <a:buSzPts val="3200"/>
              <a:buFont typeface="Arial"/>
              <a:buChar char="○"/>
            </a:pPr>
            <a:r>
              <a:rPr b="1" i="0" lang="en-IN" sz="3200" u="none" cap="none" strike="noStrike">
                <a:solidFill>
                  <a:schemeClr val="dk1"/>
                </a:solidFill>
                <a:latin typeface="Arial"/>
                <a:ea typeface="Arial"/>
                <a:cs typeface="Arial"/>
                <a:sym typeface="Arial"/>
              </a:rPr>
              <a:t>The core advantage of static method is that  is	no	need	to	create	object	to	invoke	the  method.</a:t>
            </a:r>
            <a:endParaRPr b="0" i="0" sz="3200" u="none" cap="none" strike="noStrike">
              <a:solidFill>
                <a:schemeClr val="dk1"/>
              </a:solidFill>
              <a:latin typeface="Arial"/>
              <a:ea typeface="Arial"/>
              <a:cs typeface="Arial"/>
              <a:sym typeface="Arial"/>
            </a:endParaRPr>
          </a:p>
        </p:txBody>
      </p:sp>
      <p:sp>
        <p:nvSpPr>
          <p:cNvPr id="638" name="Google Shape;638;g279ef9b7fc5_0_380"/>
          <p:cNvSpPr txBox="1"/>
          <p:nvPr/>
        </p:nvSpPr>
        <p:spPr>
          <a:xfrm>
            <a:off x="981185" y="3837065"/>
            <a:ext cx="10430100" cy="1641600"/>
          </a:xfrm>
          <a:prstGeom prst="rect">
            <a:avLst/>
          </a:prstGeom>
          <a:noFill/>
          <a:ln>
            <a:noFill/>
          </a:ln>
        </p:spPr>
        <p:txBody>
          <a:bodyPr anchorCtr="0" anchor="t" bIns="0" lIns="0" spcFirstLastPara="1" rIns="0" wrap="square" tIns="16075">
            <a:spAutoFit/>
          </a:bodyPr>
          <a:lstStyle/>
          <a:p>
            <a:pPr indent="-548626" lvl="0" marL="564713" marR="6772" rtl="0" algn="just">
              <a:lnSpc>
                <a:spcPct val="114999"/>
              </a:lnSpc>
              <a:spcBef>
                <a:spcPts val="0"/>
              </a:spcBef>
              <a:spcAft>
                <a:spcPts val="0"/>
              </a:spcAft>
              <a:buClr>
                <a:schemeClr val="dk1"/>
              </a:buClr>
              <a:buSzPts val="3200"/>
              <a:buFont typeface="Arial"/>
              <a:buChar char="○"/>
            </a:pPr>
            <a:r>
              <a:rPr b="1" i="0" lang="en-IN" sz="3200" u="none" cap="none" strike="noStrike">
                <a:solidFill>
                  <a:schemeClr val="dk1"/>
                </a:solidFill>
                <a:latin typeface="Arial"/>
                <a:ea typeface="Arial"/>
                <a:cs typeface="Arial"/>
                <a:sym typeface="Arial"/>
              </a:rPr>
              <a:t>The main method is executed by the JVM, so it  doesn't require to create object to invoke the main  method. so it saves memory.</a:t>
            </a:r>
            <a:endParaRPr b="0" i="0" sz="3200" u="none" cap="none" strike="noStrike">
              <a:solidFill>
                <a:schemeClr val="dk1"/>
              </a:solidFill>
              <a:latin typeface="Arial"/>
              <a:ea typeface="Arial"/>
              <a:cs typeface="Arial"/>
              <a:sym typeface="Arial"/>
            </a:endParaRPr>
          </a:p>
        </p:txBody>
      </p:sp>
      <p:sp>
        <p:nvSpPr>
          <p:cNvPr id="639" name="Google Shape;639;g279ef9b7fc5_0_380"/>
          <p:cNvSpPr/>
          <p:nvPr/>
        </p:nvSpPr>
        <p:spPr>
          <a:xfrm>
            <a:off x="2935179" y="239419"/>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Understanding First Java Program</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g279ef9b7fc5_0_388"/>
          <p:cNvSpPr txBox="1"/>
          <p:nvPr/>
        </p:nvSpPr>
        <p:spPr>
          <a:xfrm>
            <a:off x="209025" y="1150281"/>
            <a:ext cx="10357200" cy="1627200"/>
          </a:xfrm>
          <a:prstGeom prst="rect">
            <a:avLst/>
          </a:prstGeom>
          <a:noFill/>
          <a:ln>
            <a:noFill/>
          </a:ln>
        </p:spPr>
        <p:txBody>
          <a:bodyPr anchorCtr="0" anchor="t" bIns="0" lIns="0" spcFirstLastPara="1" rIns="0" wrap="square" tIns="16925">
            <a:spAutoFit/>
          </a:bodyPr>
          <a:lstStyle/>
          <a:p>
            <a:pPr indent="-711182" lvl="0" marL="728115" marR="0" rtl="0" algn="l">
              <a:lnSpc>
                <a:spcPct val="100000"/>
              </a:lnSpc>
              <a:spcBef>
                <a:spcPts val="0"/>
              </a:spcBef>
              <a:spcAft>
                <a:spcPts val="0"/>
              </a:spcAft>
              <a:buClr>
                <a:srgbClr val="FFFFFF"/>
              </a:buClr>
              <a:buSzPts val="3200"/>
              <a:buFont typeface="MS PGothic"/>
              <a:buChar char="➢"/>
            </a:pPr>
            <a:r>
              <a:rPr b="1" i="0" lang="en-IN" sz="3200" u="none" cap="none" strike="noStrike">
                <a:solidFill>
                  <a:srgbClr val="00FF00"/>
                </a:solidFill>
                <a:latin typeface="Arial"/>
                <a:ea typeface="Arial"/>
                <a:cs typeface="Arial"/>
                <a:sym typeface="Arial"/>
              </a:rPr>
              <a:t>String[ ] args </a:t>
            </a:r>
            <a:r>
              <a:rPr b="1" i="0" lang="en-IN" sz="3200" u="none" cap="none" strike="noStrike">
                <a:solidFill>
                  <a:schemeClr val="dk1"/>
                </a:solidFill>
                <a:latin typeface="Arial"/>
                <a:ea typeface="Arial"/>
                <a:cs typeface="Arial"/>
                <a:sym typeface="Arial"/>
              </a:rPr>
              <a:t>is used for command line argument.</a:t>
            </a:r>
            <a:endParaRPr b="0" i="0" sz="3200" u="none" cap="none" strike="noStrike">
              <a:solidFill>
                <a:schemeClr val="dk1"/>
              </a:solidFill>
              <a:latin typeface="Arial"/>
              <a:ea typeface="Arial"/>
              <a:cs typeface="Arial"/>
              <a:sym typeface="Arial"/>
            </a:endParaRPr>
          </a:p>
          <a:p>
            <a:pPr indent="0" lvl="0" marL="0" marR="0" rtl="0" algn="l">
              <a:lnSpc>
                <a:spcPct val="100000"/>
              </a:lnSpc>
              <a:spcBef>
                <a:spcPts val="73"/>
              </a:spcBef>
              <a:spcAft>
                <a:spcPts val="0"/>
              </a:spcAft>
              <a:buClr>
                <a:srgbClr val="FFFFFF"/>
              </a:buClr>
              <a:buSzPts val="4000"/>
              <a:buFont typeface="MS PGothic"/>
              <a:buNone/>
            </a:pPr>
            <a:r>
              <a:t/>
            </a:r>
            <a:endParaRPr b="0" i="0" sz="4000" u="none" cap="none" strike="noStrike">
              <a:solidFill>
                <a:schemeClr val="dk1"/>
              </a:solidFill>
              <a:latin typeface="Arial"/>
              <a:ea typeface="Arial"/>
              <a:cs typeface="Arial"/>
              <a:sym typeface="Arial"/>
            </a:endParaRPr>
          </a:p>
          <a:p>
            <a:pPr indent="-711182" lvl="0" marL="728115" marR="0" rtl="0" algn="l">
              <a:lnSpc>
                <a:spcPct val="100000"/>
              </a:lnSpc>
              <a:spcBef>
                <a:spcPts val="0"/>
              </a:spcBef>
              <a:spcAft>
                <a:spcPts val="0"/>
              </a:spcAft>
              <a:buClr>
                <a:srgbClr val="FFFFFF"/>
              </a:buClr>
              <a:buSzPts val="3200"/>
              <a:buFont typeface="MS PGothic"/>
              <a:buChar char="➢"/>
            </a:pPr>
            <a:r>
              <a:rPr b="1" i="0" lang="en-IN" sz="3200" u="none" cap="none" strike="noStrike">
                <a:solidFill>
                  <a:srgbClr val="00FF00"/>
                </a:solidFill>
                <a:latin typeface="Arial"/>
                <a:ea typeface="Arial"/>
                <a:cs typeface="Arial"/>
                <a:sym typeface="Arial"/>
              </a:rPr>
              <a:t>System.out.println() </a:t>
            </a:r>
            <a:r>
              <a:rPr b="1" i="0" lang="en-IN" sz="3200" u="none" cap="none" strike="noStrike">
                <a:solidFill>
                  <a:schemeClr val="dk1"/>
                </a:solidFill>
                <a:latin typeface="Arial"/>
                <a:ea typeface="Arial"/>
                <a:cs typeface="Arial"/>
                <a:sym typeface="Arial"/>
              </a:rPr>
              <a:t>is used print statement.</a:t>
            </a:r>
            <a:endParaRPr b="0" i="0" sz="3200" u="none" cap="none" strike="noStrike">
              <a:solidFill>
                <a:schemeClr val="dk1"/>
              </a:solidFill>
              <a:latin typeface="Arial"/>
              <a:ea typeface="Arial"/>
              <a:cs typeface="Arial"/>
              <a:sym typeface="Arial"/>
            </a:endParaRPr>
          </a:p>
        </p:txBody>
      </p:sp>
      <p:sp>
        <p:nvSpPr>
          <p:cNvPr id="645" name="Google Shape;645;g279ef9b7fc5_0_388"/>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Understanding First Java Program</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g279ef9b7fc5_0_393"/>
          <p:cNvSpPr txBox="1"/>
          <p:nvPr>
            <p:ph type="title"/>
          </p:nvPr>
        </p:nvSpPr>
        <p:spPr>
          <a:xfrm>
            <a:off x="3092825" y="2545977"/>
            <a:ext cx="7557300" cy="1083300"/>
          </a:xfrm>
          <a:prstGeom prst="rect">
            <a:avLst/>
          </a:prstGeom>
          <a:noFill/>
          <a:ln>
            <a:noFill/>
          </a:ln>
        </p:spPr>
        <p:txBody>
          <a:bodyPr anchorCtr="0" anchor="t" bIns="0" lIns="0" spcFirstLastPara="1" rIns="0" wrap="square" tIns="16075">
            <a:spAutoFit/>
          </a:bodyPr>
          <a:lstStyle/>
          <a:p>
            <a:pPr indent="0" lvl="0" marL="16932" marR="0" rtl="0" algn="l">
              <a:lnSpc>
                <a:spcPct val="100000"/>
              </a:lnSpc>
              <a:spcBef>
                <a:spcPts val="0"/>
              </a:spcBef>
              <a:spcAft>
                <a:spcPts val="0"/>
              </a:spcAft>
              <a:buClr>
                <a:srgbClr val="BF9000"/>
              </a:buClr>
              <a:buSzPts val="6933"/>
              <a:buFont typeface="Calibri"/>
              <a:buNone/>
            </a:pPr>
            <a:r>
              <a:rPr b="1" i="0" lang="en-IN" sz="6933" u="none" cap="none" strike="noStrike">
                <a:solidFill>
                  <a:srgbClr val="BF9000"/>
                </a:solidFill>
                <a:latin typeface="Calibri"/>
                <a:ea typeface="Calibri"/>
                <a:cs typeface="Calibri"/>
                <a:sym typeface="Calibri"/>
              </a:rPr>
              <a:t>JAVA VARIABLES</a:t>
            </a:r>
            <a:endParaRPr b="1" i="0" sz="6933" u="none" cap="none" strike="noStrike">
              <a:solidFill>
                <a:srgbClr val="BF9000"/>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g279ef9b7fc5_0_397"/>
          <p:cNvSpPr txBox="1"/>
          <p:nvPr/>
        </p:nvSpPr>
        <p:spPr>
          <a:xfrm>
            <a:off x="488221" y="887644"/>
            <a:ext cx="10874700" cy="3358800"/>
          </a:xfrm>
          <a:prstGeom prst="rect">
            <a:avLst/>
          </a:prstGeom>
          <a:noFill/>
          <a:ln>
            <a:noFill/>
          </a:ln>
        </p:spPr>
        <p:txBody>
          <a:bodyPr anchorCtr="0" anchor="t" bIns="0" lIns="0" spcFirstLastPara="1" rIns="0" wrap="square" tIns="16075">
            <a:spAutoFit/>
          </a:bodyPr>
          <a:lstStyle/>
          <a:p>
            <a:pPr indent="-712029" lvl="0" marL="728115" marR="7620" rtl="0" algn="just">
              <a:lnSpc>
                <a:spcPct val="1151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A variable is a container which holds the value while  the java program is executed. A variable is assigned  with a datatype.</a:t>
            </a:r>
            <a:endParaRPr b="0" i="0" sz="3200" u="none" cap="none" strike="noStrike">
              <a:solidFill>
                <a:schemeClr val="dk1"/>
              </a:solidFill>
              <a:latin typeface="Arial"/>
              <a:ea typeface="Arial"/>
              <a:cs typeface="Arial"/>
              <a:sym typeface="Arial"/>
            </a:endParaRPr>
          </a:p>
          <a:p>
            <a:pPr indent="-712029" lvl="0" marL="728115" marR="6772" rtl="0" algn="just">
              <a:lnSpc>
                <a:spcPct val="114999"/>
              </a:lnSpc>
              <a:spcBef>
                <a:spcPts val="127"/>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Variable is a name of memory location. There are  three types of variables in java: local, instance and  static.</a:t>
            </a:r>
            <a:endParaRPr b="0" i="0" sz="3200" u="none" cap="none" strike="noStrike">
              <a:solidFill>
                <a:schemeClr val="dk1"/>
              </a:solidFill>
              <a:latin typeface="Arial"/>
              <a:ea typeface="Arial"/>
              <a:cs typeface="Arial"/>
              <a:sym typeface="Arial"/>
            </a:endParaRPr>
          </a:p>
        </p:txBody>
      </p:sp>
      <p:sp>
        <p:nvSpPr>
          <p:cNvPr id="656" name="Google Shape;656;g279ef9b7fc5_0_397"/>
          <p:cNvSpPr/>
          <p:nvPr/>
        </p:nvSpPr>
        <p:spPr>
          <a:xfrm>
            <a:off x="2917250" y="200025"/>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Variables</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pic>
        <p:nvPicPr>
          <p:cNvPr id="661" name="Google Shape;661;g279ef9b7fc5_0_402"/>
          <p:cNvPicPr preferRelativeResize="0"/>
          <p:nvPr/>
        </p:nvPicPr>
        <p:blipFill rotWithShape="1">
          <a:blip r:embed="rId3">
            <a:alphaModFix/>
          </a:blip>
          <a:srcRect b="0" l="0" r="0" t="0"/>
          <a:stretch/>
        </p:blipFill>
        <p:spPr>
          <a:xfrm>
            <a:off x="3352800" y="1702815"/>
            <a:ext cx="6522721" cy="4092448"/>
          </a:xfrm>
          <a:prstGeom prst="rect">
            <a:avLst/>
          </a:prstGeom>
          <a:noFill/>
          <a:ln>
            <a:noFill/>
          </a:ln>
        </p:spPr>
      </p:pic>
      <p:sp>
        <p:nvSpPr>
          <p:cNvPr id="662" name="Google Shape;662;g279ef9b7fc5_0_402"/>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VARIABLE IS NAME OF RESERVED AREA  ALLOCATED IN MEMORY.</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g279ef9b7fc5_0_407"/>
          <p:cNvSpPr txBox="1"/>
          <p:nvPr/>
        </p:nvSpPr>
        <p:spPr>
          <a:xfrm>
            <a:off x="242756" y="872006"/>
            <a:ext cx="11519700" cy="5077200"/>
          </a:xfrm>
          <a:prstGeom prst="rect">
            <a:avLst/>
          </a:prstGeom>
          <a:noFill/>
          <a:ln>
            <a:noFill/>
          </a:ln>
        </p:spPr>
        <p:txBody>
          <a:bodyPr anchorCtr="0" anchor="t" bIns="0" lIns="0" spcFirstLastPara="1" rIns="0" wrap="square" tIns="90575">
            <a:spAutoFit/>
          </a:bodyPr>
          <a:lstStyle/>
          <a:p>
            <a:pPr indent="-711182" lvl="0" marL="728115" marR="0" rtl="0" algn="just">
              <a:lnSpc>
                <a:spcPct val="1000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local variable - A variable declared inside the body of</a:t>
            </a:r>
            <a:endParaRPr b="0" i="0" sz="3200" u="none" cap="none" strike="noStrike">
              <a:solidFill>
                <a:schemeClr val="dk1"/>
              </a:solidFill>
              <a:latin typeface="Arial"/>
              <a:ea typeface="Arial"/>
              <a:cs typeface="Arial"/>
              <a:sym typeface="Arial"/>
            </a:endParaRPr>
          </a:p>
          <a:p>
            <a:pPr indent="0" lvl="0" marL="728115" marR="0" rtl="0" algn="just">
              <a:lnSpc>
                <a:spcPct val="100000"/>
              </a:lnSpc>
              <a:spcBef>
                <a:spcPts val="579"/>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the method is called local variable.</a:t>
            </a:r>
            <a:endParaRPr b="0" i="0" sz="3200" u="none" cap="none" strike="noStrike">
              <a:solidFill>
                <a:schemeClr val="dk1"/>
              </a:solidFill>
              <a:latin typeface="Arial"/>
              <a:ea typeface="Arial"/>
              <a:cs typeface="Arial"/>
              <a:sym typeface="Arial"/>
            </a:endParaRPr>
          </a:p>
          <a:p>
            <a:pPr indent="-711182" lvl="0" marL="728115" marR="10160" rtl="0" algn="just">
              <a:lnSpc>
                <a:spcPct val="114999"/>
              </a:lnSpc>
              <a:spcBef>
                <a:spcPts val="127"/>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instance variable - A variable declared inside the class  but outside the body of the method, is called instance  variable. It is not declared as static.</a:t>
            </a:r>
            <a:endParaRPr b="0" i="0" sz="3200" u="none" cap="none" strike="noStrike">
              <a:solidFill>
                <a:schemeClr val="dk1"/>
              </a:solidFill>
              <a:latin typeface="Arial"/>
              <a:ea typeface="Arial"/>
              <a:cs typeface="Arial"/>
              <a:sym typeface="Arial"/>
            </a:endParaRPr>
          </a:p>
          <a:p>
            <a:pPr indent="-711182" lvl="0" marL="728115" marR="6772" rtl="0" algn="just">
              <a:lnSpc>
                <a:spcPct val="114999"/>
              </a:lnSpc>
              <a:spcBef>
                <a:spcPts val="147"/>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static variable - A variable which is declared as static is  called static variable. It cannot be local. You can create  a single copy of static variable and share among all the  instances of the class.</a:t>
            </a:r>
            <a:endParaRPr b="0" i="0" sz="3200" u="none" cap="none" strike="noStrike">
              <a:solidFill>
                <a:schemeClr val="dk1"/>
              </a:solidFill>
              <a:latin typeface="Arial"/>
              <a:ea typeface="Arial"/>
              <a:cs typeface="Arial"/>
              <a:sym typeface="Arial"/>
            </a:endParaRPr>
          </a:p>
        </p:txBody>
      </p:sp>
      <p:sp>
        <p:nvSpPr>
          <p:cNvPr id="668" name="Google Shape;668;g279ef9b7fc5_0_407"/>
          <p:cNvSpPr/>
          <p:nvPr/>
        </p:nvSpPr>
        <p:spPr>
          <a:xfrm>
            <a:off x="3281092" y="159869"/>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TYPES OF VARIABLES</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279ef9b7fc5_0_412"/>
          <p:cNvSpPr txBox="1"/>
          <p:nvPr/>
        </p:nvSpPr>
        <p:spPr>
          <a:xfrm>
            <a:off x="1333397" y="431212"/>
            <a:ext cx="7344900" cy="5676600"/>
          </a:xfrm>
          <a:prstGeom prst="rect">
            <a:avLst/>
          </a:prstGeom>
          <a:noFill/>
          <a:ln>
            <a:noFill/>
          </a:ln>
        </p:spPr>
        <p:txBody>
          <a:bodyPr anchorCtr="0" anchor="t" bIns="0" lIns="0" spcFirstLastPara="1" rIns="0" wrap="square" tIns="89725">
            <a:spAutoFit/>
          </a:bodyPr>
          <a:lstStyle/>
          <a:p>
            <a:pPr indent="0" lvl="0" marL="16932" marR="0" rtl="0" algn="l">
              <a:lnSpc>
                <a:spcPct val="100000"/>
              </a:lnSpc>
              <a:spcBef>
                <a:spcPts val="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class A</a:t>
            </a:r>
            <a:endParaRPr b="0" i="0" sz="2400" u="none" cap="none" strike="noStrike">
              <a:solidFill>
                <a:schemeClr val="dk1"/>
              </a:solidFill>
              <a:latin typeface="Arial"/>
              <a:ea typeface="Arial"/>
              <a:cs typeface="Arial"/>
              <a:sym typeface="Arial"/>
            </a:endParaRPr>
          </a:p>
          <a:p>
            <a:pPr indent="0" lvl="0" marL="16932" marR="0" rtl="0" algn="l">
              <a:lnSpc>
                <a:spcPct val="100000"/>
              </a:lnSpc>
              <a:spcBef>
                <a:spcPts val="579"/>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a:t>
            </a:r>
            <a:endParaRPr b="0" i="0" sz="2400" u="none" cap="none" strike="noStrike">
              <a:solidFill>
                <a:schemeClr val="dk1"/>
              </a:solidFill>
              <a:latin typeface="Arial"/>
              <a:ea typeface="Arial"/>
              <a:cs typeface="Arial"/>
              <a:sym typeface="Arial"/>
            </a:endParaRPr>
          </a:p>
          <a:p>
            <a:pPr indent="0" lvl="0" marL="728115" marR="0" rtl="0" algn="l">
              <a:lnSpc>
                <a:spcPct val="100000"/>
              </a:lnSpc>
              <a:spcBef>
                <a:spcPts val="56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int data=50; </a:t>
            </a:r>
            <a:r>
              <a:rPr b="1" i="0" lang="en-IN" sz="2400" u="none" cap="none" strike="noStrike">
                <a:solidFill>
                  <a:srgbClr val="FF0000"/>
                </a:solidFill>
                <a:latin typeface="Arial"/>
                <a:ea typeface="Arial"/>
                <a:cs typeface="Arial"/>
                <a:sym typeface="Arial"/>
              </a:rPr>
              <a:t>//instance variable</a:t>
            </a:r>
            <a:endParaRPr b="0" i="0" sz="2400" u="none" cap="none" strike="noStrike">
              <a:solidFill>
                <a:srgbClr val="FF0000"/>
              </a:solidFill>
              <a:latin typeface="Arial"/>
              <a:ea typeface="Arial"/>
              <a:cs typeface="Arial"/>
              <a:sym typeface="Arial"/>
            </a:endParaRPr>
          </a:p>
          <a:p>
            <a:pPr indent="457189" lvl="0" marL="270926" marR="1928657" rtl="0" algn="l">
              <a:lnSpc>
                <a:spcPct val="143875"/>
              </a:lnSpc>
              <a:spcBef>
                <a:spcPts val="20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static int m=100; </a:t>
            </a:r>
            <a:r>
              <a:rPr b="1" i="0" lang="en-IN" sz="2400" u="none" cap="none" strike="noStrike">
                <a:solidFill>
                  <a:srgbClr val="FF0000"/>
                </a:solidFill>
                <a:latin typeface="Arial"/>
                <a:ea typeface="Arial"/>
                <a:cs typeface="Arial"/>
                <a:sym typeface="Arial"/>
              </a:rPr>
              <a:t>//static variable  </a:t>
            </a:r>
            <a:r>
              <a:rPr b="1" i="0" lang="en-IN" sz="2400" u="none" cap="none" strike="noStrike">
                <a:solidFill>
                  <a:schemeClr val="dk1"/>
                </a:solidFill>
                <a:latin typeface="Arial"/>
                <a:ea typeface="Arial"/>
                <a:cs typeface="Arial"/>
                <a:sym typeface="Arial"/>
              </a:rPr>
              <a:t>void method()</a:t>
            </a:r>
            <a:endParaRPr b="0" i="0" sz="2400" u="none" cap="none" strike="noStrike">
              <a:solidFill>
                <a:schemeClr val="dk1"/>
              </a:solidFill>
              <a:latin typeface="Arial"/>
              <a:ea typeface="Arial"/>
              <a:cs typeface="Arial"/>
              <a:sym typeface="Arial"/>
            </a:endParaRPr>
          </a:p>
          <a:p>
            <a:pPr indent="0" lvl="0" marL="728115" marR="0" rtl="0" algn="l">
              <a:lnSpc>
                <a:spcPct val="100000"/>
              </a:lnSpc>
              <a:spcBef>
                <a:spcPts val="353"/>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a:t>
            </a:r>
            <a:endParaRPr b="0" i="0" sz="2400" u="none" cap="none" strike="noStrike">
              <a:solidFill>
                <a:schemeClr val="dk1"/>
              </a:solidFill>
              <a:latin typeface="Arial"/>
              <a:ea typeface="Arial"/>
              <a:cs typeface="Arial"/>
              <a:sym typeface="Arial"/>
            </a:endParaRPr>
          </a:p>
          <a:p>
            <a:pPr indent="0" lvl="0" marL="1220016" marR="0" rtl="0" algn="l">
              <a:lnSpc>
                <a:spcPct val="100000"/>
              </a:lnSpc>
              <a:spcBef>
                <a:spcPts val="56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int n=90; </a:t>
            </a:r>
            <a:r>
              <a:rPr b="1" i="0" lang="en-IN" sz="2400" u="none" cap="none" strike="noStrike">
                <a:solidFill>
                  <a:srgbClr val="FF0000"/>
                </a:solidFill>
                <a:latin typeface="Arial"/>
                <a:ea typeface="Arial"/>
                <a:cs typeface="Arial"/>
                <a:sym typeface="Arial"/>
              </a:rPr>
              <a:t>//local variable</a:t>
            </a:r>
            <a:endParaRPr b="0" i="0" sz="2400" u="none" cap="none" strike="noStrike">
              <a:solidFill>
                <a:srgbClr val="FF0000"/>
              </a:solidFill>
              <a:latin typeface="Arial"/>
              <a:ea typeface="Arial"/>
              <a:cs typeface="Arial"/>
              <a:sym typeface="Arial"/>
            </a:endParaRPr>
          </a:p>
          <a:p>
            <a:pPr indent="0" lvl="0" marL="728115" marR="0" rtl="0" algn="l">
              <a:lnSpc>
                <a:spcPct val="100000"/>
              </a:lnSpc>
              <a:spcBef>
                <a:spcPts val="573"/>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a:t>
            </a:r>
            <a:endParaRPr b="0" i="0" sz="2400" u="none" cap="none" strike="noStrike">
              <a:solidFill>
                <a:schemeClr val="dk1"/>
              </a:solidFill>
              <a:latin typeface="Arial"/>
              <a:ea typeface="Arial"/>
              <a:cs typeface="Arial"/>
              <a:sym typeface="Arial"/>
            </a:endParaRPr>
          </a:p>
          <a:p>
            <a:pPr indent="0" lvl="0" marL="16932" marR="5182317" rtl="0" algn="l">
              <a:lnSpc>
                <a:spcPct val="143333"/>
              </a:lnSpc>
              <a:spcBef>
                <a:spcPts val="213"/>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 //end of class  Class B</a:t>
            </a:r>
            <a:endParaRPr b="0" i="0" sz="2400" u="none" cap="none" strike="noStrike">
              <a:solidFill>
                <a:schemeClr val="dk1"/>
              </a:solidFill>
              <a:latin typeface="Arial"/>
              <a:ea typeface="Arial"/>
              <a:cs typeface="Arial"/>
              <a:sym typeface="Arial"/>
            </a:endParaRPr>
          </a:p>
          <a:p>
            <a:pPr indent="0" lvl="0" marL="16932" marR="0" rtl="0" algn="l">
              <a:lnSpc>
                <a:spcPct val="100000"/>
              </a:lnSpc>
              <a:spcBef>
                <a:spcPts val="367"/>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a:t>
            </a:r>
            <a:endParaRPr b="0" i="0" sz="2400" u="none" cap="none" strike="noStrike">
              <a:solidFill>
                <a:schemeClr val="dk1"/>
              </a:solidFill>
              <a:latin typeface="Arial"/>
              <a:ea typeface="Arial"/>
              <a:cs typeface="Arial"/>
              <a:sym typeface="Arial"/>
            </a:endParaRPr>
          </a:p>
          <a:p>
            <a:pPr indent="0" lvl="0" marL="16932" marR="0" rtl="0" algn="l">
              <a:lnSpc>
                <a:spcPct val="100000"/>
              </a:lnSpc>
              <a:spcBef>
                <a:spcPts val="56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public…………..{ A ob,ob1;	ob.m=50; ob1.m=10;}}</a:t>
            </a:r>
            <a:endParaRPr b="0" i="0" sz="2400" u="none" cap="none" strike="noStrike">
              <a:solidFill>
                <a:schemeClr val="dk1"/>
              </a:solidFill>
              <a:latin typeface="Arial"/>
              <a:ea typeface="Arial"/>
              <a:cs typeface="Arial"/>
              <a:sym typeface="Arial"/>
            </a:endParaRPr>
          </a:p>
        </p:txBody>
      </p:sp>
      <p:sp>
        <p:nvSpPr>
          <p:cNvPr id="674" name="Google Shape;674;g279ef9b7fc5_0_412"/>
          <p:cNvSpPr/>
          <p:nvPr/>
        </p:nvSpPr>
        <p:spPr>
          <a:xfrm>
            <a:off x="3105509" y="284242"/>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EXAMPLE</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g279ef9b7fc5_0_417"/>
          <p:cNvSpPr txBox="1"/>
          <p:nvPr/>
        </p:nvSpPr>
        <p:spPr>
          <a:xfrm>
            <a:off x="592667" y="1490471"/>
            <a:ext cx="4587300" cy="3120300"/>
          </a:xfrm>
          <a:prstGeom prst="rect">
            <a:avLst/>
          </a:prstGeom>
          <a:noFill/>
          <a:ln>
            <a:noFill/>
          </a:ln>
        </p:spPr>
        <p:txBody>
          <a:bodyPr anchorCtr="0" anchor="t" bIns="0" lIns="0" spcFirstLastPara="1" rIns="0" wrap="square" tIns="89725">
            <a:spAutoFit/>
          </a:bodyPr>
          <a:lstStyle/>
          <a:p>
            <a:pPr indent="0" lvl="0" marL="16932" marR="0" rtl="0" algn="just">
              <a:lnSpc>
                <a:spcPct val="100000"/>
              </a:lnSpc>
              <a:spcBef>
                <a:spcPts val="0"/>
              </a:spcBef>
              <a:spcAft>
                <a:spcPts val="0"/>
              </a:spcAft>
              <a:buClr>
                <a:srgbClr val="000000"/>
              </a:buClr>
              <a:buSzPts val="2400"/>
              <a:buFont typeface="Arial"/>
              <a:buNone/>
            </a:pPr>
            <a:r>
              <a:rPr b="0" i="0" lang="en-IN" sz="2400" u="none" cap="none" strike="noStrike">
                <a:solidFill>
                  <a:schemeClr val="dk1"/>
                </a:solidFill>
                <a:latin typeface="Calibri"/>
                <a:ea typeface="Calibri"/>
                <a:cs typeface="Calibri"/>
                <a:sym typeface="Calibri"/>
              </a:rPr>
              <a:t>class Simple{</a:t>
            </a:r>
            <a:endParaRPr b="0" i="0" sz="2400" u="none" cap="none" strike="noStrike">
              <a:solidFill>
                <a:schemeClr val="dk1"/>
              </a:solidFill>
              <a:latin typeface="Calibri"/>
              <a:ea typeface="Calibri"/>
              <a:cs typeface="Calibri"/>
              <a:sym typeface="Calibri"/>
            </a:endParaRPr>
          </a:p>
          <a:p>
            <a:pPr indent="0" lvl="0" marL="16932" marR="0" rtl="0" algn="just">
              <a:lnSpc>
                <a:spcPct val="100000"/>
              </a:lnSpc>
              <a:spcBef>
                <a:spcPts val="579"/>
              </a:spcBef>
              <a:spcAft>
                <a:spcPts val="0"/>
              </a:spcAft>
              <a:buClr>
                <a:srgbClr val="000000"/>
              </a:buClr>
              <a:buSzPts val="2400"/>
              <a:buFont typeface="Arial"/>
              <a:buNone/>
            </a:pPr>
            <a:r>
              <a:rPr b="0" i="0" lang="en-IN" sz="2400" u="none" cap="none" strike="noStrike">
                <a:solidFill>
                  <a:schemeClr val="dk1"/>
                </a:solidFill>
                <a:latin typeface="Calibri"/>
                <a:ea typeface="Calibri"/>
                <a:cs typeface="Calibri"/>
                <a:sym typeface="Calibri"/>
              </a:rPr>
              <a:t>public static void main(String[] args){</a:t>
            </a:r>
            <a:endParaRPr b="0" i="0" sz="2400" u="none" cap="none" strike="noStrike">
              <a:solidFill>
                <a:schemeClr val="dk1"/>
              </a:solidFill>
              <a:latin typeface="Calibri"/>
              <a:ea typeface="Calibri"/>
              <a:cs typeface="Calibri"/>
              <a:sym typeface="Calibri"/>
            </a:endParaRPr>
          </a:p>
          <a:p>
            <a:pPr indent="0" lvl="0" marL="16932" marR="3336630" rtl="0" algn="just">
              <a:lnSpc>
                <a:spcPct val="120000"/>
              </a:lnSpc>
              <a:spcBef>
                <a:spcPts val="0"/>
              </a:spcBef>
              <a:spcAft>
                <a:spcPts val="0"/>
              </a:spcAft>
              <a:buClr>
                <a:srgbClr val="000000"/>
              </a:buClr>
              <a:buSzPts val="2400"/>
              <a:buFont typeface="Arial"/>
              <a:buNone/>
            </a:pPr>
            <a:r>
              <a:rPr b="0" i="0" lang="en-IN" sz="2400" u="none" cap="none" strike="noStrike">
                <a:solidFill>
                  <a:schemeClr val="dk1"/>
                </a:solidFill>
                <a:latin typeface="Calibri"/>
                <a:ea typeface="Calibri"/>
                <a:cs typeface="Calibri"/>
                <a:sym typeface="Calibri"/>
              </a:rPr>
              <a:t>int a=10;  int b=10;  int c=a+b;</a:t>
            </a:r>
            <a:endParaRPr b="0" i="0" sz="2400" u="none" cap="none" strike="noStrike">
              <a:solidFill>
                <a:schemeClr val="dk1"/>
              </a:solidFill>
              <a:latin typeface="Calibri"/>
              <a:ea typeface="Calibri"/>
              <a:cs typeface="Calibri"/>
              <a:sym typeface="Calibri"/>
            </a:endParaRPr>
          </a:p>
          <a:p>
            <a:pPr indent="0" lvl="0" marL="16932" marR="0" rtl="0" algn="l">
              <a:lnSpc>
                <a:spcPct val="100000"/>
              </a:lnSpc>
              <a:spcBef>
                <a:spcPts val="573"/>
              </a:spcBef>
              <a:spcAft>
                <a:spcPts val="0"/>
              </a:spcAft>
              <a:buClr>
                <a:srgbClr val="000000"/>
              </a:buClr>
              <a:buSzPts val="2400"/>
              <a:buFont typeface="Arial"/>
              <a:buNone/>
            </a:pPr>
            <a:r>
              <a:rPr b="0" i="0" lang="en-IN" sz="2400" u="none" cap="none" strike="noStrike">
                <a:solidFill>
                  <a:schemeClr val="dk1"/>
                </a:solidFill>
                <a:latin typeface="Calibri"/>
                <a:ea typeface="Calibri"/>
                <a:cs typeface="Calibri"/>
                <a:sym typeface="Calibri"/>
              </a:rPr>
              <a:t>System.out.println(c);</a:t>
            </a:r>
            <a:endParaRPr b="0" i="0" sz="2400" u="none" cap="none" strike="noStrike">
              <a:solidFill>
                <a:schemeClr val="dk1"/>
              </a:solidFill>
              <a:latin typeface="Calibri"/>
              <a:ea typeface="Calibri"/>
              <a:cs typeface="Calibri"/>
              <a:sym typeface="Calibri"/>
            </a:endParaRPr>
          </a:p>
          <a:p>
            <a:pPr indent="0" lvl="0" marL="16932" marR="0" rtl="0" algn="l">
              <a:lnSpc>
                <a:spcPct val="100000"/>
              </a:lnSpc>
              <a:spcBef>
                <a:spcPts val="579"/>
              </a:spcBef>
              <a:spcAft>
                <a:spcPts val="0"/>
              </a:spcAft>
              <a:buClr>
                <a:srgbClr val="000000"/>
              </a:buClr>
              <a:buSzPts val="2400"/>
              <a:buFont typeface="Arial"/>
              <a:buNone/>
            </a:pPr>
            <a:r>
              <a:rPr b="0" i="0" lang="en-IN" sz="2400" u="none" cap="none" strike="noStrike">
                <a:solidFill>
                  <a:schemeClr val="dk1"/>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680" name="Google Shape;680;g279ef9b7fc5_0_417"/>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JAVA VARIABLE EXAMPLE: ADD TWO  NUMBERS</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g279ef9b7fc5_0_422"/>
          <p:cNvSpPr txBox="1"/>
          <p:nvPr/>
        </p:nvSpPr>
        <p:spPr>
          <a:xfrm>
            <a:off x="488222" y="887645"/>
            <a:ext cx="10875300" cy="4645500"/>
          </a:xfrm>
          <a:prstGeom prst="rect">
            <a:avLst/>
          </a:prstGeom>
          <a:noFill/>
          <a:ln>
            <a:noFill/>
          </a:ln>
        </p:spPr>
        <p:txBody>
          <a:bodyPr anchorCtr="0" anchor="t" bIns="0" lIns="0" spcFirstLastPara="1" rIns="0" wrap="square" tIns="16925">
            <a:spAutoFit/>
          </a:bodyPr>
          <a:lstStyle/>
          <a:p>
            <a:pPr indent="-712029" lvl="0" marL="728115" marR="7620" rtl="0" algn="l">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Data	type	is	a	special	keyword	used	to	allocate  sufficient memory space for the data.</a:t>
            </a:r>
            <a:endParaRPr b="0" i="0" sz="3200" u="none" cap="none" strike="noStrike">
              <a:solidFill>
                <a:schemeClr val="dk1"/>
              </a:solidFill>
              <a:latin typeface="Arial"/>
              <a:ea typeface="Arial"/>
              <a:cs typeface="Arial"/>
              <a:sym typeface="Arial"/>
            </a:endParaRPr>
          </a:p>
          <a:p>
            <a:pPr indent="-712029" lvl="0" marL="728115" marR="6772" rtl="0" algn="l">
              <a:lnSpc>
                <a:spcPct val="114999"/>
              </a:lnSpc>
              <a:spcBef>
                <a:spcPts val="133"/>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In	general	every	programming	language		is  containing three categories of data types. They	are</a:t>
            </a:r>
            <a:endParaRPr b="0" i="0" sz="3200" u="none" cap="none" strike="noStrike">
              <a:solidFill>
                <a:schemeClr val="dk1"/>
              </a:solidFill>
              <a:latin typeface="Arial"/>
              <a:ea typeface="Arial"/>
              <a:cs typeface="Arial"/>
              <a:sym typeface="Arial"/>
            </a:endParaRPr>
          </a:p>
          <a:p>
            <a:pPr indent="0" lvl="0" marL="0" marR="0" rtl="0" algn="l">
              <a:lnSpc>
                <a:spcPct val="100000"/>
              </a:lnSpc>
              <a:spcBef>
                <a:spcPts val="27"/>
              </a:spcBef>
              <a:spcAft>
                <a:spcPts val="0"/>
              </a:spcAft>
              <a:buClr>
                <a:srgbClr val="000000"/>
              </a:buClr>
              <a:buSzPts val="4733"/>
              <a:buFont typeface="Arial"/>
              <a:buNone/>
            </a:pPr>
            <a:r>
              <a:t/>
            </a:r>
            <a:endParaRPr b="0" i="0" sz="4733" u="none" cap="none" strike="noStrike">
              <a:solidFill>
                <a:schemeClr val="dk1"/>
              </a:solidFill>
              <a:latin typeface="Arial"/>
              <a:ea typeface="Arial"/>
              <a:cs typeface="Arial"/>
              <a:sym typeface="Arial"/>
            </a:endParaRPr>
          </a:p>
          <a:p>
            <a:pPr indent="-712029" lvl="0" marL="728115" marR="0" rtl="0" algn="l">
              <a:lnSpc>
                <a:spcPct val="100000"/>
              </a:lnSpc>
              <a:spcBef>
                <a:spcPts val="0"/>
              </a:spcBef>
              <a:spcAft>
                <a:spcPts val="0"/>
              </a:spcAft>
              <a:buClr>
                <a:schemeClr val="dk1"/>
              </a:buClr>
              <a:buSzPts val="3200"/>
              <a:buFont typeface="Arial"/>
              <a:buAutoNum type="arabicPeriod"/>
            </a:pPr>
            <a:r>
              <a:rPr b="1" i="0" lang="en-IN" sz="3200" u="none" cap="none" strike="noStrike">
                <a:solidFill>
                  <a:schemeClr val="dk1"/>
                </a:solidFill>
                <a:latin typeface="Arial"/>
                <a:ea typeface="Arial"/>
                <a:cs typeface="Arial"/>
                <a:sym typeface="Arial"/>
              </a:rPr>
              <a:t>Fundamental or primitive data types</a:t>
            </a:r>
            <a:endParaRPr b="0" i="0" sz="3200" u="none" cap="none" strike="noStrike">
              <a:solidFill>
                <a:schemeClr val="dk1"/>
              </a:solidFill>
              <a:latin typeface="Arial"/>
              <a:ea typeface="Arial"/>
              <a:cs typeface="Arial"/>
              <a:sym typeface="Arial"/>
            </a:endParaRPr>
          </a:p>
          <a:p>
            <a:pPr indent="-712029" lvl="0" marL="728115" marR="0" rtl="0" algn="l">
              <a:lnSpc>
                <a:spcPct val="100000"/>
              </a:lnSpc>
              <a:spcBef>
                <a:spcPts val="527"/>
              </a:spcBef>
              <a:spcAft>
                <a:spcPts val="0"/>
              </a:spcAft>
              <a:buClr>
                <a:schemeClr val="dk1"/>
              </a:buClr>
              <a:buSzPts val="3200"/>
              <a:buFont typeface="Arial"/>
              <a:buAutoNum type="arabicPeriod"/>
            </a:pPr>
            <a:r>
              <a:rPr b="1" i="0" lang="en-IN" sz="3200" u="none" cap="none" strike="noStrike">
                <a:solidFill>
                  <a:schemeClr val="dk1"/>
                </a:solidFill>
                <a:latin typeface="Arial"/>
                <a:ea typeface="Arial"/>
                <a:cs typeface="Arial"/>
                <a:sym typeface="Arial"/>
              </a:rPr>
              <a:t>Derived data types</a:t>
            </a:r>
            <a:endParaRPr b="0" i="0" sz="3200" u="none" cap="none" strike="noStrike">
              <a:solidFill>
                <a:schemeClr val="dk1"/>
              </a:solidFill>
              <a:latin typeface="Arial"/>
              <a:ea typeface="Arial"/>
              <a:cs typeface="Arial"/>
              <a:sym typeface="Arial"/>
            </a:endParaRPr>
          </a:p>
          <a:p>
            <a:pPr indent="-712029" lvl="0" marL="728115" marR="0" rtl="0" algn="l">
              <a:lnSpc>
                <a:spcPct val="100000"/>
              </a:lnSpc>
              <a:spcBef>
                <a:spcPts val="533"/>
              </a:spcBef>
              <a:spcAft>
                <a:spcPts val="0"/>
              </a:spcAft>
              <a:buClr>
                <a:schemeClr val="dk1"/>
              </a:buClr>
              <a:buSzPts val="3200"/>
              <a:buFont typeface="Arial"/>
              <a:buAutoNum type="arabicPeriod"/>
            </a:pPr>
            <a:r>
              <a:rPr b="1" i="0" lang="en-IN" sz="3200" u="none" cap="none" strike="noStrike">
                <a:solidFill>
                  <a:schemeClr val="dk1"/>
                </a:solidFill>
                <a:latin typeface="Arial"/>
                <a:ea typeface="Arial"/>
                <a:cs typeface="Arial"/>
                <a:sym typeface="Arial"/>
              </a:rPr>
              <a:t>User defined data types.</a:t>
            </a:r>
            <a:endParaRPr b="0" i="0" sz="3200" u="none" cap="none" strike="noStrike">
              <a:solidFill>
                <a:schemeClr val="dk1"/>
              </a:solidFill>
              <a:latin typeface="Arial"/>
              <a:ea typeface="Arial"/>
              <a:cs typeface="Arial"/>
              <a:sym typeface="Arial"/>
            </a:endParaRPr>
          </a:p>
        </p:txBody>
      </p:sp>
      <p:sp>
        <p:nvSpPr>
          <p:cNvPr id="686" name="Google Shape;686;g279ef9b7fc5_0_422"/>
          <p:cNvSpPr/>
          <p:nvPr/>
        </p:nvSpPr>
        <p:spPr>
          <a:xfrm>
            <a:off x="2962073" y="265346"/>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Data Types</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grpSp>
        <p:nvGrpSpPr>
          <p:cNvPr id="691" name="Google Shape;691;g279ef9b7fc5_0_427"/>
          <p:cNvGrpSpPr/>
          <p:nvPr/>
        </p:nvGrpSpPr>
        <p:grpSpPr>
          <a:xfrm>
            <a:off x="4185815" y="1426428"/>
            <a:ext cx="3738787" cy="761981"/>
            <a:chOff x="3139439" y="1069847"/>
            <a:chExt cx="2804160" cy="571500"/>
          </a:xfrm>
        </p:grpSpPr>
        <p:sp>
          <p:nvSpPr>
            <p:cNvPr id="692" name="Google Shape;692;g279ef9b7fc5_0_427"/>
            <p:cNvSpPr/>
            <p:nvPr/>
          </p:nvSpPr>
          <p:spPr>
            <a:xfrm>
              <a:off x="3139439" y="1069847"/>
              <a:ext cx="2804160" cy="571500"/>
            </a:xfrm>
            <a:custGeom>
              <a:rect b="b" l="l" r="r" t="t"/>
              <a:pathLst>
                <a:path extrusionOk="0" h="571500" w="2804160">
                  <a:moveTo>
                    <a:pt x="2708402" y="0"/>
                  </a:moveTo>
                  <a:lnTo>
                    <a:pt x="95504" y="0"/>
                  </a:lnTo>
                  <a:lnTo>
                    <a:pt x="58293" y="7492"/>
                  </a:lnTo>
                  <a:lnTo>
                    <a:pt x="27940" y="27939"/>
                  </a:lnTo>
                  <a:lnTo>
                    <a:pt x="7493" y="58165"/>
                  </a:lnTo>
                  <a:lnTo>
                    <a:pt x="0" y="95250"/>
                  </a:lnTo>
                  <a:lnTo>
                    <a:pt x="0" y="476250"/>
                  </a:lnTo>
                  <a:lnTo>
                    <a:pt x="7493" y="513206"/>
                  </a:lnTo>
                  <a:lnTo>
                    <a:pt x="27940" y="543560"/>
                  </a:lnTo>
                  <a:lnTo>
                    <a:pt x="58293" y="564006"/>
                  </a:lnTo>
                  <a:lnTo>
                    <a:pt x="95504" y="571373"/>
                  </a:lnTo>
                  <a:lnTo>
                    <a:pt x="2708402" y="571373"/>
                  </a:lnTo>
                  <a:lnTo>
                    <a:pt x="2745486" y="564006"/>
                  </a:lnTo>
                  <a:lnTo>
                    <a:pt x="2775839" y="543560"/>
                  </a:lnTo>
                  <a:lnTo>
                    <a:pt x="2796413" y="513206"/>
                  </a:lnTo>
                  <a:lnTo>
                    <a:pt x="2803906" y="476250"/>
                  </a:lnTo>
                  <a:lnTo>
                    <a:pt x="2803906" y="95250"/>
                  </a:lnTo>
                  <a:lnTo>
                    <a:pt x="2796540" y="58800"/>
                  </a:lnTo>
                  <a:lnTo>
                    <a:pt x="2761361" y="16001"/>
                  </a:lnTo>
                  <a:lnTo>
                    <a:pt x="2708402" y="0"/>
                  </a:lnTo>
                  <a:close/>
                </a:path>
              </a:pathLst>
            </a:custGeom>
            <a:solidFill>
              <a:srgbClr val="FFAB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693" name="Google Shape;693;g279ef9b7fc5_0_427"/>
            <p:cNvSpPr/>
            <p:nvPr/>
          </p:nvSpPr>
          <p:spPr>
            <a:xfrm>
              <a:off x="3139439" y="1069847"/>
              <a:ext cx="2804160" cy="571500"/>
            </a:xfrm>
            <a:custGeom>
              <a:rect b="b" l="l" r="r" t="t"/>
              <a:pathLst>
                <a:path extrusionOk="0" h="571500" w="2804160">
                  <a:moveTo>
                    <a:pt x="0" y="95250"/>
                  </a:moveTo>
                  <a:lnTo>
                    <a:pt x="7493" y="58165"/>
                  </a:lnTo>
                  <a:lnTo>
                    <a:pt x="27940" y="27939"/>
                  </a:lnTo>
                  <a:lnTo>
                    <a:pt x="58293" y="7492"/>
                  </a:lnTo>
                  <a:lnTo>
                    <a:pt x="95504" y="0"/>
                  </a:lnTo>
                  <a:lnTo>
                    <a:pt x="2708402" y="0"/>
                  </a:lnTo>
                  <a:lnTo>
                    <a:pt x="2761361" y="16001"/>
                  </a:lnTo>
                  <a:lnTo>
                    <a:pt x="2796540" y="58800"/>
                  </a:lnTo>
                  <a:lnTo>
                    <a:pt x="2803906" y="95250"/>
                  </a:lnTo>
                  <a:lnTo>
                    <a:pt x="2803906" y="476250"/>
                  </a:lnTo>
                  <a:lnTo>
                    <a:pt x="2796413" y="513206"/>
                  </a:lnTo>
                  <a:lnTo>
                    <a:pt x="2775839" y="543560"/>
                  </a:lnTo>
                  <a:lnTo>
                    <a:pt x="2745486" y="564006"/>
                  </a:lnTo>
                  <a:lnTo>
                    <a:pt x="2708402" y="571373"/>
                  </a:lnTo>
                  <a:lnTo>
                    <a:pt x="95504" y="571373"/>
                  </a:lnTo>
                  <a:lnTo>
                    <a:pt x="58293" y="564006"/>
                  </a:lnTo>
                  <a:lnTo>
                    <a:pt x="27940" y="543560"/>
                  </a:lnTo>
                  <a:lnTo>
                    <a:pt x="7493" y="513206"/>
                  </a:lnTo>
                  <a:lnTo>
                    <a:pt x="0" y="476250"/>
                  </a:lnTo>
                  <a:lnTo>
                    <a:pt x="0" y="95250"/>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sp>
        <p:nvSpPr>
          <p:cNvPr id="694" name="Google Shape;694;g279ef9b7fc5_0_427"/>
          <p:cNvSpPr txBox="1"/>
          <p:nvPr/>
        </p:nvSpPr>
        <p:spPr>
          <a:xfrm>
            <a:off x="5260171" y="1586313"/>
            <a:ext cx="1617000" cy="7560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DATA TYPE</a:t>
            </a:r>
            <a:endParaRPr b="0" i="0" sz="2400" u="none" cap="none" strike="noStrike">
              <a:solidFill>
                <a:schemeClr val="dk1"/>
              </a:solidFill>
              <a:latin typeface="Arial"/>
              <a:ea typeface="Arial"/>
              <a:cs typeface="Arial"/>
              <a:sym typeface="Arial"/>
            </a:endParaRPr>
          </a:p>
        </p:txBody>
      </p:sp>
      <p:grpSp>
        <p:nvGrpSpPr>
          <p:cNvPr id="695" name="Google Shape;695;g279ef9b7fc5_0_427"/>
          <p:cNvGrpSpPr/>
          <p:nvPr/>
        </p:nvGrpSpPr>
        <p:grpSpPr>
          <a:xfrm>
            <a:off x="339335" y="3700179"/>
            <a:ext cx="3172381" cy="764520"/>
            <a:chOff x="254508" y="2775204"/>
            <a:chExt cx="2379345" cy="573404"/>
          </a:xfrm>
        </p:grpSpPr>
        <p:sp>
          <p:nvSpPr>
            <p:cNvPr id="696" name="Google Shape;696;g279ef9b7fc5_0_427"/>
            <p:cNvSpPr/>
            <p:nvPr/>
          </p:nvSpPr>
          <p:spPr>
            <a:xfrm>
              <a:off x="254508" y="2775204"/>
              <a:ext cx="2379345" cy="573404"/>
            </a:xfrm>
            <a:custGeom>
              <a:rect b="b" l="l" r="r" t="t"/>
              <a:pathLst>
                <a:path extrusionOk="0" h="573404" w="2379345">
                  <a:moveTo>
                    <a:pt x="2283460" y="0"/>
                  </a:moveTo>
                  <a:lnTo>
                    <a:pt x="95415" y="0"/>
                  </a:lnTo>
                  <a:lnTo>
                    <a:pt x="58267" y="7493"/>
                  </a:lnTo>
                  <a:lnTo>
                    <a:pt x="27939" y="27939"/>
                  </a:lnTo>
                  <a:lnTo>
                    <a:pt x="7492" y="58293"/>
                  </a:lnTo>
                  <a:lnTo>
                    <a:pt x="0" y="95503"/>
                  </a:lnTo>
                  <a:lnTo>
                    <a:pt x="0" y="477519"/>
                  </a:lnTo>
                  <a:lnTo>
                    <a:pt x="7492" y="514603"/>
                  </a:lnTo>
                  <a:lnTo>
                    <a:pt x="27939" y="544957"/>
                  </a:lnTo>
                  <a:lnTo>
                    <a:pt x="58267" y="565403"/>
                  </a:lnTo>
                  <a:lnTo>
                    <a:pt x="95415" y="572896"/>
                  </a:lnTo>
                  <a:lnTo>
                    <a:pt x="2283460" y="572896"/>
                  </a:lnTo>
                  <a:lnTo>
                    <a:pt x="2320671" y="565403"/>
                  </a:lnTo>
                  <a:lnTo>
                    <a:pt x="2350897" y="544957"/>
                  </a:lnTo>
                  <a:lnTo>
                    <a:pt x="2371344" y="514603"/>
                  </a:lnTo>
                  <a:lnTo>
                    <a:pt x="2378837" y="477519"/>
                  </a:lnTo>
                  <a:lnTo>
                    <a:pt x="2378837" y="95503"/>
                  </a:lnTo>
                  <a:lnTo>
                    <a:pt x="2371598" y="58927"/>
                  </a:lnTo>
                  <a:lnTo>
                    <a:pt x="2336419" y="16001"/>
                  </a:lnTo>
                  <a:lnTo>
                    <a:pt x="2283460" y="0"/>
                  </a:lnTo>
                  <a:close/>
                </a:path>
              </a:pathLst>
            </a:custGeom>
            <a:solidFill>
              <a:srgbClr val="FFAB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697" name="Google Shape;697;g279ef9b7fc5_0_427"/>
            <p:cNvSpPr/>
            <p:nvPr/>
          </p:nvSpPr>
          <p:spPr>
            <a:xfrm>
              <a:off x="254508" y="2775204"/>
              <a:ext cx="2379345" cy="573404"/>
            </a:xfrm>
            <a:custGeom>
              <a:rect b="b" l="l" r="r" t="t"/>
              <a:pathLst>
                <a:path extrusionOk="0" h="573404" w="2379345">
                  <a:moveTo>
                    <a:pt x="0" y="95503"/>
                  </a:moveTo>
                  <a:lnTo>
                    <a:pt x="7492" y="58293"/>
                  </a:lnTo>
                  <a:lnTo>
                    <a:pt x="27939" y="27939"/>
                  </a:lnTo>
                  <a:lnTo>
                    <a:pt x="58267" y="7493"/>
                  </a:lnTo>
                  <a:lnTo>
                    <a:pt x="95415" y="0"/>
                  </a:lnTo>
                  <a:lnTo>
                    <a:pt x="2283460" y="0"/>
                  </a:lnTo>
                  <a:lnTo>
                    <a:pt x="2336419" y="16001"/>
                  </a:lnTo>
                  <a:lnTo>
                    <a:pt x="2371598" y="58927"/>
                  </a:lnTo>
                  <a:lnTo>
                    <a:pt x="2378837" y="95503"/>
                  </a:lnTo>
                  <a:lnTo>
                    <a:pt x="2378837" y="477519"/>
                  </a:lnTo>
                  <a:lnTo>
                    <a:pt x="2371344" y="514603"/>
                  </a:lnTo>
                  <a:lnTo>
                    <a:pt x="2350897" y="544957"/>
                  </a:lnTo>
                  <a:lnTo>
                    <a:pt x="2320671" y="565403"/>
                  </a:lnTo>
                  <a:lnTo>
                    <a:pt x="2283460" y="572896"/>
                  </a:lnTo>
                  <a:lnTo>
                    <a:pt x="95415" y="572896"/>
                  </a:lnTo>
                  <a:lnTo>
                    <a:pt x="58267" y="565403"/>
                  </a:lnTo>
                  <a:lnTo>
                    <a:pt x="27939" y="544957"/>
                  </a:lnTo>
                  <a:lnTo>
                    <a:pt x="7492" y="514603"/>
                  </a:lnTo>
                  <a:lnTo>
                    <a:pt x="0" y="477519"/>
                  </a:lnTo>
                  <a:lnTo>
                    <a:pt x="0" y="95503"/>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sp>
        <p:nvSpPr>
          <p:cNvPr id="698" name="Google Shape;698;g279ef9b7fc5_0_427"/>
          <p:cNvSpPr txBox="1"/>
          <p:nvPr/>
        </p:nvSpPr>
        <p:spPr>
          <a:xfrm>
            <a:off x="1064091" y="3861748"/>
            <a:ext cx="1394400" cy="3864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Primitive</a:t>
            </a:r>
            <a:endParaRPr b="0" i="0" sz="2400" u="none" cap="none" strike="noStrike">
              <a:solidFill>
                <a:schemeClr val="dk1"/>
              </a:solidFill>
              <a:latin typeface="Arial"/>
              <a:ea typeface="Arial"/>
              <a:cs typeface="Arial"/>
              <a:sym typeface="Arial"/>
            </a:endParaRPr>
          </a:p>
        </p:txBody>
      </p:sp>
      <p:grpSp>
        <p:nvGrpSpPr>
          <p:cNvPr id="699" name="Google Shape;699;g279ef9b7fc5_0_427"/>
          <p:cNvGrpSpPr/>
          <p:nvPr/>
        </p:nvGrpSpPr>
        <p:grpSpPr>
          <a:xfrm>
            <a:off x="4486542" y="3677827"/>
            <a:ext cx="3175767" cy="761981"/>
            <a:chOff x="3364991" y="2758439"/>
            <a:chExt cx="2381885" cy="571500"/>
          </a:xfrm>
        </p:grpSpPr>
        <p:sp>
          <p:nvSpPr>
            <p:cNvPr id="700" name="Google Shape;700;g279ef9b7fc5_0_427"/>
            <p:cNvSpPr/>
            <p:nvPr/>
          </p:nvSpPr>
          <p:spPr>
            <a:xfrm>
              <a:off x="3364991" y="2758439"/>
              <a:ext cx="2381885" cy="571500"/>
            </a:xfrm>
            <a:custGeom>
              <a:rect b="b" l="l" r="r" t="t"/>
              <a:pathLst>
                <a:path extrusionOk="0" h="571500" w="2381885">
                  <a:moveTo>
                    <a:pt x="2286381" y="0"/>
                  </a:moveTo>
                  <a:lnTo>
                    <a:pt x="95504" y="0"/>
                  </a:lnTo>
                  <a:lnTo>
                    <a:pt x="58293" y="7493"/>
                  </a:lnTo>
                  <a:lnTo>
                    <a:pt x="27940" y="27940"/>
                  </a:lnTo>
                  <a:lnTo>
                    <a:pt x="7493" y="58166"/>
                  </a:lnTo>
                  <a:lnTo>
                    <a:pt x="0" y="95250"/>
                  </a:lnTo>
                  <a:lnTo>
                    <a:pt x="0" y="476250"/>
                  </a:lnTo>
                  <a:lnTo>
                    <a:pt x="7493" y="513207"/>
                  </a:lnTo>
                  <a:lnTo>
                    <a:pt x="27940" y="543560"/>
                  </a:lnTo>
                  <a:lnTo>
                    <a:pt x="58293" y="564007"/>
                  </a:lnTo>
                  <a:lnTo>
                    <a:pt x="95504" y="571373"/>
                  </a:lnTo>
                  <a:lnTo>
                    <a:pt x="2286381" y="571373"/>
                  </a:lnTo>
                  <a:lnTo>
                    <a:pt x="2323592" y="564007"/>
                  </a:lnTo>
                  <a:lnTo>
                    <a:pt x="2353945" y="543560"/>
                  </a:lnTo>
                  <a:lnTo>
                    <a:pt x="2374392" y="513207"/>
                  </a:lnTo>
                  <a:lnTo>
                    <a:pt x="2381885" y="476250"/>
                  </a:lnTo>
                  <a:lnTo>
                    <a:pt x="2381885" y="95250"/>
                  </a:lnTo>
                  <a:lnTo>
                    <a:pt x="2374646" y="58801"/>
                  </a:lnTo>
                  <a:lnTo>
                    <a:pt x="2339340" y="16002"/>
                  </a:lnTo>
                  <a:lnTo>
                    <a:pt x="2286381" y="0"/>
                  </a:lnTo>
                  <a:close/>
                </a:path>
              </a:pathLst>
            </a:custGeom>
            <a:solidFill>
              <a:srgbClr val="FFAB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701" name="Google Shape;701;g279ef9b7fc5_0_427"/>
            <p:cNvSpPr/>
            <p:nvPr/>
          </p:nvSpPr>
          <p:spPr>
            <a:xfrm>
              <a:off x="3364991" y="2758439"/>
              <a:ext cx="2381885" cy="571500"/>
            </a:xfrm>
            <a:custGeom>
              <a:rect b="b" l="l" r="r" t="t"/>
              <a:pathLst>
                <a:path extrusionOk="0" h="571500" w="2381885">
                  <a:moveTo>
                    <a:pt x="0" y="95250"/>
                  </a:moveTo>
                  <a:lnTo>
                    <a:pt x="7493" y="58166"/>
                  </a:lnTo>
                  <a:lnTo>
                    <a:pt x="27940" y="27940"/>
                  </a:lnTo>
                  <a:lnTo>
                    <a:pt x="58293" y="7493"/>
                  </a:lnTo>
                  <a:lnTo>
                    <a:pt x="95504" y="0"/>
                  </a:lnTo>
                  <a:lnTo>
                    <a:pt x="2286381" y="0"/>
                  </a:lnTo>
                  <a:lnTo>
                    <a:pt x="2339340" y="16002"/>
                  </a:lnTo>
                  <a:lnTo>
                    <a:pt x="2374646" y="58801"/>
                  </a:lnTo>
                  <a:lnTo>
                    <a:pt x="2381885" y="95250"/>
                  </a:lnTo>
                  <a:lnTo>
                    <a:pt x="2381885" y="476250"/>
                  </a:lnTo>
                  <a:lnTo>
                    <a:pt x="2374392" y="513207"/>
                  </a:lnTo>
                  <a:lnTo>
                    <a:pt x="2353945" y="543560"/>
                  </a:lnTo>
                  <a:lnTo>
                    <a:pt x="2323592" y="564007"/>
                  </a:lnTo>
                  <a:lnTo>
                    <a:pt x="2286381" y="571373"/>
                  </a:lnTo>
                  <a:lnTo>
                    <a:pt x="95504" y="571373"/>
                  </a:lnTo>
                  <a:lnTo>
                    <a:pt x="58293" y="564007"/>
                  </a:lnTo>
                  <a:lnTo>
                    <a:pt x="27940" y="543560"/>
                  </a:lnTo>
                  <a:lnTo>
                    <a:pt x="7493" y="513207"/>
                  </a:lnTo>
                  <a:lnTo>
                    <a:pt x="0" y="476250"/>
                  </a:lnTo>
                  <a:lnTo>
                    <a:pt x="0" y="95250"/>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sp>
        <p:nvSpPr>
          <p:cNvPr id="702" name="Google Shape;702;g279ef9b7fc5_0_427"/>
          <p:cNvSpPr txBox="1"/>
          <p:nvPr/>
        </p:nvSpPr>
        <p:spPr>
          <a:xfrm>
            <a:off x="5477934" y="3838956"/>
            <a:ext cx="1190400" cy="3864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Derived</a:t>
            </a:r>
            <a:endParaRPr b="0" i="0" sz="2400" u="none" cap="none" strike="noStrike">
              <a:solidFill>
                <a:schemeClr val="dk1"/>
              </a:solidFill>
              <a:latin typeface="Arial"/>
              <a:ea typeface="Arial"/>
              <a:cs typeface="Arial"/>
              <a:sym typeface="Arial"/>
            </a:endParaRPr>
          </a:p>
        </p:txBody>
      </p:sp>
      <p:grpSp>
        <p:nvGrpSpPr>
          <p:cNvPr id="703" name="Google Shape;703;g279ef9b7fc5_0_427"/>
          <p:cNvGrpSpPr/>
          <p:nvPr/>
        </p:nvGrpSpPr>
        <p:grpSpPr>
          <a:xfrm>
            <a:off x="8652040" y="3669700"/>
            <a:ext cx="3174074" cy="764520"/>
            <a:chOff x="6489191" y="2752344"/>
            <a:chExt cx="2380615" cy="573404"/>
          </a:xfrm>
        </p:grpSpPr>
        <p:sp>
          <p:nvSpPr>
            <p:cNvPr id="704" name="Google Shape;704;g279ef9b7fc5_0_427"/>
            <p:cNvSpPr/>
            <p:nvPr/>
          </p:nvSpPr>
          <p:spPr>
            <a:xfrm>
              <a:off x="6489191" y="2752344"/>
              <a:ext cx="2380615" cy="573404"/>
            </a:xfrm>
            <a:custGeom>
              <a:rect b="b" l="l" r="r" t="t"/>
              <a:pathLst>
                <a:path extrusionOk="0" h="573404" w="2380615">
                  <a:moveTo>
                    <a:pt x="2284984" y="0"/>
                  </a:moveTo>
                  <a:lnTo>
                    <a:pt x="95504" y="0"/>
                  </a:lnTo>
                  <a:lnTo>
                    <a:pt x="58292" y="7493"/>
                  </a:lnTo>
                  <a:lnTo>
                    <a:pt x="27939" y="27939"/>
                  </a:lnTo>
                  <a:lnTo>
                    <a:pt x="7493" y="58293"/>
                  </a:lnTo>
                  <a:lnTo>
                    <a:pt x="0" y="95504"/>
                  </a:lnTo>
                  <a:lnTo>
                    <a:pt x="0" y="477519"/>
                  </a:lnTo>
                  <a:lnTo>
                    <a:pt x="7493" y="514604"/>
                  </a:lnTo>
                  <a:lnTo>
                    <a:pt x="27939" y="544957"/>
                  </a:lnTo>
                  <a:lnTo>
                    <a:pt x="58292" y="565404"/>
                  </a:lnTo>
                  <a:lnTo>
                    <a:pt x="95504" y="572897"/>
                  </a:lnTo>
                  <a:lnTo>
                    <a:pt x="2284984" y="572897"/>
                  </a:lnTo>
                  <a:lnTo>
                    <a:pt x="2322067" y="565404"/>
                  </a:lnTo>
                  <a:lnTo>
                    <a:pt x="2352421" y="544957"/>
                  </a:lnTo>
                  <a:lnTo>
                    <a:pt x="2372867" y="514604"/>
                  </a:lnTo>
                  <a:lnTo>
                    <a:pt x="2380361" y="477519"/>
                  </a:lnTo>
                  <a:lnTo>
                    <a:pt x="2380361" y="95504"/>
                  </a:lnTo>
                  <a:lnTo>
                    <a:pt x="2373122" y="58928"/>
                  </a:lnTo>
                  <a:lnTo>
                    <a:pt x="2337942" y="16001"/>
                  </a:lnTo>
                  <a:lnTo>
                    <a:pt x="2284984" y="0"/>
                  </a:lnTo>
                  <a:close/>
                </a:path>
              </a:pathLst>
            </a:custGeom>
            <a:solidFill>
              <a:srgbClr val="FFAB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705" name="Google Shape;705;g279ef9b7fc5_0_427"/>
            <p:cNvSpPr/>
            <p:nvPr/>
          </p:nvSpPr>
          <p:spPr>
            <a:xfrm>
              <a:off x="6489191" y="2752344"/>
              <a:ext cx="2380615" cy="573404"/>
            </a:xfrm>
            <a:custGeom>
              <a:rect b="b" l="l" r="r" t="t"/>
              <a:pathLst>
                <a:path extrusionOk="0" h="573404" w="2380615">
                  <a:moveTo>
                    <a:pt x="0" y="95504"/>
                  </a:moveTo>
                  <a:lnTo>
                    <a:pt x="7493" y="58293"/>
                  </a:lnTo>
                  <a:lnTo>
                    <a:pt x="27939" y="27939"/>
                  </a:lnTo>
                  <a:lnTo>
                    <a:pt x="58292" y="7493"/>
                  </a:lnTo>
                  <a:lnTo>
                    <a:pt x="95504" y="0"/>
                  </a:lnTo>
                  <a:lnTo>
                    <a:pt x="2284984" y="0"/>
                  </a:lnTo>
                  <a:lnTo>
                    <a:pt x="2337942" y="16001"/>
                  </a:lnTo>
                  <a:lnTo>
                    <a:pt x="2373122" y="58928"/>
                  </a:lnTo>
                  <a:lnTo>
                    <a:pt x="2380361" y="95504"/>
                  </a:lnTo>
                  <a:lnTo>
                    <a:pt x="2380361" y="477519"/>
                  </a:lnTo>
                  <a:lnTo>
                    <a:pt x="2372867" y="514604"/>
                  </a:lnTo>
                  <a:lnTo>
                    <a:pt x="2352421" y="544957"/>
                  </a:lnTo>
                  <a:lnTo>
                    <a:pt x="2322067" y="565404"/>
                  </a:lnTo>
                  <a:lnTo>
                    <a:pt x="2284984" y="572897"/>
                  </a:lnTo>
                  <a:lnTo>
                    <a:pt x="95504" y="572897"/>
                  </a:lnTo>
                  <a:lnTo>
                    <a:pt x="58292" y="565404"/>
                  </a:lnTo>
                  <a:lnTo>
                    <a:pt x="27939" y="544957"/>
                  </a:lnTo>
                  <a:lnTo>
                    <a:pt x="7493" y="514604"/>
                  </a:lnTo>
                  <a:lnTo>
                    <a:pt x="0" y="477519"/>
                  </a:lnTo>
                  <a:lnTo>
                    <a:pt x="0" y="95504"/>
                  </a:lnTo>
                  <a:close/>
                </a:path>
              </a:pathLst>
            </a:custGeom>
            <a:noFill/>
            <a:ln cap="flat" cmpd="sng" w="9525">
              <a:solidFill>
                <a:srgbClr val="5858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sp>
        <p:nvSpPr>
          <p:cNvPr id="706" name="Google Shape;706;g279ef9b7fc5_0_427"/>
          <p:cNvSpPr txBox="1"/>
          <p:nvPr/>
        </p:nvSpPr>
        <p:spPr>
          <a:xfrm>
            <a:off x="9381912" y="3832860"/>
            <a:ext cx="1972800" cy="3864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User Defined</a:t>
            </a:r>
            <a:endParaRPr b="0" i="0" sz="2400" u="none" cap="none" strike="noStrike">
              <a:solidFill>
                <a:schemeClr val="dk1"/>
              </a:solidFill>
              <a:latin typeface="Arial"/>
              <a:ea typeface="Arial"/>
              <a:cs typeface="Arial"/>
              <a:sym typeface="Arial"/>
            </a:endParaRPr>
          </a:p>
        </p:txBody>
      </p:sp>
      <p:sp>
        <p:nvSpPr>
          <p:cNvPr id="707" name="Google Shape;707;g279ef9b7fc5_0_427"/>
          <p:cNvSpPr/>
          <p:nvPr/>
        </p:nvSpPr>
        <p:spPr>
          <a:xfrm>
            <a:off x="1498479" y="2188463"/>
            <a:ext cx="8369992" cy="1557739"/>
          </a:xfrm>
          <a:custGeom>
            <a:rect b="b" l="l" r="r" t="t"/>
            <a:pathLst>
              <a:path extrusionOk="0" h="1169035" w="6281420">
                <a:moveTo>
                  <a:pt x="3270250" y="0"/>
                </a:moveTo>
                <a:lnTo>
                  <a:pt x="3284982" y="1117727"/>
                </a:lnTo>
              </a:path>
              <a:path extrusionOk="0" h="1169035" w="6281420">
                <a:moveTo>
                  <a:pt x="0" y="373125"/>
                </a:moveTo>
                <a:lnTo>
                  <a:pt x="6281293" y="339089"/>
                </a:lnTo>
              </a:path>
              <a:path extrusionOk="0" h="1169035" w="6281420">
                <a:moveTo>
                  <a:pt x="22478" y="384301"/>
                </a:moveTo>
                <a:lnTo>
                  <a:pt x="15366" y="1168653"/>
                </a:lnTo>
              </a:path>
              <a:path extrusionOk="0" h="1169035" w="6281420">
                <a:moveTo>
                  <a:pt x="6253733" y="334137"/>
                </a:moveTo>
                <a:lnTo>
                  <a:pt x="6246495" y="1118489"/>
                </a:lnTo>
              </a:path>
            </a:pathLst>
          </a:custGeom>
          <a:noFill/>
          <a:ln cap="flat" cmpd="sng" w="9525">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cxnSp>
        <p:nvCxnSpPr>
          <p:cNvPr id="708" name="Google Shape;708;g279ef9b7fc5_0_427"/>
          <p:cNvCxnSpPr/>
          <p:nvPr/>
        </p:nvCxnSpPr>
        <p:spPr>
          <a:xfrm>
            <a:off x="5871882" y="2188463"/>
            <a:ext cx="0" cy="1489500"/>
          </a:xfrm>
          <a:prstGeom prst="straightConnector1">
            <a:avLst/>
          </a:prstGeom>
          <a:noFill/>
          <a:ln cap="flat" cmpd="sng" w="9525">
            <a:solidFill>
              <a:schemeClr val="accent1"/>
            </a:solidFill>
            <a:prstDash val="solid"/>
            <a:miter lim="800000"/>
            <a:headEnd len="sm" w="sm" type="none"/>
            <a:tailEnd len="sm" w="sm" type="none"/>
          </a:ln>
        </p:spPr>
      </p:cxnSp>
      <p:cxnSp>
        <p:nvCxnSpPr>
          <p:cNvPr id="709" name="Google Shape;709;g279ef9b7fc5_0_427"/>
          <p:cNvCxnSpPr/>
          <p:nvPr/>
        </p:nvCxnSpPr>
        <p:spPr>
          <a:xfrm>
            <a:off x="5871882" y="2653553"/>
            <a:ext cx="3863700" cy="0"/>
          </a:xfrm>
          <a:prstGeom prst="straightConnector1">
            <a:avLst/>
          </a:prstGeom>
          <a:noFill/>
          <a:ln cap="flat" cmpd="sng" w="9525">
            <a:solidFill>
              <a:schemeClr val="accent1"/>
            </a:solidFill>
            <a:prstDash val="solid"/>
            <a:miter lim="800000"/>
            <a:headEnd len="sm" w="sm" type="none"/>
            <a:tailEnd len="sm" w="sm" type="none"/>
          </a:ln>
        </p:spPr>
      </p:cxnSp>
      <p:sp>
        <p:nvSpPr>
          <p:cNvPr id="710" name="Google Shape;710;g279ef9b7fc5_0_427"/>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Data Types</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g279ef9b7fc5_0_450"/>
          <p:cNvSpPr txBox="1"/>
          <p:nvPr/>
        </p:nvSpPr>
        <p:spPr>
          <a:xfrm>
            <a:off x="488222" y="887644"/>
            <a:ext cx="11138700" cy="4629300"/>
          </a:xfrm>
          <a:prstGeom prst="rect">
            <a:avLst/>
          </a:prstGeom>
          <a:noFill/>
          <a:ln>
            <a:noFill/>
          </a:ln>
        </p:spPr>
        <p:txBody>
          <a:bodyPr anchorCtr="0" anchor="t" bIns="0" lIns="0" spcFirstLastPara="1" rIns="0" wrap="square" tIns="16075">
            <a:spAutoFit/>
          </a:bodyPr>
          <a:lstStyle/>
          <a:p>
            <a:pPr indent="-712029" lvl="0" marL="728115" marR="6772" rtl="0" algn="just">
              <a:lnSpc>
                <a:spcPct val="1151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Primitive data types are those whose variables  allows us to store only one value but they never  allows us to store multiple values of same type.</a:t>
            </a:r>
            <a:endParaRPr b="0" i="0" sz="3200" u="none" cap="none" strike="noStrike">
              <a:solidFill>
                <a:schemeClr val="dk1"/>
              </a:solidFill>
              <a:latin typeface="Arial"/>
              <a:ea typeface="Arial"/>
              <a:cs typeface="Arial"/>
              <a:sym typeface="Arial"/>
            </a:endParaRPr>
          </a:p>
          <a:p>
            <a:pPr indent="0" lvl="0" marL="0" marR="0" rtl="0" algn="l">
              <a:lnSpc>
                <a:spcPct val="100000"/>
              </a:lnSpc>
              <a:spcBef>
                <a:spcPts val="60"/>
              </a:spcBef>
              <a:spcAft>
                <a:spcPts val="0"/>
              </a:spcAft>
              <a:buClr>
                <a:srgbClr val="000000"/>
              </a:buClr>
              <a:buSzPts val="4733"/>
              <a:buFont typeface="Arial"/>
              <a:buNone/>
            </a:pPr>
            <a:r>
              <a:t/>
            </a:r>
            <a:endParaRPr b="0" i="0" sz="4733" u="none" cap="none" strike="noStrike">
              <a:solidFill>
                <a:schemeClr val="dk1"/>
              </a:solidFill>
              <a:latin typeface="Arial"/>
              <a:ea typeface="Arial"/>
              <a:cs typeface="Arial"/>
              <a:sym typeface="Arial"/>
            </a:endParaRPr>
          </a:p>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rgbClr val="FF0000"/>
                </a:solidFill>
                <a:latin typeface="Arial"/>
                <a:ea typeface="Arial"/>
                <a:cs typeface="Arial"/>
                <a:sym typeface="Arial"/>
              </a:rPr>
              <a:t>Example:</a:t>
            </a:r>
            <a:endParaRPr b="0" i="0" sz="3200" u="none" cap="none" strike="noStrike">
              <a:solidFill>
                <a:srgbClr val="FF0000"/>
              </a:solidFill>
              <a:latin typeface="Arial"/>
              <a:ea typeface="Arial"/>
              <a:cs typeface="Arial"/>
              <a:sym typeface="Arial"/>
            </a:endParaRPr>
          </a:p>
          <a:p>
            <a:pPr indent="0" lvl="0" marL="16932" marR="0" rtl="0" algn="l">
              <a:lnSpc>
                <a:spcPct val="100000"/>
              </a:lnSpc>
              <a:spcBef>
                <a:spcPts val="533"/>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int a;</a:t>
            </a:r>
            <a:endParaRPr b="0" i="0" sz="3200" u="none" cap="none" strike="noStrike">
              <a:solidFill>
                <a:schemeClr val="dk1"/>
              </a:solidFill>
              <a:latin typeface="Arial"/>
              <a:ea typeface="Arial"/>
              <a:cs typeface="Arial"/>
              <a:sym typeface="Arial"/>
            </a:endParaRPr>
          </a:p>
          <a:p>
            <a:pPr indent="0" lvl="0" marL="16932" marR="0" rtl="0" algn="l">
              <a:lnSpc>
                <a:spcPct val="100000"/>
              </a:lnSpc>
              <a:spcBef>
                <a:spcPts val="527"/>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a = 10; </a:t>
            </a:r>
            <a:r>
              <a:rPr b="1" i="0" lang="en-IN" sz="3200" u="none" cap="none" strike="noStrike">
                <a:solidFill>
                  <a:srgbClr val="FF0000"/>
                </a:solidFill>
                <a:latin typeface="Arial"/>
                <a:ea typeface="Arial"/>
                <a:cs typeface="Arial"/>
                <a:sym typeface="Arial"/>
              </a:rPr>
              <a:t>// valid</a:t>
            </a:r>
            <a:endParaRPr b="0" i="0" sz="3200" u="none" cap="none" strike="noStrike">
              <a:solidFill>
                <a:srgbClr val="FF0000"/>
              </a:solidFill>
              <a:latin typeface="Arial"/>
              <a:ea typeface="Arial"/>
              <a:cs typeface="Arial"/>
              <a:sym typeface="Arial"/>
            </a:endParaRPr>
          </a:p>
          <a:p>
            <a:pPr indent="0" lvl="0" marL="16932" marR="0" rtl="0" algn="l">
              <a:lnSpc>
                <a:spcPct val="100000"/>
              </a:lnSpc>
              <a:spcBef>
                <a:spcPts val="545"/>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a = 10, 20, 30; </a:t>
            </a:r>
            <a:r>
              <a:rPr b="1" i="0" lang="en-IN" sz="3200" u="none" cap="none" strike="noStrike">
                <a:solidFill>
                  <a:srgbClr val="FF0000"/>
                </a:solidFill>
                <a:latin typeface="Arial"/>
                <a:ea typeface="Arial"/>
                <a:cs typeface="Arial"/>
                <a:sym typeface="Arial"/>
              </a:rPr>
              <a:t>// not valid</a:t>
            </a:r>
            <a:endParaRPr b="0" i="0" sz="3200" u="none" cap="none" strike="noStrike">
              <a:solidFill>
                <a:srgbClr val="FF0000"/>
              </a:solidFill>
              <a:latin typeface="Arial"/>
              <a:ea typeface="Arial"/>
              <a:cs typeface="Arial"/>
              <a:sym typeface="Arial"/>
            </a:endParaRPr>
          </a:p>
        </p:txBody>
      </p:sp>
      <p:sp>
        <p:nvSpPr>
          <p:cNvPr id="716" name="Google Shape;716;g279ef9b7fc5_0_450"/>
          <p:cNvSpPr/>
          <p:nvPr/>
        </p:nvSpPr>
        <p:spPr>
          <a:xfrm>
            <a:off x="2845532" y="144231"/>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Primitive Data Types</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g279ef9b7fc5_0_455"/>
          <p:cNvSpPr txBox="1"/>
          <p:nvPr/>
        </p:nvSpPr>
        <p:spPr>
          <a:xfrm>
            <a:off x="488221" y="887644"/>
            <a:ext cx="10869600" cy="3484500"/>
          </a:xfrm>
          <a:prstGeom prst="rect">
            <a:avLst/>
          </a:prstGeom>
          <a:noFill/>
          <a:ln>
            <a:noFill/>
          </a:ln>
        </p:spPr>
        <p:txBody>
          <a:bodyPr anchorCtr="0" anchor="t" bIns="0" lIns="0" spcFirstLastPara="1" rIns="0" wrap="square" tIns="16925">
            <a:spAutoFit/>
          </a:bodyPr>
          <a:lstStyle/>
          <a:p>
            <a:pPr indent="-712029" lvl="0" marL="728115" marR="6772" rtl="0" algn="l">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There are eight built-in types supported by Java	to  support:</a:t>
            </a:r>
            <a:endParaRPr b="0" i="0" sz="3200" u="none" cap="none" strike="noStrike">
              <a:solidFill>
                <a:schemeClr val="dk1"/>
              </a:solidFill>
              <a:latin typeface="Arial"/>
              <a:ea typeface="Arial"/>
              <a:cs typeface="Arial"/>
              <a:sym typeface="Arial"/>
            </a:endParaRPr>
          </a:p>
          <a:p>
            <a:pPr indent="-712029" lvl="0" marL="728115" marR="0" rtl="0" algn="l">
              <a:lnSpc>
                <a:spcPct val="100000"/>
              </a:lnSpc>
              <a:spcBef>
                <a:spcPts val="707"/>
              </a:spcBef>
              <a:spcAft>
                <a:spcPts val="0"/>
              </a:spcAft>
              <a:buClr>
                <a:srgbClr val="00FF00"/>
              </a:buClr>
              <a:buSzPts val="3200"/>
              <a:buFont typeface="MS PGothic"/>
              <a:buChar char="➢"/>
            </a:pPr>
            <a:r>
              <a:rPr b="1" i="0" lang="en-IN" sz="3200" u="none" cap="none" strike="noStrike">
                <a:solidFill>
                  <a:srgbClr val="00FF00"/>
                </a:solidFill>
                <a:latin typeface="Arial"/>
                <a:ea typeface="Arial"/>
                <a:cs typeface="Arial"/>
                <a:sym typeface="Arial"/>
              </a:rPr>
              <a:t>Four Integer Type</a:t>
            </a:r>
            <a:endParaRPr b="0" i="0" sz="3200" u="none" cap="none" strike="noStrike">
              <a:solidFill>
                <a:schemeClr val="dk1"/>
              </a:solidFill>
              <a:latin typeface="Arial"/>
              <a:ea typeface="Arial"/>
              <a:cs typeface="Arial"/>
              <a:sym typeface="Arial"/>
            </a:endParaRPr>
          </a:p>
          <a:p>
            <a:pPr indent="-712029" lvl="0" marL="728115" marR="0" rtl="0" algn="l">
              <a:lnSpc>
                <a:spcPct val="100000"/>
              </a:lnSpc>
              <a:spcBef>
                <a:spcPts val="720"/>
              </a:spcBef>
              <a:spcAft>
                <a:spcPts val="0"/>
              </a:spcAft>
              <a:buClr>
                <a:srgbClr val="00FF00"/>
              </a:buClr>
              <a:buSzPts val="3200"/>
              <a:buFont typeface="MS PGothic"/>
              <a:buChar char="➢"/>
            </a:pPr>
            <a:r>
              <a:rPr b="1" i="0" lang="en-IN" sz="3200" u="none" cap="none" strike="noStrike">
                <a:solidFill>
                  <a:srgbClr val="00FF00"/>
                </a:solidFill>
                <a:latin typeface="Arial"/>
                <a:ea typeface="Arial"/>
                <a:cs typeface="Arial"/>
                <a:sym typeface="Arial"/>
              </a:rPr>
              <a:t>Two Float Type</a:t>
            </a:r>
            <a:endParaRPr b="0" i="0" sz="3200" u="none" cap="none" strike="noStrike">
              <a:solidFill>
                <a:schemeClr val="dk1"/>
              </a:solidFill>
              <a:latin typeface="Arial"/>
              <a:ea typeface="Arial"/>
              <a:cs typeface="Arial"/>
              <a:sym typeface="Arial"/>
            </a:endParaRPr>
          </a:p>
          <a:p>
            <a:pPr indent="-712029" lvl="0" marL="728115" marR="0" rtl="0" algn="l">
              <a:lnSpc>
                <a:spcPct val="100000"/>
              </a:lnSpc>
              <a:spcBef>
                <a:spcPts val="707"/>
              </a:spcBef>
              <a:spcAft>
                <a:spcPts val="0"/>
              </a:spcAft>
              <a:buClr>
                <a:srgbClr val="00FF00"/>
              </a:buClr>
              <a:buSzPts val="3200"/>
              <a:buFont typeface="MS PGothic"/>
              <a:buChar char="➢"/>
            </a:pPr>
            <a:r>
              <a:rPr b="1" i="0" lang="en-IN" sz="3200" u="none" cap="none" strike="noStrike">
                <a:solidFill>
                  <a:srgbClr val="00FF00"/>
                </a:solidFill>
                <a:latin typeface="Arial"/>
                <a:ea typeface="Arial"/>
                <a:cs typeface="Arial"/>
                <a:sym typeface="Arial"/>
              </a:rPr>
              <a:t>One Character type</a:t>
            </a:r>
            <a:endParaRPr b="0" i="0" sz="3200" u="none" cap="none" strike="noStrike">
              <a:solidFill>
                <a:schemeClr val="dk1"/>
              </a:solidFill>
              <a:latin typeface="Arial"/>
              <a:ea typeface="Arial"/>
              <a:cs typeface="Arial"/>
              <a:sym typeface="Arial"/>
            </a:endParaRPr>
          </a:p>
          <a:p>
            <a:pPr indent="-712029" lvl="0" marL="728115" marR="0" rtl="0" algn="l">
              <a:lnSpc>
                <a:spcPct val="100000"/>
              </a:lnSpc>
              <a:spcBef>
                <a:spcPts val="707"/>
              </a:spcBef>
              <a:spcAft>
                <a:spcPts val="0"/>
              </a:spcAft>
              <a:buClr>
                <a:srgbClr val="00FF00"/>
              </a:buClr>
              <a:buSzPts val="3200"/>
              <a:buFont typeface="MS PGothic"/>
              <a:buChar char="➢"/>
            </a:pPr>
            <a:r>
              <a:rPr b="1" i="0" lang="en-IN" sz="3200" u="none" cap="none" strike="noStrike">
                <a:solidFill>
                  <a:srgbClr val="00FF00"/>
                </a:solidFill>
                <a:latin typeface="Arial"/>
                <a:ea typeface="Arial"/>
                <a:cs typeface="Arial"/>
                <a:sym typeface="Arial"/>
              </a:rPr>
              <a:t>One Boolean type</a:t>
            </a:r>
            <a:r>
              <a:rPr b="1" i="0" lang="en-IN" sz="3200" u="none" cap="none" strike="noStrike">
                <a:solidFill>
                  <a:srgbClr val="FFFFFF"/>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sp>
        <p:nvSpPr>
          <p:cNvPr id="722" name="Google Shape;722;g279ef9b7fc5_0_455"/>
          <p:cNvSpPr/>
          <p:nvPr/>
        </p:nvSpPr>
        <p:spPr>
          <a:xfrm>
            <a:off x="2463530" y="144231"/>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Primitive Data Types</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g279ef9b7fc5_0_460"/>
          <p:cNvSpPr txBox="1"/>
          <p:nvPr/>
        </p:nvSpPr>
        <p:spPr>
          <a:xfrm>
            <a:off x="488221" y="887645"/>
            <a:ext cx="10874700" cy="3415800"/>
          </a:xfrm>
          <a:prstGeom prst="rect">
            <a:avLst/>
          </a:prstGeom>
          <a:noFill/>
          <a:ln>
            <a:noFill/>
          </a:ln>
        </p:spPr>
        <p:txBody>
          <a:bodyPr anchorCtr="0" anchor="t" bIns="0" lIns="0" spcFirstLastPara="1" rIns="0" wrap="square" tIns="16925">
            <a:spAutoFit/>
          </a:bodyPr>
          <a:lstStyle/>
          <a:p>
            <a:pPr indent="-712029" lvl="0" marL="728115" marR="6772"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The integer types in Java are byte, short, int, and  long. These four types differ only in the number of  bits and, therefore, in the range of numbers each  type can represent.</a:t>
            </a:r>
            <a:endParaRPr b="0" i="0" sz="3200" u="none" cap="none" strike="noStrike">
              <a:solidFill>
                <a:schemeClr val="dk1"/>
              </a:solidFill>
              <a:latin typeface="Arial"/>
              <a:ea typeface="Arial"/>
              <a:cs typeface="Arial"/>
              <a:sym typeface="Arial"/>
            </a:endParaRPr>
          </a:p>
          <a:p>
            <a:pPr indent="-712029" lvl="0" marL="728115" marR="0" rtl="0" algn="just">
              <a:lnSpc>
                <a:spcPct val="100000"/>
              </a:lnSpc>
              <a:spcBef>
                <a:spcPts val="573"/>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All integral types represent signed numbers. There</a:t>
            </a:r>
            <a:endParaRPr b="0" i="0" sz="3200" u="none" cap="none" strike="noStrike">
              <a:solidFill>
                <a:schemeClr val="dk1"/>
              </a:solidFill>
              <a:latin typeface="Arial"/>
              <a:ea typeface="Arial"/>
              <a:cs typeface="Arial"/>
              <a:sym typeface="Arial"/>
            </a:endParaRPr>
          </a:p>
          <a:p>
            <a:pPr indent="0" lvl="0" marL="728115" marR="0" rtl="0" algn="just">
              <a:lnSpc>
                <a:spcPct val="100000"/>
              </a:lnSpc>
              <a:spcBef>
                <a:spcPts val="579"/>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is no unsigned keyword as there is in C and C++.</a:t>
            </a:r>
            <a:endParaRPr b="0" i="0" sz="3200" u="none" cap="none" strike="noStrike">
              <a:solidFill>
                <a:schemeClr val="dk1"/>
              </a:solidFill>
              <a:latin typeface="Arial"/>
              <a:ea typeface="Arial"/>
              <a:cs typeface="Arial"/>
              <a:sym typeface="Arial"/>
            </a:endParaRPr>
          </a:p>
        </p:txBody>
      </p:sp>
      <p:sp>
        <p:nvSpPr>
          <p:cNvPr id="728" name="Google Shape;728;g279ef9b7fc5_0_460"/>
          <p:cNvSpPr/>
          <p:nvPr/>
        </p:nvSpPr>
        <p:spPr>
          <a:xfrm>
            <a:off x="3139181" y="200025"/>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Integer Type</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graphicFrame>
        <p:nvGraphicFramePr>
          <p:cNvPr id="733" name="Google Shape;733;g279ef9b7fc5_0_465"/>
          <p:cNvGraphicFramePr/>
          <p:nvPr/>
        </p:nvGraphicFramePr>
        <p:xfrm>
          <a:off x="50801" y="266785"/>
          <a:ext cx="3000000" cy="3000000"/>
        </p:xfrm>
        <a:graphic>
          <a:graphicData uri="http://schemas.openxmlformats.org/drawingml/2006/table">
            <a:tbl>
              <a:tblPr bandRow="1" firstRow="1">
                <a:noFill/>
                <a:tableStyleId>{22A61F2D-B97D-49E0-A38F-197A92996402}</a:tableStyleId>
              </a:tblPr>
              <a:tblGrid>
                <a:gridCol w="1501975"/>
                <a:gridCol w="3497575"/>
                <a:gridCol w="2207250"/>
                <a:gridCol w="2402000"/>
                <a:gridCol w="2402000"/>
              </a:tblGrid>
              <a:tr h="704925">
                <a:tc>
                  <a:txBody>
                    <a:bodyPr/>
                    <a:lstStyle/>
                    <a:p>
                      <a:pPr indent="0" lvl="0" marL="0" marR="287655" rtl="0" algn="r">
                        <a:lnSpc>
                          <a:spcPct val="100000"/>
                        </a:lnSpc>
                        <a:spcBef>
                          <a:spcPts val="0"/>
                        </a:spcBef>
                        <a:spcAft>
                          <a:spcPts val="0"/>
                        </a:spcAft>
                        <a:buClr>
                          <a:srgbClr val="000000"/>
                        </a:buClr>
                        <a:buSzPts val="2400"/>
                        <a:buFont typeface="Arial"/>
                        <a:buNone/>
                      </a:pPr>
                      <a:r>
                        <a:rPr b="1" lang="en-IN" sz="2400" u="none" cap="none" strike="noStrike">
                          <a:solidFill>
                            <a:srgbClr val="EDFF41"/>
                          </a:solidFill>
                          <a:latin typeface="Arial"/>
                          <a:ea typeface="Arial"/>
                          <a:cs typeface="Arial"/>
                          <a:sym typeface="Arial"/>
                        </a:rPr>
                        <a:t>Type</a:t>
                      </a:r>
                      <a:endParaRPr sz="2400" u="none" cap="none" strike="noStrike">
                        <a:latin typeface="Arial"/>
                        <a:ea typeface="Arial"/>
                        <a:cs typeface="Arial"/>
                        <a:sym typeface="Arial"/>
                      </a:endParaRPr>
                    </a:p>
                  </a:txBody>
                  <a:tcPr marT="1473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EDFF41"/>
                          </a:solidFill>
                          <a:latin typeface="Arial"/>
                          <a:ea typeface="Arial"/>
                          <a:cs typeface="Arial"/>
                          <a:sym typeface="Arial"/>
                        </a:rPr>
                        <a:t>Contains</a:t>
                      </a:r>
                      <a:endParaRPr sz="2400" u="none" cap="none" strike="noStrike">
                        <a:latin typeface="Arial"/>
                        <a:ea typeface="Arial"/>
                        <a:cs typeface="Arial"/>
                        <a:sym typeface="Arial"/>
                      </a:endParaRPr>
                    </a:p>
                  </a:txBody>
                  <a:tcPr marT="1473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3810" rtl="0" algn="ctr">
                        <a:lnSpc>
                          <a:spcPct val="100000"/>
                        </a:lnSpc>
                        <a:spcBef>
                          <a:spcPts val="0"/>
                        </a:spcBef>
                        <a:spcAft>
                          <a:spcPts val="0"/>
                        </a:spcAft>
                        <a:buClr>
                          <a:srgbClr val="000000"/>
                        </a:buClr>
                        <a:buSzPts val="2400"/>
                        <a:buFont typeface="Arial"/>
                        <a:buNone/>
                      </a:pPr>
                      <a:r>
                        <a:rPr b="1" lang="en-IN" sz="2400" u="none" cap="none" strike="noStrike">
                          <a:solidFill>
                            <a:srgbClr val="EDFF41"/>
                          </a:solidFill>
                          <a:latin typeface="Arial"/>
                          <a:ea typeface="Arial"/>
                          <a:cs typeface="Arial"/>
                          <a:sym typeface="Arial"/>
                        </a:rPr>
                        <a:t>Default</a:t>
                      </a:r>
                      <a:endParaRPr sz="2400" u="none" cap="none" strike="noStrike">
                        <a:latin typeface="Arial"/>
                        <a:ea typeface="Arial"/>
                        <a:cs typeface="Arial"/>
                        <a:sym typeface="Arial"/>
                      </a:endParaRPr>
                    </a:p>
                  </a:txBody>
                  <a:tcPr marT="1473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5080" marR="0" rtl="0" algn="ctr">
                        <a:lnSpc>
                          <a:spcPct val="100000"/>
                        </a:lnSpc>
                        <a:spcBef>
                          <a:spcPts val="0"/>
                        </a:spcBef>
                        <a:spcAft>
                          <a:spcPts val="0"/>
                        </a:spcAft>
                        <a:buClr>
                          <a:srgbClr val="000000"/>
                        </a:buClr>
                        <a:buSzPts val="2400"/>
                        <a:buFont typeface="Arial"/>
                        <a:buNone/>
                      </a:pPr>
                      <a:r>
                        <a:rPr b="1" lang="en-IN" sz="2400" u="none" cap="none" strike="noStrike">
                          <a:solidFill>
                            <a:srgbClr val="EDFF41"/>
                          </a:solidFill>
                          <a:latin typeface="Arial"/>
                          <a:ea typeface="Arial"/>
                          <a:cs typeface="Arial"/>
                          <a:sym typeface="Arial"/>
                        </a:rPr>
                        <a:t>Size</a:t>
                      </a:r>
                      <a:endParaRPr sz="2400" u="none" cap="none" strike="noStrike">
                        <a:latin typeface="Arial"/>
                        <a:ea typeface="Arial"/>
                        <a:cs typeface="Arial"/>
                        <a:sym typeface="Arial"/>
                      </a:endParaRPr>
                    </a:p>
                  </a:txBody>
                  <a:tcPr marT="1473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635" marR="0" rtl="0" algn="ctr">
                        <a:lnSpc>
                          <a:spcPct val="100000"/>
                        </a:lnSpc>
                        <a:spcBef>
                          <a:spcPts val="0"/>
                        </a:spcBef>
                        <a:spcAft>
                          <a:spcPts val="0"/>
                        </a:spcAft>
                        <a:buClr>
                          <a:srgbClr val="000000"/>
                        </a:buClr>
                        <a:buSzPts val="2400"/>
                        <a:buFont typeface="Arial"/>
                        <a:buNone/>
                      </a:pPr>
                      <a:r>
                        <a:rPr b="1" lang="en-IN" sz="2400" u="none" cap="none" strike="noStrike">
                          <a:solidFill>
                            <a:srgbClr val="EDFF41"/>
                          </a:solidFill>
                          <a:latin typeface="Arial"/>
                          <a:ea typeface="Arial"/>
                          <a:cs typeface="Arial"/>
                          <a:sym typeface="Arial"/>
                        </a:rPr>
                        <a:t>Range</a:t>
                      </a:r>
                      <a:endParaRPr sz="2400" u="none" cap="none" strike="noStrike">
                        <a:latin typeface="Arial"/>
                        <a:ea typeface="Arial"/>
                        <a:cs typeface="Arial"/>
                        <a:sym typeface="Arial"/>
                      </a:endParaRPr>
                    </a:p>
                  </a:txBody>
                  <a:tcPr marT="1473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r>
              <a:tr h="829050">
                <a:tc>
                  <a:txBody>
                    <a:bodyPr/>
                    <a:lstStyle/>
                    <a:p>
                      <a:pPr indent="0" lvl="0" marL="0" marR="311785" rtl="0" algn="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byte</a:t>
                      </a:r>
                      <a:endParaRPr sz="2400" u="none" cap="none" strike="noStrike">
                        <a:latin typeface="Arial"/>
                        <a:ea typeface="Arial"/>
                        <a:cs typeface="Arial"/>
                        <a:sym typeface="Arial"/>
                      </a:endParaRPr>
                    </a:p>
                  </a:txBody>
                  <a:tcPr marT="2091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Signed integer</a:t>
                      </a:r>
                      <a:endParaRPr sz="2400" u="none" cap="none" strike="noStrike">
                        <a:latin typeface="Arial"/>
                        <a:ea typeface="Arial"/>
                        <a:cs typeface="Arial"/>
                        <a:sym typeface="Arial"/>
                      </a:endParaRPr>
                    </a:p>
                  </a:txBody>
                  <a:tcPr marT="2091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127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0</a:t>
                      </a:r>
                      <a:endParaRPr sz="2400" u="none" cap="none" strike="noStrike">
                        <a:latin typeface="Arial"/>
                        <a:ea typeface="Arial"/>
                        <a:cs typeface="Arial"/>
                        <a:sym typeface="Arial"/>
                      </a:endParaRPr>
                    </a:p>
                  </a:txBody>
                  <a:tcPr marT="2091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1 byte(8 bits)</a:t>
                      </a:r>
                      <a:endParaRPr sz="2400" u="none" cap="none" strike="noStrike">
                        <a:latin typeface="Arial"/>
                        <a:ea typeface="Arial"/>
                        <a:cs typeface="Arial"/>
                        <a:sym typeface="Arial"/>
                      </a:endParaRPr>
                    </a:p>
                  </a:txBody>
                  <a:tcPr marT="2091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127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-128 to	+127</a:t>
                      </a:r>
                      <a:endParaRPr sz="2400" u="none" cap="none" strike="noStrike">
                        <a:latin typeface="Arial"/>
                        <a:ea typeface="Arial"/>
                        <a:cs typeface="Arial"/>
                        <a:sym typeface="Arial"/>
                      </a:endParaRPr>
                    </a:p>
                  </a:txBody>
                  <a:tcPr marT="2091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r>
              <a:tr h="1163500">
                <a:tc>
                  <a:txBody>
                    <a:bodyPr/>
                    <a:lstStyle/>
                    <a:p>
                      <a:pPr indent="0" lvl="0" marL="0" marR="0" rtl="0" algn="l">
                        <a:lnSpc>
                          <a:spcPct val="100000"/>
                        </a:lnSpc>
                        <a:spcBef>
                          <a:spcPts val="0"/>
                        </a:spcBef>
                        <a:spcAft>
                          <a:spcPts val="0"/>
                        </a:spcAft>
                        <a:buClr>
                          <a:srgbClr val="000000"/>
                        </a:buClr>
                        <a:buSzPts val="2700"/>
                        <a:buFont typeface="Arial"/>
                        <a:buNone/>
                      </a:pPr>
                      <a:r>
                        <a:t/>
                      </a:r>
                      <a:endParaRPr sz="2700" u="none" cap="none" strike="noStrike">
                        <a:latin typeface="Times New Roman"/>
                        <a:ea typeface="Times New Roman"/>
                        <a:cs typeface="Times New Roman"/>
                        <a:sym typeface="Times New Roman"/>
                      </a:endParaRPr>
                    </a:p>
                    <a:p>
                      <a:pPr indent="0" lvl="0" marL="0" marR="261620" rtl="0" algn="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short</a:t>
                      </a:r>
                      <a:endParaRPr sz="2400" u="none" cap="none" strike="noStrike">
                        <a:latin typeface="Arial"/>
                        <a:ea typeface="Arial"/>
                        <a:cs typeface="Arial"/>
                        <a:sym typeface="Arial"/>
                      </a:endParaRPr>
                    </a:p>
                  </a:txBody>
                  <a:tcPr marT="42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2700"/>
                        <a:buFont typeface="Arial"/>
                        <a:buNone/>
                      </a:pPr>
                      <a:r>
                        <a:t/>
                      </a:r>
                      <a:endParaRPr sz="27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Signed integer</a:t>
                      </a:r>
                      <a:endParaRPr sz="2400" u="none" cap="none" strike="noStrike">
                        <a:latin typeface="Arial"/>
                        <a:ea typeface="Arial"/>
                        <a:cs typeface="Arial"/>
                        <a:sym typeface="Arial"/>
                      </a:endParaRPr>
                    </a:p>
                  </a:txBody>
                  <a:tcPr marT="42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2700"/>
                        <a:buFont typeface="Arial"/>
                        <a:buNone/>
                      </a:pPr>
                      <a:r>
                        <a:t/>
                      </a:r>
                      <a:endParaRPr sz="27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0</a:t>
                      </a:r>
                      <a:endParaRPr sz="2400" u="none" cap="none" strike="noStrike">
                        <a:latin typeface="Arial"/>
                        <a:ea typeface="Arial"/>
                        <a:cs typeface="Arial"/>
                        <a:sym typeface="Arial"/>
                      </a:endParaRPr>
                    </a:p>
                  </a:txBody>
                  <a:tcPr marT="42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2700"/>
                        <a:buFont typeface="Arial"/>
                        <a:buNone/>
                      </a:pPr>
                      <a:r>
                        <a:t/>
                      </a:r>
                      <a:endParaRPr sz="27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2 byte(16 bits)</a:t>
                      </a:r>
                      <a:endParaRPr sz="2400" u="none" cap="none" strike="noStrike">
                        <a:latin typeface="Arial"/>
                        <a:ea typeface="Arial"/>
                        <a:cs typeface="Arial"/>
                        <a:sym typeface="Arial"/>
                      </a:endParaRPr>
                    </a:p>
                  </a:txBody>
                  <a:tcPr marT="42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387985" marR="0" rtl="0" algn="l">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-32768 to</a:t>
                      </a:r>
                      <a:endParaRPr sz="2400" u="none" cap="none" strike="noStrike">
                        <a:latin typeface="Arial"/>
                        <a:ea typeface="Arial"/>
                        <a:cs typeface="Arial"/>
                        <a:sym typeface="Arial"/>
                      </a:endParaRPr>
                    </a:p>
                    <a:p>
                      <a:pPr indent="0" lvl="0" marL="509905" marR="0" rtl="0" algn="l">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+32767</a:t>
                      </a:r>
                      <a:endParaRPr sz="2400" u="none" cap="none" strike="noStrike">
                        <a:latin typeface="Arial"/>
                        <a:ea typeface="Arial"/>
                        <a:cs typeface="Arial"/>
                        <a:sym typeface="Arial"/>
                      </a:endParaRPr>
                    </a:p>
                  </a:txBody>
                  <a:tcPr marT="193050"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r>
              <a:tr h="980600">
                <a:tc>
                  <a:txBody>
                    <a:bodyPr/>
                    <a:lstStyle/>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int</a:t>
                      </a:r>
                      <a:endParaRPr sz="2400" u="none" cap="none" strike="noStrike">
                        <a:latin typeface="Arial"/>
                        <a:ea typeface="Arial"/>
                        <a:cs typeface="Arial"/>
                        <a:sym typeface="Arial"/>
                      </a:endParaRPr>
                    </a:p>
                  </a:txBody>
                  <a:tcPr marT="2870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Signed integer</a:t>
                      </a:r>
                      <a:endParaRPr sz="2400" u="none" cap="none" strike="noStrike">
                        <a:latin typeface="Arial"/>
                        <a:ea typeface="Arial"/>
                        <a:cs typeface="Arial"/>
                        <a:sym typeface="Arial"/>
                      </a:endParaRPr>
                    </a:p>
                  </a:txBody>
                  <a:tcPr marT="2870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127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0</a:t>
                      </a:r>
                      <a:endParaRPr sz="2400" u="none" cap="none" strike="noStrike">
                        <a:latin typeface="Arial"/>
                        <a:ea typeface="Arial"/>
                        <a:cs typeface="Arial"/>
                        <a:sym typeface="Arial"/>
                      </a:endParaRPr>
                    </a:p>
                  </a:txBody>
                  <a:tcPr marT="2870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4 byte(32 bits)</a:t>
                      </a:r>
                      <a:endParaRPr sz="2400" u="none" cap="none" strike="noStrike">
                        <a:latin typeface="Arial"/>
                        <a:ea typeface="Arial"/>
                        <a:cs typeface="Arial"/>
                        <a:sym typeface="Arial"/>
                      </a:endParaRPr>
                    </a:p>
                  </a:txBody>
                  <a:tcPr marT="2870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212725" marR="0" rtl="0" algn="l">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-2147483648</a:t>
                      </a:r>
                      <a:endParaRPr sz="2400" u="none" cap="none" strike="noStrike">
                        <a:latin typeface="Arial"/>
                        <a:ea typeface="Arial"/>
                        <a:cs typeface="Arial"/>
                        <a:sym typeface="Arial"/>
                      </a:endParaRPr>
                    </a:p>
                    <a:p>
                      <a:pPr indent="0" lvl="0" marL="99695" marR="0" rtl="0" algn="l">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to 2147483647</a:t>
                      </a:r>
                      <a:endParaRPr sz="2400" u="none" cap="none" strike="noStrike">
                        <a:latin typeface="Arial"/>
                        <a:ea typeface="Arial"/>
                        <a:cs typeface="Arial"/>
                        <a:sym typeface="Arial"/>
                      </a:endParaRPr>
                    </a:p>
                  </a:txBody>
                  <a:tcPr marT="101600"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r>
              <a:tr h="1717200">
                <a:tc>
                  <a:txBody>
                    <a:bodyPr/>
                    <a:lstStyle/>
                    <a:p>
                      <a:pPr indent="0" lvl="0" marL="0" marR="0" rtl="0" algn="l">
                        <a:lnSpc>
                          <a:spcPct val="100000"/>
                        </a:lnSpc>
                        <a:spcBef>
                          <a:spcPts val="0"/>
                        </a:spcBef>
                        <a:spcAft>
                          <a:spcPts val="0"/>
                        </a:spcAft>
                        <a:buClr>
                          <a:srgbClr val="000000"/>
                        </a:buClr>
                        <a:buSzPts val="2700"/>
                        <a:buFont typeface="Arial"/>
                        <a:buNone/>
                      </a:pPr>
                      <a:r>
                        <a:t/>
                      </a:r>
                      <a:endParaRPr sz="2700" u="none" cap="none" strike="noStrike">
                        <a:latin typeface="Times New Roman"/>
                        <a:ea typeface="Times New Roman"/>
                        <a:cs typeface="Times New Roman"/>
                        <a:sym typeface="Times New Roman"/>
                      </a:endParaRPr>
                    </a:p>
                    <a:p>
                      <a:pPr indent="0" lvl="0" marL="0" marR="311150" rtl="0" algn="r">
                        <a:lnSpc>
                          <a:spcPct val="100000"/>
                        </a:lnSpc>
                        <a:spcBef>
                          <a:spcPts val="1739"/>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long</a:t>
                      </a:r>
                      <a:endParaRPr sz="2400" u="none" cap="none" strike="noStrike">
                        <a:latin typeface="Arial"/>
                        <a:ea typeface="Arial"/>
                        <a:cs typeface="Arial"/>
                        <a:sym typeface="Arial"/>
                      </a:endParaRPr>
                    </a:p>
                  </a:txBody>
                  <a:tcPr marT="0"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2700"/>
                        <a:buFont typeface="Arial"/>
                        <a:buNone/>
                      </a:pPr>
                      <a:r>
                        <a:t/>
                      </a:r>
                      <a:endParaRPr sz="2700" u="none" cap="none" strike="noStrike">
                        <a:latin typeface="Times New Roman"/>
                        <a:ea typeface="Times New Roman"/>
                        <a:cs typeface="Times New Roman"/>
                        <a:sym typeface="Times New Roman"/>
                      </a:endParaRPr>
                    </a:p>
                    <a:p>
                      <a:pPr indent="0" lvl="0" marL="0" marR="0" rtl="0" algn="ctr">
                        <a:lnSpc>
                          <a:spcPct val="100000"/>
                        </a:lnSpc>
                        <a:spcBef>
                          <a:spcPts val="1739"/>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Signed integer</a:t>
                      </a:r>
                      <a:endParaRPr sz="2400" u="none" cap="none" strike="noStrike">
                        <a:latin typeface="Arial"/>
                        <a:ea typeface="Arial"/>
                        <a:cs typeface="Arial"/>
                        <a:sym typeface="Arial"/>
                      </a:endParaRPr>
                    </a:p>
                  </a:txBody>
                  <a:tcPr marT="0"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2700"/>
                        <a:buFont typeface="Arial"/>
                        <a:buNone/>
                      </a:pPr>
                      <a:r>
                        <a:t/>
                      </a:r>
                      <a:endParaRPr sz="2700" u="none" cap="none" strike="noStrike">
                        <a:latin typeface="Times New Roman"/>
                        <a:ea typeface="Times New Roman"/>
                        <a:cs typeface="Times New Roman"/>
                        <a:sym typeface="Times New Roman"/>
                      </a:endParaRPr>
                    </a:p>
                    <a:p>
                      <a:pPr indent="0" lvl="0" marL="0" marR="0" rtl="0" algn="ctr">
                        <a:lnSpc>
                          <a:spcPct val="100000"/>
                        </a:lnSpc>
                        <a:spcBef>
                          <a:spcPts val="1739"/>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0</a:t>
                      </a:r>
                      <a:endParaRPr sz="2400" u="none" cap="none" strike="noStrike">
                        <a:latin typeface="Arial"/>
                        <a:ea typeface="Arial"/>
                        <a:cs typeface="Arial"/>
                        <a:sym typeface="Arial"/>
                      </a:endParaRPr>
                    </a:p>
                  </a:txBody>
                  <a:tcPr marT="0"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2700"/>
                        <a:buFont typeface="Arial"/>
                        <a:buNone/>
                      </a:pPr>
                      <a:r>
                        <a:t/>
                      </a:r>
                      <a:endParaRPr sz="2700" u="none" cap="none" strike="noStrike">
                        <a:latin typeface="Times New Roman"/>
                        <a:ea typeface="Times New Roman"/>
                        <a:cs typeface="Times New Roman"/>
                        <a:sym typeface="Times New Roman"/>
                      </a:endParaRPr>
                    </a:p>
                    <a:p>
                      <a:pPr indent="0" lvl="0" marL="0" marR="0" rtl="0" algn="ctr">
                        <a:lnSpc>
                          <a:spcPct val="100000"/>
                        </a:lnSpc>
                        <a:spcBef>
                          <a:spcPts val="1739"/>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8 byte(64 bits)</a:t>
                      </a:r>
                      <a:endParaRPr sz="2400" u="none" cap="none" strike="noStrike">
                        <a:latin typeface="Arial"/>
                        <a:ea typeface="Arial"/>
                        <a:cs typeface="Arial"/>
                        <a:sym typeface="Arial"/>
                      </a:endParaRPr>
                    </a:p>
                  </a:txBody>
                  <a:tcPr marT="0"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635"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-92233720368</a:t>
                      </a:r>
                      <a:endParaRPr sz="2400" u="none" cap="none" strike="noStrike">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54775808 to</a:t>
                      </a:r>
                      <a:endParaRPr sz="2400" u="none" cap="none" strike="noStrike">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922337203685</a:t>
                      </a:r>
                      <a:endParaRPr sz="2400" u="none" cap="none" strike="noStrike">
                        <a:latin typeface="Arial"/>
                        <a:ea typeface="Arial"/>
                        <a:cs typeface="Arial"/>
                        <a:sym typeface="Arial"/>
                      </a:endParaRPr>
                    </a:p>
                    <a:p>
                      <a:pPr indent="0" lvl="0" marL="1905"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4775807</a:t>
                      </a:r>
                      <a:endParaRPr sz="2400" u="none" cap="none" strike="noStrike">
                        <a:latin typeface="Arial"/>
                        <a:ea typeface="Arial"/>
                        <a:cs typeface="Arial"/>
                        <a:sym typeface="Arial"/>
                      </a:endParaRPr>
                    </a:p>
                  </a:txBody>
                  <a:tcPr marT="102450"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g279ef9b7fc5_0_469"/>
          <p:cNvSpPr txBox="1"/>
          <p:nvPr/>
        </p:nvSpPr>
        <p:spPr>
          <a:xfrm>
            <a:off x="488222" y="960797"/>
            <a:ext cx="10873800" cy="1002300"/>
          </a:xfrm>
          <a:prstGeom prst="rect">
            <a:avLst/>
          </a:prstGeom>
          <a:noFill/>
          <a:ln>
            <a:noFill/>
          </a:ln>
        </p:spPr>
        <p:txBody>
          <a:bodyPr anchorCtr="0" anchor="t" bIns="0" lIns="0" spcFirstLastPara="1" rIns="0" wrap="square" tIns="16925">
            <a:spAutoFit/>
          </a:bodyPr>
          <a:lstStyle/>
          <a:p>
            <a:pPr indent="-712029" lvl="0" marL="728115" marR="0" rtl="0" algn="l">
              <a:lnSpc>
                <a:spcPct val="1000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The	boolean	type	represents	a	truth	value.	There</a:t>
            </a:r>
            <a:endParaRPr b="0" i="0" sz="3200" u="none" cap="none" strike="noStrike">
              <a:solidFill>
                <a:schemeClr val="dk1"/>
              </a:solidFill>
              <a:latin typeface="Arial"/>
              <a:ea typeface="Arial"/>
              <a:cs typeface="Arial"/>
              <a:sym typeface="Arial"/>
            </a:endParaRPr>
          </a:p>
        </p:txBody>
      </p:sp>
      <p:sp>
        <p:nvSpPr>
          <p:cNvPr id="739" name="Google Shape;739;g279ef9b7fc5_0_469"/>
          <p:cNvSpPr txBox="1"/>
          <p:nvPr/>
        </p:nvSpPr>
        <p:spPr>
          <a:xfrm>
            <a:off x="1199829" y="1447968"/>
            <a:ext cx="10164300" cy="1150800"/>
          </a:xfrm>
          <a:prstGeom prst="rect">
            <a:avLst/>
          </a:prstGeom>
          <a:noFill/>
          <a:ln>
            <a:noFill/>
          </a:ln>
        </p:spPr>
        <p:txBody>
          <a:bodyPr anchorCtr="0" anchor="t" bIns="0" lIns="0" spcFirstLastPara="1" rIns="0" wrap="square" tIns="90575">
            <a:spAutoFit/>
          </a:bodyPr>
          <a:lstStyle/>
          <a:p>
            <a:pPr indent="0" lvl="0" marL="0" marR="6772" rtl="0" algn="r">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are	only	two	possible	values	of	this	type,</a:t>
            </a:r>
            <a:endParaRPr b="0" i="0" sz="3200" u="none" cap="none" strike="noStrike">
              <a:solidFill>
                <a:schemeClr val="dk1"/>
              </a:solidFill>
              <a:latin typeface="Arial"/>
              <a:ea typeface="Arial"/>
              <a:cs typeface="Arial"/>
              <a:sym typeface="Arial"/>
            </a:endParaRPr>
          </a:p>
          <a:p>
            <a:pPr indent="0" lvl="0" marL="0" marR="9312" rtl="0" algn="r">
              <a:lnSpc>
                <a:spcPct val="100000"/>
              </a:lnSpc>
              <a:spcBef>
                <a:spcPts val="579"/>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yes</a:t>
            </a:r>
            <a:endParaRPr b="0" i="0" sz="3200" u="none" cap="none" strike="noStrike">
              <a:solidFill>
                <a:schemeClr val="dk1"/>
              </a:solidFill>
              <a:latin typeface="Arial"/>
              <a:ea typeface="Arial"/>
              <a:cs typeface="Arial"/>
              <a:sym typeface="Arial"/>
            </a:endParaRPr>
          </a:p>
        </p:txBody>
      </p:sp>
      <p:sp>
        <p:nvSpPr>
          <p:cNvPr id="740" name="Google Shape;740;g279ef9b7fc5_0_469"/>
          <p:cNvSpPr txBox="1"/>
          <p:nvPr/>
        </p:nvSpPr>
        <p:spPr>
          <a:xfrm>
            <a:off x="1199829" y="2009818"/>
            <a:ext cx="9199800" cy="1076100"/>
          </a:xfrm>
          <a:prstGeom prst="rect">
            <a:avLst/>
          </a:prstGeom>
          <a:noFill/>
          <a:ln>
            <a:noFill/>
          </a:ln>
        </p:spPr>
        <p:txBody>
          <a:bodyPr anchorCtr="0" anchor="t" bIns="0" lIns="0" spcFirstLastPara="1" rIns="0" wrap="square" tIns="16925">
            <a:spAutoFit/>
          </a:bodyPr>
          <a:lstStyle/>
          <a:p>
            <a:pPr indent="0" lvl="0" marL="16932" marR="6772" rtl="0" algn="l">
              <a:lnSpc>
                <a:spcPct val="114999"/>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representing the two boolean states: on or off,  or no, true or false.</a:t>
            </a:r>
            <a:endParaRPr b="0" i="0" sz="3200" u="none" cap="none" strike="noStrike">
              <a:solidFill>
                <a:schemeClr val="dk1"/>
              </a:solidFill>
              <a:latin typeface="Arial"/>
              <a:ea typeface="Arial"/>
              <a:cs typeface="Arial"/>
              <a:sym typeface="Arial"/>
            </a:endParaRPr>
          </a:p>
        </p:txBody>
      </p:sp>
      <p:sp>
        <p:nvSpPr>
          <p:cNvPr id="741" name="Google Shape;741;g279ef9b7fc5_0_469"/>
          <p:cNvSpPr txBox="1"/>
          <p:nvPr/>
        </p:nvSpPr>
        <p:spPr>
          <a:xfrm>
            <a:off x="488222" y="3130745"/>
            <a:ext cx="10873800" cy="2833200"/>
          </a:xfrm>
          <a:prstGeom prst="rect">
            <a:avLst/>
          </a:prstGeom>
          <a:noFill/>
          <a:ln>
            <a:noFill/>
          </a:ln>
        </p:spPr>
        <p:txBody>
          <a:bodyPr anchorCtr="0" anchor="t" bIns="0" lIns="0" spcFirstLastPara="1" rIns="0" wrap="square" tIns="90575">
            <a:spAutoFit/>
          </a:bodyPr>
          <a:lstStyle/>
          <a:p>
            <a:pPr indent="-712029" lvl="0" marL="728115" marR="0" rtl="0" algn="l">
              <a:lnSpc>
                <a:spcPct val="1000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Java reserves the words </a:t>
            </a:r>
            <a:r>
              <a:rPr b="1" i="0" lang="en-IN" sz="3200" u="none" cap="none" strike="noStrike">
                <a:solidFill>
                  <a:srgbClr val="FF0000"/>
                </a:solidFill>
                <a:latin typeface="Arial"/>
                <a:ea typeface="Arial"/>
                <a:cs typeface="Arial"/>
                <a:sym typeface="Arial"/>
              </a:rPr>
              <a:t>true</a:t>
            </a:r>
            <a:r>
              <a:rPr b="1" i="0" lang="en-IN" sz="3200" u="none" cap="none" strike="noStrike">
                <a:solidFill>
                  <a:schemeClr val="dk1"/>
                </a:solidFill>
                <a:latin typeface="Arial"/>
                <a:ea typeface="Arial"/>
                <a:cs typeface="Arial"/>
                <a:sym typeface="Arial"/>
              </a:rPr>
              <a:t> and </a:t>
            </a:r>
            <a:r>
              <a:rPr b="1" i="0" lang="en-IN" sz="3200" u="none" cap="none" strike="noStrike">
                <a:solidFill>
                  <a:srgbClr val="FF0000"/>
                </a:solidFill>
                <a:latin typeface="Arial"/>
                <a:ea typeface="Arial"/>
                <a:cs typeface="Arial"/>
                <a:sym typeface="Arial"/>
              </a:rPr>
              <a:t>false</a:t>
            </a:r>
            <a:r>
              <a:rPr b="1" i="0" lang="en-IN" sz="3200" u="none" cap="none" strike="noStrike">
                <a:solidFill>
                  <a:schemeClr val="dk1"/>
                </a:solidFill>
                <a:latin typeface="Arial"/>
                <a:ea typeface="Arial"/>
                <a:cs typeface="Arial"/>
                <a:sym typeface="Arial"/>
              </a:rPr>
              <a:t> to	represent</a:t>
            </a:r>
            <a:endParaRPr b="0" i="0" sz="3200" u="none" cap="none" strike="noStrike">
              <a:solidFill>
                <a:schemeClr val="dk1"/>
              </a:solidFill>
              <a:latin typeface="Arial"/>
              <a:ea typeface="Arial"/>
              <a:cs typeface="Arial"/>
              <a:sym typeface="Arial"/>
            </a:endParaRPr>
          </a:p>
          <a:p>
            <a:pPr indent="0" lvl="0" marL="728115" marR="0" rtl="0" algn="l">
              <a:lnSpc>
                <a:spcPct val="100000"/>
              </a:lnSpc>
              <a:spcBef>
                <a:spcPts val="579"/>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these two boolean values.</a:t>
            </a:r>
            <a:endParaRPr b="0" i="0" sz="3200" u="none" cap="none" strike="noStrike">
              <a:solidFill>
                <a:schemeClr val="dk1"/>
              </a:solidFill>
              <a:latin typeface="Arial"/>
              <a:ea typeface="Arial"/>
              <a:cs typeface="Arial"/>
              <a:sym typeface="Arial"/>
            </a:endParaRPr>
          </a:p>
          <a:p>
            <a:pPr indent="-712029" lvl="0" marL="728115" marR="8465" rtl="0" algn="l">
              <a:lnSpc>
                <a:spcPct val="137906"/>
              </a:lnSpc>
              <a:spcBef>
                <a:spcPts val="140"/>
              </a:spcBef>
              <a:spcAft>
                <a:spcPts val="0"/>
              </a:spcAft>
              <a:buClr>
                <a:srgbClr val="FFFFFF"/>
              </a:buClr>
              <a:buSzPts val="3200"/>
              <a:buFont typeface="MS PGothic"/>
              <a:buChar char="➢"/>
            </a:pPr>
            <a:r>
              <a:rPr b="1" i="0" lang="en-IN" sz="3200" u="none" cap="none" strike="noStrike">
                <a:solidFill>
                  <a:srgbClr val="FF0000"/>
                </a:solidFill>
                <a:latin typeface="Arial"/>
                <a:ea typeface="Arial"/>
                <a:cs typeface="Arial"/>
                <a:sym typeface="Arial"/>
              </a:rPr>
              <a:t>Note:</a:t>
            </a:r>
            <a:r>
              <a:rPr b="1" i="0" lang="en-IN" sz="3200" u="none" cap="none" strike="noStrike">
                <a:solidFill>
                  <a:schemeClr val="dk1"/>
                </a:solidFill>
                <a:latin typeface="Arial"/>
                <a:ea typeface="Arial"/>
                <a:cs typeface="Arial"/>
                <a:sym typeface="Arial"/>
              </a:rPr>
              <a:t> boolean values can never be converted to	or  from other data types</a:t>
            </a:r>
            <a:endParaRPr b="0" i="0" sz="3200" u="none" cap="none" strike="noStrike">
              <a:solidFill>
                <a:schemeClr val="dk1"/>
              </a:solidFill>
              <a:latin typeface="Arial"/>
              <a:ea typeface="Arial"/>
              <a:cs typeface="Arial"/>
              <a:sym typeface="Arial"/>
            </a:endParaRPr>
          </a:p>
        </p:txBody>
      </p:sp>
      <p:sp>
        <p:nvSpPr>
          <p:cNvPr id="742" name="Google Shape;742;g279ef9b7fc5_0_469"/>
          <p:cNvSpPr/>
          <p:nvPr/>
        </p:nvSpPr>
        <p:spPr>
          <a:xfrm>
            <a:off x="3013435" y="163137"/>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Boolean Type</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graphicFrame>
        <p:nvGraphicFramePr>
          <p:cNvPr id="747" name="Google Shape;747;g279ef9b7fc5_0_477"/>
          <p:cNvGraphicFramePr/>
          <p:nvPr/>
        </p:nvGraphicFramePr>
        <p:xfrm>
          <a:off x="1289049" y="1682749"/>
          <a:ext cx="3000000" cy="3000000"/>
        </p:xfrm>
        <a:graphic>
          <a:graphicData uri="http://schemas.openxmlformats.org/drawingml/2006/table">
            <a:tbl>
              <a:tblPr bandRow="1" firstRow="1">
                <a:noFill/>
                <a:tableStyleId>{22A61F2D-B97D-49E0-A38F-197A92996402}</a:tableStyleId>
              </a:tblPr>
              <a:tblGrid>
                <a:gridCol w="1888075"/>
                <a:gridCol w="1888075"/>
                <a:gridCol w="1888075"/>
                <a:gridCol w="1888075"/>
                <a:gridCol w="1888075"/>
              </a:tblGrid>
              <a:tr h="1255275">
                <a:tc>
                  <a:txBody>
                    <a:bodyPr/>
                    <a:lstStyle/>
                    <a:p>
                      <a:pPr indent="0" lvl="0" marL="0" marR="0" rtl="0" algn="l">
                        <a:lnSpc>
                          <a:spcPct val="100000"/>
                        </a:lnSpc>
                        <a:spcBef>
                          <a:spcPts val="0"/>
                        </a:spcBef>
                        <a:spcAft>
                          <a:spcPts val="0"/>
                        </a:spcAft>
                        <a:buClr>
                          <a:srgbClr val="000000"/>
                        </a:buClr>
                        <a:buSzPts val="3000"/>
                        <a:buFont typeface="Arial"/>
                        <a:buNone/>
                      </a:pPr>
                      <a:r>
                        <a:t/>
                      </a:r>
                      <a:endParaRPr sz="3000" u="none" cap="none" strike="noStrike">
                        <a:latin typeface="Times New Roman"/>
                        <a:ea typeface="Times New Roman"/>
                        <a:cs typeface="Times New Roman"/>
                        <a:sym typeface="Times New Roman"/>
                      </a:endParaRPr>
                    </a:p>
                    <a:p>
                      <a:pPr indent="0" lvl="0" marL="635" marR="0" rtl="0" algn="ctr">
                        <a:lnSpc>
                          <a:spcPct val="100000"/>
                        </a:lnSpc>
                        <a:spcBef>
                          <a:spcPts val="0"/>
                        </a:spcBef>
                        <a:spcAft>
                          <a:spcPts val="0"/>
                        </a:spcAft>
                        <a:buClr>
                          <a:srgbClr val="000000"/>
                        </a:buClr>
                        <a:buSzPts val="2400"/>
                        <a:buFont typeface="Arial"/>
                        <a:buNone/>
                      </a:pPr>
                      <a:r>
                        <a:rPr b="1" lang="en-IN" sz="2400" u="none" cap="none" strike="noStrike">
                          <a:solidFill>
                            <a:srgbClr val="EDFF41"/>
                          </a:solidFill>
                          <a:latin typeface="Arial"/>
                          <a:ea typeface="Arial"/>
                          <a:cs typeface="Arial"/>
                          <a:sym typeface="Arial"/>
                        </a:rPr>
                        <a:t>Type</a:t>
                      </a:r>
                      <a:endParaRPr sz="2400" u="none" cap="none" strike="noStrike">
                        <a:latin typeface="Arial"/>
                        <a:ea typeface="Arial"/>
                        <a:cs typeface="Arial"/>
                        <a:sym typeface="Arial"/>
                      </a:endParaRPr>
                    </a:p>
                  </a:txBody>
                  <a:tcPr marT="337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3000"/>
                        <a:buFont typeface="Arial"/>
                        <a:buNone/>
                      </a:pPr>
                      <a:r>
                        <a:t/>
                      </a:r>
                      <a:endParaRPr sz="3000" u="none" cap="none" strike="noStrike">
                        <a:latin typeface="Times New Roman"/>
                        <a:ea typeface="Times New Roman"/>
                        <a:cs typeface="Times New Roman"/>
                        <a:sym typeface="Times New Roman"/>
                      </a:endParaRPr>
                    </a:p>
                    <a:p>
                      <a:pPr indent="0" lvl="0" marL="217803" marR="0" rtl="0" algn="l">
                        <a:lnSpc>
                          <a:spcPct val="100000"/>
                        </a:lnSpc>
                        <a:spcBef>
                          <a:spcPts val="0"/>
                        </a:spcBef>
                        <a:spcAft>
                          <a:spcPts val="0"/>
                        </a:spcAft>
                        <a:buClr>
                          <a:srgbClr val="000000"/>
                        </a:buClr>
                        <a:buSzPts val="2400"/>
                        <a:buFont typeface="Arial"/>
                        <a:buNone/>
                      </a:pPr>
                      <a:r>
                        <a:rPr b="1" lang="en-IN" sz="2400" u="none" cap="none" strike="noStrike">
                          <a:solidFill>
                            <a:srgbClr val="EDFF41"/>
                          </a:solidFill>
                          <a:latin typeface="Arial"/>
                          <a:ea typeface="Arial"/>
                          <a:cs typeface="Arial"/>
                          <a:sym typeface="Arial"/>
                        </a:rPr>
                        <a:t>Contains</a:t>
                      </a:r>
                      <a:endParaRPr sz="2400" u="none" cap="none" strike="noStrike">
                        <a:latin typeface="Arial"/>
                        <a:ea typeface="Arial"/>
                        <a:cs typeface="Arial"/>
                        <a:sym typeface="Arial"/>
                      </a:endParaRPr>
                    </a:p>
                  </a:txBody>
                  <a:tcPr marT="337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3000"/>
                        <a:buFont typeface="Arial"/>
                        <a:buNone/>
                      </a:pPr>
                      <a:r>
                        <a:t/>
                      </a:r>
                      <a:endParaRPr sz="30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EDFF41"/>
                          </a:solidFill>
                          <a:latin typeface="Arial"/>
                          <a:ea typeface="Arial"/>
                          <a:cs typeface="Arial"/>
                          <a:sym typeface="Arial"/>
                        </a:rPr>
                        <a:t>Default</a:t>
                      </a:r>
                      <a:endParaRPr sz="2400" u="none" cap="none" strike="noStrike">
                        <a:latin typeface="Arial"/>
                        <a:ea typeface="Arial"/>
                        <a:cs typeface="Arial"/>
                        <a:sym typeface="Arial"/>
                      </a:endParaRPr>
                    </a:p>
                  </a:txBody>
                  <a:tcPr marT="337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3000"/>
                        <a:buFont typeface="Arial"/>
                        <a:buNone/>
                      </a:pPr>
                      <a:r>
                        <a:t/>
                      </a:r>
                      <a:endParaRPr sz="3000" u="none" cap="none" strike="noStrike">
                        <a:latin typeface="Times New Roman"/>
                        <a:ea typeface="Times New Roman"/>
                        <a:cs typeface="Times New Roman"/>
                        <a:sym typeface="Times New Roman"/>
                      </a:endParaRPr>
                    </a:p>
                    <a:p>
                      <a:pPr indent="0" lvl="0" marL="479425" marR="0" rtl="0" algn="l">
                        <a:lnSpc>
                          <a:spcPct val="100000"/>
                        </a:lnSpc>
                        <a:spcBef>
                          <a:spcPts val="0"/>
                        </a:spcBef>
                        <a:spcAft>
                          <a:spcPts val="0"/>
                        </a:spcAft>
                        <a:buClr>
                          <a:srgbClr val="000000"/>
                        </a:buClr>
                        <a:buSzPts val="2400"/>
                        <a:buFont typeface="Arial"/>
                        <a:buNone/>
                      </a:pPr>
                      <a:r>
                        <a:rPr b="1" lang="en-IN" sz="2400" u="none" cap="none" strike="noStrike">
                          <a:solidFill>
                            <a:srgbClr val="EDFF41"/>
                          </a:solidFill>
                          <a:latin typeface="Arial"/>
                          <a:ea typeface="Arial"/>
                          <a:cs typeface="Arial"/>
                          <a:sym typeface="Arial"/>
                        </a:rPr>
                        <a:t>Size</a:t>
                      </a:r>
                      <a:endParaRPr sz="2400" u="none" cap="none" strike="noStrike">
                        <a:latin typeface="Arial"/>
                        <a:ea typeface="Arial"/>
                        <a:cs typeface="Arial"/>
                        <a:sym typeface="Arial"/>
                      </a:endParaRPr>
                    </a:p>
                  </a:txBody>
                  <a:tcPr marT="337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3000"/>
                        <a:buFont typeface="Arial"/>
                        <a:buNone/>
                      </a:pPr>
                      <a:r>
                        <a:t/>
                      </a:r>
                      <a:endParaRPr sz="3000" u="none" cap="none" strike="noStrike">
                        <a:latin typeface="Times New Roman"/>
                        <a:ea typeface="Times New Roman"/>
                        <a:cs typeface="Times New Roman"/>
                        <a:sym typeface="Times New Roman"/>
                      </a:endParaRPr>
                    </a:p>
                    <a:p>
                      <a:pPr indent="0" lvl="0" marL="635" marR="0" rtl="0" algn="ctr">
                        <a:lnSpc>
                          <a:spcPct val="100000"/>
                        </a:lnSpc>
                        <a:spcBef>
                          <a:spcPts val="0"/>
                        </a:spcBef>
                        <a:spcAft>
                          <a:spcPts val="0"/>
                        </a:spcAft>
                        <a:buClr>
                          <a:srgbClr val="000000"/>
                        </a:buClr>
                        <a:buSzPts val="2400"/>
                        <a:buFont typeface="Arial"/>
                        <a:buNone/>
                      </a:pPr>
                      <a:r>
                        <a:rPr b="1" lang="en-IN" sz="2400" u="none" cap="none" strike="noStrike">
                          <a:solidFill>
                            <a:srgbClr val="EDFF41"/>
                          </a:solidFill>
                          <a:latin typeface="Arial"/>
                          <a:ea typeface="Arial"/>
                          <a:cs typeface="Arial"/>
                          <a:sym typeface="Arial"/>
                        </a:rPr>
                        <a:t>Range</a:t>
                      </a:r>
                      <a:endParaRPr sz="2400" u="none" cap="none" strike="noStrike">
                        <a:latin typeface="Arial"/>
                        <a:ea typeface="Arial"/>
                        <a:cs typeface="Arial"/>
                        <a:sym typeface="Arial"/>
                      </a:endParaRPr>
                    </a:p>
                  </a:txBody>
                  <a:tcPr marT="337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r>
              <a:tr h="1807625">
                <a:tc>
                  <a:txBody>
                    <a:bodyPr/>
                    <a:lstStyle/>
                    <a:p>
                      <a:pPr indent="0" lvl="0" marL="0" marR="0" rtl="0" algn="l">
                        <a:lnSpc>
                          <a:spcPct val="100000"/>
                        </a:lnSpc>
                        <a:spcBef>
                          <a:spcPts val="0"/>
                        </a:spcBef>
                        <a:spcAft>
                          <a:spcPts val="0"/>
                        </a:spcAft>
                        <a:buClr>
                          <a:srgbClr val="000000"/>
                        </a:buClr>
                        <a:buSzPts val="2700"/>
                        <a:buFont typeface="Arial"/>
                        <a:buNone/>
                      </a:pPr>
                      <a:r>
                        <a:t/>
                      </a:r>
                      <a:endParaRPr sz="2700" u="none" cap="none" strike="noStrike">
                        <a:latin typeface="Times New Roman"/>
                        <a:ea typeface="Times New Roman"/>
                        <a:cs typeface="Times New Roman"/>
                        <a:sym typeface="Times New Roman"/>
                      </a:endParaRPr>
                    </a:p>
                    <a:p>
                      <a:pPr indent="0" lvl="0" marL="0" marR="0" rtl="0" algn="l">
                        <a:lnSpc>
                          <a:spcPct val="100000"/>
                        </a:lnSpc>
                        <a:spcBef>
                          <a:spcPts val="10"/>
                        </a:spcBef>
                        <a:spcAft>
                          <a:spcPts val="0"/>
                        </a:spcAft>
                        <a:buClr>
                          <a:srgbClr val="000000"/>
                        </a:buClr>
                        <a:buSzPts val="3500"/>
                        <a:buFont typeface="Arial"/>
                        <a:buNone/>
                      </a:pPr>
                      <a:r>
                        <a:t/>
                      </a:r>
                      <a:endParaRPr sz="35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boolean</a:t>
                      </a:r>
                      <a:endParaRPr sz="2400" u="none" cap="none" strike="noStrike">
                        <a:latin typeface="Arial"/>
                        <a:ea typeface="Arial"/>
                        <a:cs typeface="Arial"/>
                        <a:sym typeface="Arial"/>
                      </a:endParaRPr>
                    </a:p>
                  </a:txBody>
                  <a:tcPr marT="0"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3400"/>
                        <a:buFont typeface="Arial"/>
                        <a:buNone/>
                      </a:pPr>
                      <a:r>
                        <a:t/>
                      </a:r>
                      <a:endParaRPr sz="3400" u="none" cap="none" strike="noStrike">
                        <a:latin typeface="Times New Roman"/>
                        <a:ea typeface="Times New Roman"/>
                        <a:cs typeface="Times New Roman"/>
                        <a:sym typeface="Times New Roman"/>
                      </a:endParaRPr>
                    </a:p>
                    <a:p>
                      <a:pPr indent="0" lvl="0" marL="635"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true	or</a:t>
                      </a:r>
                      <a:endParaRPr sz="2400" u="none" cap="none" strike="noStrike">
                        <a:latin typeface="Arial"/>
                        <a:ea typeface="Arial"/>
                        <a:cs typeface="Arial"/>
                        <a:sym typeface="Arial"/>
                      </a:endParaRPr>
                    </a:p>
                    <a:p>
                      <a:pPr indent="0" lvl="0" marL="1270" marR="0" rtl="0" algn="ctr">
                        <a:lnSpc>
                          <a:spcPct val="100000"/>
                        </a:lnSpc>
                        <a:spcBef>
                          <a:spcPts val="25"/>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false</a:t>
                      </a:r>
                      <a:endParaRPr sz="2400" u="none" cap="none" strike="noStrike">
                        <a:latin typeface="Arial"/>
                        <a:ea typeface="Arial"/>
                        <a:cs typeface="Arial"/>
                        <a:sym typeface="Arial"/>
                      </a:endParaRPr>
                    </a:p>
                  </a:txBody>
                  <a:tcPr marT="847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2700"/>
                        <a:buFont typeface="Arial"/>
                        <a:buNone/>
                      </a:pPr>
                      <a:r>
                        <a:t/>
                      </a:r>
                      <a:endParaRPr sz="27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300"/>
                        <a:buFont typeface="Arial"/>
                        <a:buNone/>
                      </a:pPr>
                      <a:r>
                        <a:t/>
                      </a:r>
                      <a:endParaRPr sz="3300" u="none" cap="none" strike="noStrike">
                        <a:latin typeface="Times New Roman"/>
                        <a:ea typeface="Times New Roman"/>
                        <a:cs typeface="Times New Roman"/>
                        <a:sym typeface="Times New Roman"/>
                      </a:endParaRPr>
                    </a:p>
                    <a:p>
                      <a:pPr indent="0" lvl="0" marL="127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false</a:t>
                      </a:r>
                      <a:endParaRPr sz="2400" u="none" cap="none" strike="noStrike">
                        <a:latin typeface="Arial"/>
                        <a:ea typeface="Arial"/>
                        <a:cs typeface="Arial"/>
                        <a:sym typeface="Arial"/>
                      </a:endParaRPr>
                    </a:p>
                  </a:txBody>
                  <a:tcPr marT="0"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2700"/>
                        <a:buFont typeface="Arial"/>
                        <a:buNone/>
                      </a:pPr>
                      <a:r>
                        <a:t/>
                      </a:r>
                      <a:endParaRPr sz="2700" u="none" cap="none" strike="noStrike">
                        <a:latin typeface="Times New Roman"/>
                        <a:ea typeface="Times New Roman"/>
                        <a:cs typeface="Times New Roman"/>
                        <a:sym typeface="Times New Roman"/>
                      </a:endParaRPr>
                    </a:p>
                    <a:p>
                      <a:pPr indent="0" lvl="0" marL="0" marR="0" rtl="0" algn="l">
                        <a:lnSpc>
                          <a:spcPct val="100000"/>
                        </a:lnSpc>
                        <a:spcBef>
                          <a:spcPts val="10"/>
                        </a:spcBef>
                        <a:spcAft>
                          <a:spcPts val="0"/>
                        </a:spcAft>
                        <a:buClr>
                          <a:srgbClr val="000000"/>
                        </a:buClr>
                        <a:buSzPts val="3500"/>
                        <a:buFont typeface="Arial"/>
                        <a:buNone/>
                      </a:pPr>
                      <a:r>
                        <a:t/>
                      </a:r>
                      <a:endParaRPr sz="3500" u="none" cap="none" strike="noStrike">
                        <a:latin typeface="Times New Roman"/>
                        <a:ea typeface="Times New Roman"/>
                        <a:cs typeface="Times New Roman"/>
                        <a:sym typeface="Times New Roman"/>
                      </a:endParaRPr>
                    </a:p>
                    <a:p>
                      <a:pPr indent="0" lvl="0" marL="473075" marR="0" rtl="0" algn="l">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1 bit</a:t>
                      </a:r>
                      <a:endParaRPr sz="2400" u="none" cap="none" strike="noStrike">
                        <a:latin typeface="Arial"/>
                        <a:ea typeface="Arial"/>
                        <a:cs typeface="Arial"/>
                        <a:sym typeface="Arial"/>
                      </a:endParaRPr>
                    </a:p>
                  </a:txBody>
                  <a:tcPr marT="0"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2700"/>
                        <a:buFont typeface="Arial"/>
                        <a:buNone/>
                      </a:pPr>
                      <a:r>
                        <a:t/>
                      </a:r>
                      <a:endParaRPr sz="27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300"/>
                        <a:buFont typeface="Arial"/>
                        <a:buNone/>
                      </a:pPr>
                      <a:r>
                        <a:t/>
                      </a:r>
                      <a:endParaRPr sz="3300" u="none" cap="none" strike="noStrike">
                        <a:latin typeface="Times New Roman"/>
                        <a:ea typeface="Times New Roman"/>
                        <a:cs typeface="Times New Roman"/>
                        <a:sym typeface="Times New Roman"/>
                      </a:endParaRPr>
                    </a:p>
                    <a:p>
                      <a:pPr indent="0" lvl="0" marL="635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NA</a:t>
                      </a:r>
                      <a:endParaRPr sz="2400" u="none" cap="none" strike="noStrike">
                        <a:latin typeface="Arial"/>
                        <a:ea typeface="Arial"/>
                        <a:cs typeface="Arial"/>
                        <a:sym typeface="Arial"/>
                      </a:endParaRPr>
                    </a:p>
                  </a:txBody>
                  <a:tcPr marT="0"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r>
            </a:tbl>
          </a:graphicData>
        </a:graphic>
      </p:graphicFrame>
      <p:sp>
        <p:nvSpPr>
          <p:cNvPr id="748" name="Google Shape;748;g279ef9b7fc5_0_477"/>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Boolean Type</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279ef9b7fc5_0_482"/>
          <p:cNvSpPr txBox="1"/>
          <p:nvPr/>
        </p:nvSpPr>
        <p:spPr>
          <a:xfrm>
            <a:off x="488222" y="887645"/>
            <a:ext cx="10873800" cy="2208900"/>
          </a:xfrm>
          <a:prstGeom prst="rect">
            <a:avLst/>
          </a:prstGeom>
          <a:noFill/>
          <a:ln>
            <a:noFill/>
          </a:ln>
        </p:spPr>
        <p:txBody>
          <a:bodyPr anchorCtr="0" anchor="t" bIns="0" lIns="0" spcFirstLastPara="1" rIns="0" wrap="square" tIns="16925">
            <a:spAutoFit/>
          </a:bodyPr>
          <a:lstStyle/>
          <a:p>
            <a:pPr indent="-712029" lvl="0" marL="728115" marR="6772"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The float types in Java are float and double. These  two types differ only in the number of bits and,  therefore, in the range of numbers each type can  represent.</a:t>
            </a:r>
            <a:endParaRPr b="0" i="0" sz="3200" u="none" cap="none" strike="noStrike">
              <a:solidFill>
                <a:schemeClr val="dk1"/>
              </a:solidFill>
              <a:latin typeface="Arial"/>
              <a:ea typeface="Arial"/>
              <a:cs typeface="Arial"/>
              <a:sym typeface="Arial"/>
            </a:endParaRPr>
          </a:p>
        </p:txBody>
      </p:sp>
      <p:sp>
        <p:nvSpPr>
          <p:cNvPr id="754" name="Google Shape;754;g279ef9b7fc5_0_482"/>
          <p:cNvSpPr txBox="1"/>
          <p:nvPr/>
        </p:nvSpPr>
        <p:spPr>
          <a:xfrm>
            <a:off x="488221" y="3130745"/>
            <a:ext cx="2934600" cy="1150800"/>
          </a:xfrm>
          <a:prstGeom prst="rect">
            <a:avLst/>
          </a:prstGeom>
          <a:noFill/>
          <a:ln>
            <a:noFill/>
          </a:ln>
        </p:spPr>
        <p:txBody>
          <a:bodyPr anchorCtr="0" anchor="t" bIns="0" lIns="0" spcFirstLastPara="1" rIns="0" wrap="square" tIns="90575">
            <a:spAutoFit/>
          </a:bodyPr>
          <a:lstStyle/>
          <a:p>
            <a:pPr indent="-711182" lvl="0" marL="711182" marR="50798" rtl="0" algn="r">
              <a:lnSpc>
                <a:spcPct val="1000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float	is	a</a:t>
            </a:r>
            <a:endParaRPr b="0" i="0" sz="3200" u="none" cap="none" strike="noStrike">
              <a:solidFill>
                <a:schemeClr val="dk1"/>
              </a:solidFill>
              <a:latin typeface="Arial"/>
              <a:ea typeface="Arial"/>
              <a:cs typeface="Arial"/>
              <a:sym typeface="Arial"/>
            </a:endParaRPr>
          </a:p>
          <a:p>
            <a:pPr indent="0" lvl="0" marL="0" marR="6772" rtl="0" algn="r">
              <a:lnSpc>
                <a:spcPct val="100000"/>
              </a:lnSpc>
              <a:spcBef>
                <a:spcPts val="579"/>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value,	and</a:t>
            </a:r>
            <a:endParaRPr b="0" i="0" sz="3200" u="none" cap="none" strike="noStrike">
              <a:solidFill>
                <a:schemeClr val="dk1"/>
              </a:solidFill>
              <a:latin typeface="Arial"/>
              <a:ea typeface="Arial"/>
              <a:cs typeface="Arial"/>
              <a:sym typeface="Arial"/>
            </a:endParaRPr>
          </a:p>
        </p:txBody>
      </p:sp>
      <p:sp>
        <p:nvSpPr>
          <p:cNvPr id="755" name="Google Shape;755;g279ef9b7fc5_0_482"/>
          <p:cNvSpPr txBox="1"/>
          <p:nvPr/>
        </p:nvSpPr>
        <p:spPr>
          <a:xfrm>
            <a:off x="3705690" y="3130745"/>
            <a:ext cx="7657200" cy="1150800"/>
          </a:xfrm>
          <a:prstGeom prst="rect">
            <a:avLst/>
          </a:prstGeom>
          <a:noFill/>
          <a:ln>
            <a:noFill/>
          </a:ln>
        </p:spPr>
        <p:txBody>
          <a:bodyPr anchorCtr="0" anchor="t" bIns="0" lIns="0" spcFirstLastPara="1" rIns="0" wrap="square" tIns="90575">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32-bit,	single-precision	floating-point</a:t>
            </a:r>
            <a:endParaRPr b="0" i="0" sz="3200" u="none" cap="none" strike="noStrike">
              <a:solidFill>
                <a:schemeClr val="dk1"/>
              </a:solidFill>
              <a:latin typeface="Arial"/>
              <a:ea typeface="Arial"/>
              <a:cs typeface="Arial"/>
              <a:sym typeface="Arial"/>
            </a:endParaRPr>
          </a:p>
          <a:p>
            <a:pPr indent="0" lvl="0" marL="16932" marR="0" rtl="0" algn="l">
              <a:lnSpc>
                <a:spcPct val="100000"/>
              </a:lnSpc>
              <a:spcBef>
                <a:spcPts val="579"/>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double	is	a	64-bit,	double-precision</a:t>
            </a:r>
            <a:endParaRPr b="0" i="0" sz="3200" u="none" cap="none" strike="noStrike">
              <a:solidFill>
                <a:schemeClr val="dk1"/>
              </a:solidFill>
              <a:latin typeface="Arial"/>
              <a:ea typeface="Arial"/>
              <a:cs typeface="Arial"/>
              <a:sym typeface="Arial"/>
            </a:endParaRPr>
          </a:p>
        </p:txBody>
      </p:sp>
      <p:sp>
        <p:nvSpPr>
          <p:cNvPr id="756" name="Google Shape;756;g279ef9b7fc5_0_482"/>
          <p:cNvSpPr txBox="1"/>
          <p:nvPr/>
        </p:nvSpPr>
        <p:spPr>
          <a:xfrm>
            <a:off x="1199829" y="4326637"/>
            <a:ext cx="3888600" cy="5097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floating-point value.</a:t>
            </a:r>
            <a:endParaRPr b="0" i="0" sz="3200" u="none" cap="none" strike="noStrike">
              <a:solidFill>
                <a:schemeClr val="dk1"/>
              </a:solidFill>
              <a:latin typeface="Arial"/>
              <a:ea typeface="Arial"/>
              <a:cs typeface="Arial"/>
              <a:sym typeface="Arial"/>
            </a:endParaRPr>
          </a:p>
        </p:txBody>
      </p:sp>
      <p:sp>
        <p:nvSpPr>
          <p:cNvPr id="757" name="Google Shape;757;g279ef9b7fc5_0_482"/>
          <p:cNvSpPr/>
          <p:nvPr/>
        </p:nvSpPr>
        <p:spPr>
          <a:xfrm>
            <a:off x="3060685" y="200025"/>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Float Type</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graphicFrame>
        <p:nvGraphicFramePr>
          <p:cNvPr id="762" name="Google Shape;762;g279ef9b7fc5_0_490"/>
          <p:cNvGraphicFramePr/>
          <p:nvPr/>
        </p:nvGraphicFramePr>
        <p:xfrm>
          <a:off x="50801" y="1786551"/>
          <a:ext cx="3000000" cy="3000000"/>
        </p:xfrm>
        <a:graphic>
          <a:graphicData uri="http://schemas.openxmlformats.org/drawingml/2006/table">
            <a:tbl>
              <a:tblPr bandRow="1" firstRow="1">
                <a:noFill/>
                <a:tableStyleId>{22A61F2D-B97D-49E0-A38F-197A92996402}</a:tableStyleId>
              </a:tblPr>
              <a:tblGrid>
                <a:gridCol w="1502825"/>
                <a:gridCol w="3496725"/>
                <a:gridCol w="2207250"/>
                <a:gridCol w="2402000"/>
                <a:gridCol w="2402000"/>
              </a:tblGrid>
              <a:tr h="704775">
                <a:tc>
                  <a:txBody>
                    <a:bodyPr/>
                    <a:lstStyle/>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EDFF41"/>
                          </a:solidFill>
                          <a:latin typeface="Arial"/>
                          <a:ea typeface="Arial"/>
                          <a:cs typeface="Arial"/>
                          <a:sym typeface="Arial"/>
                        </a:rPr>
                        <a:t>Type</a:t>
                      </a:r>
                      <a:endParaRPr sz="2400" u="none" cap="none" strike="noStrike">
                        <a:latin typeface="Arial"/>
                        <a:ea typeface="Arial"/>
                        <a:cs typeface="Arial"/>
                        <a:sym typeface="Arial"/>
                      </a:endParaRPr>
                    </a:p>
                  </a:txBody>
                  <a:tcPr marT="14817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806450" marR="0" rtl="0" algn="l">
                        <a:lnSpc>
                          <a:spcPct val="100000"/>
                        </a:lnSpc>
                        <a:spcBef>
                          <a:spcPts val="0"/>
                        </a:spcBef>
                        <a:spcAft>
                          <a:spcPts val="0"/>
                        </a:spcAft>
                        <a:buClr>
                          <a:srgbClr val="000000"/>
                        </a:buClr>
                        <a:buSzPts val="2400"/>
                        <a:buFont typeface="Arial"/>
                        <a:buNone/>
                      </a:pPr>
                      <a:r>
                        <a:rPr b="1" lang="en-IN" sz="2400" u="none" cap="none" strike="noStrike">
                          <a:solidFill>
                            <a:srgbClr val="EDFF41"/>
                          </a:solidFill>
                          <a:latin typeface="Arial"/>
                          <a:ea typeface="Arial"/>
                          <a:cs typeface="Arial"/>
                          <a:sym typeface="Arial"/>
                        </a:rPr>
                        <a:t>Contains</a:t>
                      </a:r>
                      <a:endParaRPr sz="2400" u="none" cap="none" strike="noStrike">
                        <a:latin typeface="Arial"/>
                        <a:ea typeface="Arial"/>
                        <a:cs typeface="Arial"/>
                        <a:sym typeface="Arial"/>
                      </a:endParaRPr>
                    </a:p>
                  </a:txBody>
                  <a:tcPr marT="14817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EDFF41"/>
                          </a:solidFill>
                          <a:latin typeface="Arial"/>
                          <a:ea typeface="Arial"/>
                          <a:cs typeface="Arial"/>
                          <a:sym typeface="Arial"/>
                        </a:rPr>
                        <a:t>Default</a:t>
                      </a:r>
                      <a:endParaRPr sz="2400" u="none" cap="none" strike="noStrike">
                        <a:latin typeface="Arial"/>
                        <a:ea typeface="Arial"/>
                        <a:cs typeface="Arial"/>
                        <a:sym typeface="Arial"/>
                      </a:endParaRPr>
                    </a:p>
                  </a:txBody>
                  <a:tcPr marT="14817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1270" marR="0" rtl="0" algn="ctr">
                        <a:lnSpc>
                          <a:spcPct val="100000"/>
                        </a:lnSpc>
                        <a:spcBef>
                          <a:spcPts val="0"/>
                        </a:spcBef>
                        <a:spcAft>
                          <a:spcPts val="0"/>
                        </a:spcAft>
                        <a:buClr>
                          <a:srgbClr val="000000"/>
                        </a:buClr>
                        <a:buSzPts val="2400"/>
                        <a:buFont typeface="Arial"/>
                        <a:buNone/>
                      </a:pPr>
                      <a:r>
                        <a:rPr b="1" lang="en-IN" sz="2400" u="none" cap="none" strike="noStrike">
                          <a:solidFill>
                            <a:srgbClr val="EDFF41"/>
                          </a:solidFill>
                          <a:latin typeface="Arial"/>
                          <a:ea typeface="Arial"/>
                          <a:cs typeface="Arial"/>
                          <a:sym typeface="Arial"/>
                        </a:rPr>
                        <a:t>Size</a:t>
                      </a:r>
                      <a:endParaRPr sz="2400" u="none" cap="none" strike="noStrike">
                        <a:latin typeface="Arial"/>
                        <a:ea typeface="Arial"/>
                        <a:cs typeface="Arial"/>
                        <a:sym typeface="Arial"/>
                      </a:endParaRPr>
                    </a:p>
                  </a:txBody>
                  <a:tcPr marT="14817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549275" marR="0" rtl="0" algn="l">
                        <a:lnSpc>
                          <a:spcPct val="100000"/>
                        </a:lnSpc>
                        <a:spcBef>
                          <a:spcPts val="0"/>
                        </a:spcBef>
                        <a:spcAft>
                          <a:spcPts val="0"/>
                        </a:spcAft>
                        <a:buClr>
                          <a:srgbClr val="000000"/>
                        </a:buClr>
                        <a:buSzPts val="2400"/>
                        <a:buFont typeface="Arial"/>
                        <a:buNone/>
                      </a:pPr>
                      <a:r>
                        <a:rPr b="1" lang="en-IN" sz="2400" u="none" cap="none" strike="noStrike">
                          <a:solidFill>
                            <a:srgbClr val="EDFF41"/>
                          </a:solidFill>
                          <a:latin typeface="Arial"/>
                          <a:ea typeface="Arial"/>
                          <a:cs typeface="Arial"/>
                          <a:sym typeface="Arial"/>
                        </a:rPr>
                        <a:t>Range</a:t>
                      </a:r>
                      <a:endParaRPr sz="2400" u="none" cap="none" strike="noStrike">
                        <a:latin typeface="Arial"/>
                        <a:ea typeface="Arial"/>
                        <a:cs typeface="Arial"/>
                        <a:sym typeface="Arial"/>
                      </a:endParaRPr>
                    </a:p>
                  </a:txBody>
                  <a:tcPr marT="14817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r>
              <a:tr h="1348400">
                <a:tc>
                  <a:txBody>
                    <a:bodyPr/>
                    <a:lstStyle/>
                    <a:p>
                      <a:pPr indent="0" lvl="0" marL="0" marR="0" rtl="0" algn="l">
                        <a:lnSpc>
                          <a:spcPct val="100000"/>
                        </a:lnSpc>
                        <a:spcBef>
                          <a:spcPts val="0"/>
                        </a:spcBef>
                        <a:spcAft>
                          <a:spcPts val="0"/>
                        </a:spcAft>
                        <a:buClr>
                          <a:srgbClr val="000000"/>
                        </a:buClr>
                        <a:buSzPts val="3300"/>
                        <a:buFont typeface="Arial"/>
                        <a:buNone/>
                      </a:pPr>
                      <a:r>
                        <a:t/>
                      </a:r>
                      <a:endParaRPr sz="33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float</a:t>
                      </a:r>
                      <a:endParaRPr sz="2400" u="none" cap="none" strike="noStrike">
                        <a:latin typeface="Arial"/>
                        <a:ea typeface="Arial"/>
                        <a:cs typeface="Arial"/>
                        <a:sym typeface="Arial"/>
                      </a:endParaRPr>
                    </a:p>
                  </a:txBody>
                  <a:tcPr marT="42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626745" lvl="0" marL="1009014" marR="377190" rtl="0" algn="l">
                        <a:lnSpc>
                          <a:spcPct val="101099"/>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IEEE 754 floating  point</a:t>
                      </a:r>
                      <a:endParaRPr sz="2400" u="none" cap="none" strike="noStrike">
                        <a:latin typeface="Arial"/>
                        <a:ea typeface="Arial"/>
                        <a:cs typeface="Arial"/>
                        <a:sym typeface="Arial"/>
                      </a:endParaRPr>
                    </a:p>
                  </a:txBody>
                  <a:tcPr marT="25907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3300"/>
                        <a:buFont typeface="Arial"/>
                        <a:buNone/>
                      </a:pPr>
                      <a:r>
                        <a:t/>
                      </a:r>
                      <a:endParaRPr sz="33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0.0</a:t>
                      </a:r>
                      <a:endParaRPr sz="2400" u="none" cap="none" strike="noStrike">
                        <a:latin typeface="Arial"/>
                        <a:ea typeface="Arial"/>
                        <a:cs typeface="Arial"/>
                        <a:sym typeface="Arial"/>
                      </a:endParaRPr>
                    </a:p>
                  </a:txBody>
                  <a:tcPr marT="42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3300"/>
                        <a:buFont typeface="Arial"/>
                        <a:buNone/>
                      </a:pPr>
                      <a:r>
                        <a:t/>
                      </a:r>
                      <a:endParaRPr sz="33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32 bits</a:t>
                      </a:r>
                      <a:endParaRPr sz="2400" u="none" cap="none" strike="noStrike">
                        <a:latin typeface="Arial"/>
                        <a:ea typeface="Arial"/>
                        <a:cs typeface="Arial"/>
                        <a:sym typeface="Arial"/>
                      </a:endParaRPr>
                    </a:p>
                  </a:txBody>
                  <a:tcPr marT="42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1905" marR="0" rtl="0" algn="ctr">
                        <a:lnSpc>
                          <a:spcPct val="875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±1.4E-45 to</a:t>
                      </a:r>
                      <a:endParaRPr sz="2400" u="none" cap="none" strike="noStrike">
                        <a:latin typeface="Arial"/>
                        <a:ea typeface="Arial"/>
                        <a:cs typeface="Arial"/>
                        <a:sym typeface="Arial"/>
                      </a:endParaRPr>
                    </a:p>
                    <a:p>
                      <a:pPr indent="0" lvl="0" marL="1905" marR="0" rtl="0" algn="ctr">
                        <a:lnSpc>
                          <a:spcPct val="875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±3.4028235E+3</a:t>
                      </a:r>
                      <a:endParaRPr sz="2400" u="none" cap="none" strike="noStrike">
                        <a:latin typeface="Arial"/>
                        <a:ea typeface="Arial"/>
                        <a:cs typeface="Arial"/>
                        <a:sym typeface="Arial"/>
                      </a:endParaRPr>
                    </a:p>
                    <a:p>
                      <a:pPr indent="0" lvl="0" marL="2540" marR="0" rtl="0" algn="ctr">
                        <a:lnSpc>
                          <a:spcPct val="100000"/>
                        </a:lnSpc>
                        <a:spcBef>
                          <a:spcPts val="25"/>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8</a:t>
                      </a:r>
                      <a:endParaRPr sz="2400" u="none" cap="none" strike="noStrike">
                        <a:latin typeface="Arial"/>
                        <a:ea typeface="Arial"/>
                        <a:cs typeface="Arial"/>
                        <a:sym typeface="Arial"/>
                      </a:endParaRPr>
                    </a:p>
                  </a:txBody>
                  <a:tcPr marT="101600"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r>
              <a:tr h="1348225">
                <a:tc>
                  <a:txBody>
                    <a:bodyPr/>
                    <a:lstStyle/>
                    <a:p>
                      <a:pPr indent="0" lvl="0" marL="0" marR="0" rtl="0" algn="l">
                        <a:lnSpc>
                          <a:spcPct val="100000"/>
                        </a:lnSpc>
                        <a:spcBef>
                          <a:spcPts val="0"/>
                        </a:spcBef>
                        <a:spcAft>
                          <a:spcPts val="0"/>
                        </a:spcAft>
                        <a:buClr>
                          <a:srgbClr val="000000"/>
                        </a:buClr>
                        <a:buSzPts val="3300"/>
                        <a:buFont typeface="Arial"/>
                        <a:buNone/>
                      </a:pPr>
                      <a:r>
                        <a:t/>
                      </a:r>
                      <a:endParaRPr sz="33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double</a:t>
                      </a:r>
                      <a:endParaRPr sz="2400" u="none" cap="none" strike="noStrike">
                        <a:latin typeface="Arial"/>
                        <a:ea typeface="Arial"/>
                        <a:cs typeface="Arial"/>
                        <a:sym typeface="Arial"/>
                      </a:endParaRPr>
                    </a:p>
                  </a:txBody>
                  <a:tcPr marT="42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626745" lvl="0" marL="1009014" marR="377190" rtl="0" algn="l">
                        <a:lnSpc>
                          <a:spcPct val="101099"/>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IEEE 754 floating  point</a:t>
                      </a:r>
                      <a:endParaRPr sz="2400" u="none" cap="none" strike="noStrike">
                        <a:latin typeface="Arial"/>
                        <a:ea typeface="Arial"/>
                        <a:cs typeface="Arial"/>
                        <a:sym typeface="Arial"/>
                      </a:endParaRPr>
                    </a:p>
                  </a:txBody>
                  <a:tcPr marT="2599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3300"/>
                        <a:buFont typeface="Arial"/>
                        <a:buNone/>
                      </a:pPr>
                      <a:r>
                        <a:t/>
                      </a:r>
                      <a:endParaRPr sz="33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0.0</a:t>
                      </a:r>
                      <a:endParaRPr sz="2400" u="none" cap="none" strike="noStrike">
                        <a:latin typeface="Arial"/>
                        <a:ea typeface="Arial"/>
                        <a:cs typeface="Arial"/>
                        <a:sym typeface="Arial"/>
                      </a:endParaRPr>
                    </a:p>
                  </a:txBody>
                  <a:tcPr marT="42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3300"/>
                        <a:buFont typeface="Arial"/>
                        <a:buNone/>
                      </a:pPr>
                      <a:r>
                        <a:t/>
                      </a:r>
                      <a:endParaRPr sz="33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64 bits</a:t>
                      </a:r>
                      <a:endParaRPr sz="2400" u="none" cap="none" strike="noStrike">
                        <a:latin typeface="Arial"/>
                        <a:ea typeface="Arial"/>
                        <a:cs typeface="Arial"/>
                        <a:sym typeface="Arial"/>
                      </a:endParaRPr>
                    </a:p>
                  </a:txBody>
                  <a:tcPr marT="422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226059" marR="0" rtl="0" algn="l">
                        <a:lnSpc>
                          <a:spcPct val="875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±4.9E-324 to</a:t>
                      </a:r>
                      <a:endParaRPr sz="2400" u="none" cap="none" strike="noStrike">
                        <a:latin typeface="Arial"/>
                        <a:ea typeface="Arial"/>
                        <a:cs typeface="Arial"/>
                        <a:sym typeface="Arial"/>
                      </a:endParaRPr>
                    </a:p>
                    <a:p>
                      <a:pPr indent="0" lvl="0" marL="226059" marR="0" rtl="0" algn="l">
                        <a:lnSpc>
                          <a:spcPct val="875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±1.797693134</a:t>
                      </a:r>
                      <a:endParaRPr sz="2400" u="none" cap="none" strike="noStrike">
                        <a:latin typeface="Arial"/>
                        <a:ea typeface="Arial"/>
                        <a:cs typeface="Arial"/>
                        <a:sym typeface="Arial"/>
                      </a:endParaRPr>
                    </a:p>
                    <a:p>
                      <a:pPr indent="0" lvl="0" marL="226059" marR="0" rtl="0" algn="l">
                        <a:lnSpc>
                          <a:spcPct val="100000"/>
                        </a:lnSpc>
                        <a:spcBef>
                          <a:spcPts val="2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8623157E+308</a:t>
                      </a:r>
                      <a:endParaRPr sz="2400" u="none" cap="none" strike="noStrike">
                        <a:latin typeface="Arial"/>
                        <a:ea typeface="Arial"/>
                        <a:cs typeface="Arial"/>
                        <a:sym typeface="Arial"/>
                      </a:endParaRPr>
                    </a:p>
                  </a:txBody>
                  <a:tcPr marT="102450"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r>
            </a:tbl>
          </a:graphicData>
        </a:graphic>
      </p:graphicFrame>
      <p:sp>
        <p:nvSpPr>
          <p:cNvPr id="763" name="Google Shape;763;g279ef9b7fc5_0_490"/>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Float Type</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g279ef9b7fc5_0_495"/>
          <p:cNvSpPr txBox="1"/>
          <p:nvPr/>
        </p:nvSpPr>
        <p:spPr>
          <a:xfrm>
            <a:off x="488222" y="887644"/>
            <a:ext cx="11451300" cy="4576200"/>
          </a:xfrm>
          <a:prstGeom prst="rect">
            <a:avLst/>
          </a:prstGeom>
          <a:noFill/>
          <a:ln>
            <a:noFill/>
          </a:ln>
        </p:spPr>
        <p:txBody>
          <a:bodyPr anchorCtr="0" anchor="t" bIns="0" lIns="0" spcFirstLastPara="1" rIns="0" wrap="square" tIns="16925">
            <a:spAutoFit/>
          </a:bodyPr>
          <a:lstStyle/>
          <a:p>
            <a:pPr indent="-712029" lvl="0" marL="728115" marR="8465" rtl="0" algn="l">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In	Java, the	data	type	used	to	store	characters	is  </a:t>
            </a:r>
            <a:r>
              <a:rPr b="1" i="0" lang="en-IN" sz="3200" u="none" cap="none" strike="noStrike">
                <a:solidFill>
                  <a:srgbClr val="FF0000"/>
                </a:solidFill>
                <a:latin typeface="Arial"/>
                <a:ea typeface="Arial"/>
                <a:cs typeface="Arial"/>
                <a:sym typeface="Arial"/>
              </a:rPr>
              <a:t>char.</a:t>
            </a:r>
            <a:endParaRPr b="0" i="0" sz="3200" u="none" cap="none" strike="noStrike">
              <a:solidFill>
                <a:srgbClr val="FF0000"/>
              </a:solidFill>
              <a:latin typeface="Arial"/>
              <a:ea typeface="Arial"/>
              <a:cs typeface="Arial"/>
              <a:sym typeface="Arial"/>
            </a:endParaRPr>
          </a:p>
          <a:p>
            <a:pPr indent="-712029" lvl="0" marL="728115" marR="0" rtl="0" algn="l">
              <a:lnSpc>
                <a:spcPct val="100000"/>
              </a:lnSpc>
              <a:spcBef>
                <a:spcPts val="913"/>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Character is 2 byte(16 bits) wide in Java.</a:t>
            </a:r>
            <a:endParaRPr b="0" i="0" sz="3200" u="none" cap="none" strike="noStrike">
              <a:solidFill>
                <a:schemeClr val="dk1"/>
              </a:solidFill>
              <a:latin typeface="Arial"/>
              <a:ea typeface="Arial"/>
              <a:cs typeface="Arial"/>
              <a:sym typeface="Arial"/>
            </a:endParaRPr>
          </a:p>
          <a:p>
            <a:pPr indent="-712029" lvl="0" marL="728115" marR="0" rtl="0" algn="l">
              <a:lnSpc>
                <a:spcPct val="100000"/>
              </a:lnSpc>
              <a:spcBef>
                <a:spcPts val="527"/>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Java uses </a:t>
            </a:r>
            <a:r>
              <a:rPr b="1" i="0" lang="en-IN" sz="3200" u="none" cap="none" strike="noStrike">
                <a:solidFill>
                  <a:srgbClr val="FF0000"/>
                </a:solidFill>
                <a:latin typeface="Arial"/>
                <a:ea typeface="Arial"/>
                <a:cs typeface="Arial"/>
                <a:sym typeface="Arial"/>
              </a:rPr>
              <a:t>Unicode</a:t>
            </a:r>
            <a:r>
              <a:rPr b="1" i="0" lang="en-IN" sz="3200" u="none" cap="none" strike="noStrike">
                <a:solidFill>
                  <a:schemeClr val="dk1"/>
                </a:solidFill>
                <a:latin typeface="Arial"/>
                <a:ea typeface="Arial"/>
                <a:cs typeface="Arial"/>
                <a:sym typeface="Arial"/>
              </a:rPr>
              <a:t> to represent characters.</a:t>
            </a:r>
            <a:endParaRPr b="0" i="0" sz="3200" u="none" cap="none" strike="noStrike">
              <a:solidFill>
                <a:schemeClr val="dk1"/>
              </a:solidFill>
              <a:latin typeface="Arial"/>
              <a:ea typeface="Arial"/>
              <a:cs typeface="Arial"/>
              <a:sym typeface="Arial"/>
            </a:endParaRPr>
          </a:p>
          <a:p>
            <a:pPr indent="-712029" lvl="0" marL="728115" marR="0" rtl="0" algn="l">
              <a:lnSpc>
                <a:spcPct val="100000"/>
              </a:lnSpc>
              <a:spcBef>
                <a:spcPts val="213"/>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Java support lot of Unicode symbols from many	more</a:t>
            </a:r>
            <a:endParaRPr b="0" i="0" sz="3200" u="none" cap="none" strike="noStrike">
              <a:solidFill>
                <a:schemeClr val="dk1"/>
              </a:solidFill>
              <a:latin typeface="Arial"/>
              <a:ea typeface="Arial"/>
              <a:cs typeface="Arial"/>
              <a:sym typeface="Arial"/>
            </a:endParaRPr>
          </a:p>
          <a:p>
            <a:pPr indent="0" lvl="0" marL="728115" marR="0" rtl="0" algn="l">
              <a:lnSpc>
                <a:spcPct val="100000"/>
              </a:lnSpc>
              <a:spcBef>
                <a:spcPts val="573"/>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human languages for this purpose, it requires	16 bits.</a:t>
            </a:r>
            <a:endParaRPr b="0" i="0" sz="3200" u="none" cap="none" strike="noStrike">
              <a:solidFill>
                <a:schemeClr val="dk1"/>
              </a:solidFill>
              <a:latin typeface="Arial"/>
              <a:ea typeface="Arial"/>
              <a:cs typeface="Arial"/>
              <a:sym typeface="Arial"/>
            </a:endParaRPr>
          </a:p>
          <a:p>
            <a:pPr indent="-712029" lvl="0" marL="728115" marR="0" rtl="0" algn="l">
              <a:lnSpc>
                <a:spcPct val="100000"/>
              </a:lnSpc>
              <a:spcBef>
                <a:spcPts val="913"/>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The range of a char is 0 to 65,536.</a:t>
            </a:r>
            <a:endParaRPr b="0" i="0" sz="3200" u="none" cap="none" strike="noStrike">
              <a:solidFill>
                <a:schemeClr val="dk1"/>
              </a:solidFill>
              <a:latin typeface="Arial"/>
              <a:ea typeface="Arial"/>
              <a:cs typeface="Arial"/>
              <a:sym typeface="Arial"/>
            </a:endParaRPr>
          </a:p>
          <a:p>
            <a:pPr indent="-712029" lvl="0" marL="728115" marR="0" rtl="0" algn="l">
              <a:lnSpc>
                <a:spcPct val="100000"/>
              </a:lnSpc>
              <a:spcBef>
                <a:spcPts val="533"/>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There are no negative chars.</a:t>
            </a:r>
            <a:endParaRPr b="0" i="0" sz="3200" u="none" cap="none" strike="noStrike">
              <a:solidFill>
                <a:schemeClr val="dk1"/>
              </a:solidFill>
              <a:latin typeface="Arial"/>
              <a:ea typeface="Arial"/>
              <a:cs typeface="Arial"/>
              <a:sym typeface="Arial"/>
            </a:endParaRPr>
          </a:p>
        </p:txBody>
      </p:sp>
      <p:sp>
        <p:nvSpPr>
          <p:cNvPr id="769" name="Google Shape;769;g279ef9b7fc5_0_495"/>
          <p:cNvSpPr/>
          <p:nvPr/>
        </p:nvSpPr>
        <p:spPr>
          <a:xfrm>
            <a:off x="3051721" y="149772"/>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D7AC54"/>
                </a:solidFill>
                <a:latin typeface="Cantarell"/>
                <a:ea typeface="Cantarell"/>
                <a:cs typeface="Cantarell"/>
                <a:sym typeface="Cantarell"/>
              </a:rPr>
              <a:t>Char Type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graphicFrame>
        <p:nvGraphicFramePr>
          <p:cNvPr id="774" name="Google Shape;774;g279ef9b7fc5_0_500"/>
          <p:cNvGraphicFramePr/>
          <p:nvPr/>
        </p:nvGraphicFramePr>
        <p:xfrm>
          <a:off x="1289049" y="1682749"/>
          <a:ext cx="3000000" cy="3000000"/>
        </p:xfrm>
        <a:graphic>
          <a:graphicData uri="http://schemas.openxmlformats.org/drawingml/2006/table">
            <a:tbl>
              <a:tblPr bandRow="1" firstRow="1">
                <a:noFill/>
                <a:tableStyleId>{22A61F2D-B97D-49E0-A38F-197A92996402}</a:tableStyleId>
              </a:tblPr>
              <a:tblGrid>
                <a:gridCol w="1888075"/>
                <a:gridCol w="1888075"/>
                <a:gridCol w="1888075"/>
                <a:gridCol w="1888075"/>
                <a:gridCol w="1888075"/>
              </a:tblGrid>
              <a:tr h="1255275">
                <a:tc>
                  <a:txBody>
                    <a:bodyPr/>
                    <a:lstStyle/>
                    <a:p>
                      <a:pPr indent="0" lvl="0" marL="0" marR="0" rtl="0" algn="l">
                        <a:lnSpc>
                          <a:spcPct val="100000"/>
                        </a:lnSpc>
                        <a:spcBef>
                          <a:spcPts val="0"/>
                        </a:spcBef>
                        <a:spcAft>
                          <a:spcPts val="0"/>
                        </a:spcAft>
                        <a:buClr>
                          <a:srgbClr val="000000"/>
                        </a:buClr>
                        <a:buSzPts val="3000"/>
                        <a:buFont typeface="Arial"/>
                        <a:buNone/>
                      </a:pPr>
                      <a:r>
                        <a:t/>
                      </a:r>
                      <a:endParaRPr sz="3000" u="none" cap="none" strike="noStrike">
                        <a:latin typeface="Times New Roman"/>
                        <a:ea typeface="Times New Roman"/>
                        <a:cs typeface="Times New Roman"/>
                        <a:sym typeface="Times New Roman"/>
                      </a:endParaRPr>
                    </a:p>
                    <a:p>
                      <a:pPr indent="0" lvl="0" marL="441958" marR="0" rtl="0" algn="l">
                        <a:lnSpc>
                          <a:spcPct val="100000"/>
                        </a:lnSpc>
                        <a:spcBef>
                          <a:spcPts val="0"/>
                        </a:spcBef>
                        <a:spcAft>
                          <a:spcPts val="0"/>
                        </a:spcAft>
                        <a:buClr>
                          <a:srgbClr val="000000"/>
                        </a:buClr>
                        <a:buSzPts val="2400"/>
                        <a:buFont typeface="Arial"/>
                        <a:buNone/>
                      </a:pPr>
                      <a:r>
                        <a:rPr b="1" lang="en-IN" sz="2400" u="none" cap="none" strike="noStrike">
                          <a:solidFill>
                            <a:srgbClr val="EDFF41"/>
                          </a:solidFill>
                          <a:latin typeface="Arial"/>
                          <a:ea typeface="Arial"/>
                          <a:cs typeface="Arial"/>
                          <a:sym typeface="Arial"/>
                        </a:rPr>
                        <a:t>Type</a:t>
                      </a:r>
                      <a:endParaRPr sz="2400" u="none" cap="none" strike="noStrike">
                        <a:latin typeface="Arial"/>
                        <a:ea typeface="Arial"/>
                        <a:cs typeface="Arial"/>
                        <a:sym typeface="Arial"/>
                      </a:endParaRPr>
                    </a:p>
                  </a:txBody>
                  <a:tcPr marT="337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3000"/>
                        <a:buFont typeface="Arial"/>
                        <a:buNone/>
                      </a:pPr>
                      <a:r>
                        <a:t/>
                      </a:r>
                      <a:endParaRPr sz="3000" u="none" cap="none" strike="noStrike">
                        <a:latin typeface="Times New Roman"/>
                        <a:ea typeface="Times New Roman"/>
                        <a:cs typeface="Times New Roman"/>
                        <a:sym typeface="Times New Roman"/>
                      </a:endParaRPr>
                    </a:p>
                    <a:p>
                      <a:pPr indent="0" lvl="0" marL="217803" marR="0" rtl="0" algn="l">
                        <a:lnSpc>
                          <a:spcPct val="100000"/>
                        </a:lnSpc>
                        <a:spcBef>
                          <a:spcPts val="0"/>
                        </a:spcBef>
                        <a:spcAft>
                          <a:spcPts val="0"/>
                        </a:spcAft>
                        <a:buClr>
                          <a:srgbClr val="000000"/>
                        </a:buClr>
                        <a:buSzPts val="2400"/>
                        <a:buFont typeface="Arial"/>
                        <a:buNone/>
                      </a:pPr>
                      <a:r>
                        <a:rPr b="1" lang="en-IN" sz="2400" u="none" cap="none" strike="noStrike">
                          <a:solidFill>
                            <a:srgbClr val="EDFF41"/>
                          </a:solidFill>
                          <a:latin typeface="Arial"/>
                          <a:ea typeface="Arial"/>
                          <a:cs typeface="Arial"/>
                          <a:sym typeface="Arial"/>
                        </a:rPr>
                        <a:t>Contains</a:t>
                      </a:r>
                      <a:endParaRPr sz="2400" u="none" cap="none" strike="noStrike">
                        <a:latin typeface="Arial"/>
                        <a:ea typeface="Arial"/>
                        <a:cs typeface="Arial"/>
                        <a:sym typeface="Arial"/>
                      </a:endParaRPr>
                    </a:p>
                  </a:txBody>
                  <a:tcPr marT="337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3000"/>
                        <a:buFont typeface="Arial"/>
                        <a:buNone/>
                      </a:pPr>
                      <a:r>
                        <a:t/>
                      </a:r>
                      <a:endParaRPr sz="3000" u="none" cap="none" strike="noStrike">
                        <a:latin typeface="Times New Roman"/>
                        <a:ea typeface="Times New Roman"/>
                        <a:cs typeface="Times New Roman"/>
                        <a:sym typeface="Times New Roman"/>
                      </a:endParaRPr>
                    </a:p>
                    <a:p>
                      <a:pPr indent="0" lvl="0" marL="0" marR="311785" rtl="0" algn="r">
                        <a:lnSpc>
                          <a:spcPct val="100000"/>
                        </a:lnSpc>
                        <a:spcBef>
                          <a:spcPts val="0"/>
                        </a:spcBef>
                        <a:spcAft>
                          <a:spcPts val="0"/>
                        </a:spcAft>
                        <a:buClr>
                          <a:srgbClr val="000000"/>
                        </a:buClr>
                        <a:buSzPts val="2400"/>
                        <a:buFont typeface="Arial"/>
                        <a:buNone/>
                      </a:pPr>
                      <a:r>
                        <a:rPr b="1" lang="en-IN" sz="2400" u="none" cap="none" strike="noStrike">
                          <a:solidFill>
                            <a:srgbClr val="EDFF41"/>
                          </a:solidFill>
                          <a:latin typeface="Arial"/>
                          <a:ea typeface="Arial"/>
                          <a:cs typeface="Arial"/>
                          <a:sym typeface="Arial"/>
                        </a:rPr>
                        <a:t>Default</a:t>
                      </a:r>
                      <a:endParaRPr sz="2400" u="none" cap="none" strike="noStrike">
                        <a:latin typeface="Arial"/>
                        <a:ea typeface="Arial"/>
                        <a:cs typeface="Arial"/>
                        <a:sym typeface="Arial"/>
                      </a:endParaRPr>
                    </a:p>
                  </a:txBody>
                  <a:tcPr marT="337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3000"/>
                        <a:buFont typeface="Arial"/>
                        <a:buNone/>
                      </a:pPr>
                      <a:r>
                        <a:t/>
                      </a:r>
                      <a:endParaRPr sz="3000" u="none" cap="none" strike="noStrike">
                        <a:latin typeface="Times New Roman"/>
                        <a:ea typeface="Times New Roman"/>
                        <a:cs typeface="Times New Roman"/>
                        <a:sym typeface="Times New Roman"/>
                      </a:endParaRPr>
                    </a:p>
                    <a:p>
                      <a:pPr indent="0" lvl="0" marL="635" marR="0" rtl="0" algn="ctr">
                        <a:lnSpc>
                          <a:spcPct val="100000"/>
                        </a:lnSpc>
                        <a:spcBef>
                          <a:spcPts val="0"/>
                        </a:spcBef>
                        <a:spcAft>
                          <a:spcPts val="0"/>
                        </a:spcAft>
                        <a:buClr>
                          <a:srgbClr val="000000"/>
                        </a:buClr>
                        <a:buSzPts val="2400"/>
                        <a:buFont typeface="Arial"/>
                        <a:buNone/>
                      </a:pPr>
                      <a:r>
                        <a:rPr b="1" lang="en-IN" sz="2400" u="none" cap="none" strike="noStrike">
                          <a:solidFill>
                            <a:srgbClr val="EDFF41"/>
                          </a:solidFill>
                          <a:latin typeface="Arial"/>
                          <a:ea typeface="Arial"/>
                          <a:cs typeface="Arial"/>
                          <a:sym typeface="Arial"/>
                        </a:rPr>
                        <a:t>Size</a:t>
                      </a:r>
                      <a:endParaRPr sz="2400" u="none" cap="none" strike="noStrike">
                        <a:latin typeface="Arial"/>
                        <a:ea typeface="Arial"/>
                        <a:cs typeface="Arial"/>
                        <a:sym typeface="Arial"/>
                      </a:endParaRPr>
                    </a:p>
                  </a:txBody>
                  <a:tcPr marT="337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3000"/>
                        <a:buFont typeface="Arial"/>
                        <a:buNone/>
                      </a:pPr>
                      <a:r>
                        <a:t/>
                      </a:r>
                      <a:endParaRPr sz="3000" u="none" cap="none" strike="noStrike">
                        <a:latin typeface="Times New Roman"/>
                        <a:ea typeface="Times New Roman"/>
                        <a:cs typeface="Times New Roman"/>
                        <a:sym typeface="Times New Roman"/>
                      </a:endParaRPr>
                    </a:p>
                    <a:p>
                      <a:pPr indent="0" lvl="0" marL="358775" marR="0" rtl="0" algn="l">
                        <a:lnSpc>
                          <a:spcPct val="100000"/>
                        </a:lnSpc>
                        <a:spcBef>
                          <a:spcPts val="0"/>
                        </a:spcBef>
                        <a:spcAft>
                          <a:spcPts val="0"/>
                        </a:spcAft>
                        <a:buClr>
                          <a:srgbClr val="000000"/>
                        </a:buClr>
                        <a:buSzPts val="2400"/>
                        <a:buFont typeface="Arial"/>
                        <a:buNone/>
                      </a:pPr>
                      <a:r>
                        <a:rPr b="1" lang="en-IN" sz="2400" u="none" cap="none" strike="noStrike">
                          <a:solidFill>
                            <a:srgbClr val="EDFF41"/>
                          </a:solidFill>
                          <a:latin typeface="Arial"/>
                          <a:ea typeface="Arial"/>
                          <a:cs typeface="Arial"/>
                          <a:sym typeface="Arial"/>
                        </a:rPr>
                        <a:t>Range</a:t>
                      </a:r>
                      <a:endParaRPr sz="2400" u="none" cap="none" strike="noStrike">
                        <a:latin typeface="Arial"/>
                        <a:ea typeface="Arial"/>
                        <a:cs typeface="Arial"/>
                        <a:sym typeface="Arial"/>
                      </a:endParaRPr>
                    </a:p>
                  </a:txBody>
                  <a:tcPr marT="3375"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r>
              <a:tr h="1807625">
                <a:tc>
                  <a:txBody>
                    <a:bodyPr/>
                    <a:lstStyle/>
                    <a:p>
                      <a:pPr indent="0" lvl="0" marL="0" marR="0" rtl="0" algn="l">
                        <a:lnSpc>
                          <a:spcPct val="100000"/>
                        </a:lnSpc>
                        <a:spcBef>
                          <a:spcPts val="0"/>
                        </a:spcBef>
                        <a:spcAft>
                          <a:spcPts val="0"/>
                        </a:spcAft>
                        <a:buClr>
                          <a:srgbClr val="000000"/>
                        </a:buClr>
                        <a:buSzPts val="2700"/>
                        <a:buFont typeface="Arial"/>
                        <a:buNone/>
                      </a:pPr>
                      <a:r>
                        <a:t/>
                      </a:r>
                      <a:endParaRPr sz="2700" u="none" cap="none" strike="noStrike">
                        <a:latin typeface="Times New Roman"/>
                        <a:ea typeface="Times New Roman"/>
                        <a:cs typeface="Times New Roman"/>
                        <a:sym typeface="Times New Roman"/>
                      </a:endParaRPr>
                    </a:p>
                    <a:p>
                      <a:pPr indent="0" lvl="0" marL="0" marR="0" rtl="0" algn="l">
                        <a:lnSpc>
                          <a:spcPct val="100000"/>
                        </a:lnSpc>
                        <a:spcBef>
                          <a:spcPts val="10"/>
                        </a:spcBef>
                        <a:spcAft>
                          <a:spcPts val="0"/>
                        </a:spcAft>
                        <a:buClr>
                          <a:srgbClr val="000000"/>
                        </a:buClr>
                        <a:buSzPts val="3500"/>
                        <a:buFont typeface="Arial"/>
                        <a:buNone/>
                      </a:pPr>
                      <a:r>
                        <a:t/>
                      </a:r>
                      <a:endParaRPr sz="3500" u="none" cap="none" strike="noStrike">
                        <a:latin typeface="Times New Roman"/>
                        <a:ea typeface="Times New Roman"/>
                        <a:cs typeface="Times New Roman"/>
                        <a:sym typeface="Times New Roman"/>
                      </a:endParaRPr>
                    </a:p>
                    <a:p>
                      <a:pPr indent="0" lvl="0" marL="466090" marR="0" rtl="0" algn="l">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char</a:t>
                      </a:r>
                      <a:endParaRPr sz="2400" u="none" cap="none" strike="noStrike">
                        <a:latin typeface="Arial"/>
                        <a:ea typeface="Arial"/>
                        <a:cs typeface="Arial"/>
                        <a:sym typeface="Arial"/>
                      </a:endParaRPr>
                    </a:p>
                  </a:txBody>
                  <a:tcPr marT="0"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2700"/>
                        <a:buFont typeface="Arial"/>
                        <a:buNone/>
                      </a:pPr>
                      <a:r>
                        <a:t/>
                      </a:r>
                      <a:endParaRPr sz="2700" u="none" cap="none" strike="noStrike">
                        <a:latin typeface="Times New Roman"/>
                        <a:ea typeface="Times New Roman"/>
                        <a:cs typeface="Times New Roman"/>
                        <a:sym typeface="Times New Roman"/>
                      </a:endParaRPr>
                    </a:p>
                    <a:p>
                      <a:pPr indent="60958" lvl="0" marL="194945" marR="186690" rtl="0" algn="l">
                        <a:lnSpc>
                          <a:spcPct val="101099"/>
                        </a:lnSpc>
                        <a:spcBef>
                          <a:spcPts val="180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Unicode  character</a:t>
                      </a:r>
                      <a:endParaRPr sz="2400" u="none" cap="none" strike="noStrike">
                        <a:latin typeface="Arial"/>
                        <a:ea typeface="Arial"/>
                        <a:cs typeface="Arial"/>
                        <a:sym typeface="Arial"/>
                      </a:endParaRPr>
                    </a:p>
                  </a:txBody>
                  <a:tcPr marT="0"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2700"/>
                        <a:buFont typeface="Arial"/>
                        <a:buNone/>
                      </a:pPr>
                      <a:r>
                        <a:t/>
                      </a:r>
                      <a:endParaRPr sz="27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300"/>
                        <a:buFont typeface="Arial"/>
                        <a:buNone/>
                      </a:pPr>
                      <a:r>
                        <a:t/>
                      </a:r>
                      <a:endParaRPr sz="3300" u="none" cap="none" strike="noStrike">
                        <a:latin typeface="Times New Roman"/>
                        <a:ea typeface="Times New Roman"/>
                        <a:cs typeface="Times New Roman"/>
                        <a:sym typeface="Times New Roman"/>
                      </a:endParaRPr>
                    </a:p>
                    <a:p>
                      <a:pPr indent="0" lvl="0" marL="0" marR="344170" rtl="0" algn="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\u0000</a:t>
                      </a:r>
                      <a:endParaRPr sz="2400" u="none" cap="none" strike="noStrike">
                        <a:latin typeface="Arial"/>
                        <a:ea typeface="Arial"/>
                        <a:cs typeface="Arial"/>
                        <a:sym typeface="Arial"/>
                      </a:endParaRPr>
                    </a:p>
                  </a:txBody>
                  <a:tcPr marT="0"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2700"/>
                        <a:buFont typeface="Arial"/>
                        <a:buNone/>
                      </a:pPr>
                      <a:r>
                        <a:t/>
                      </a:r>
                      <a:endParaRPr sz="2700" u="none" cap="none" strike="noStrike">
                        <a:latin typeface="Times New Roman"/>
                        <a:ea typeface="Times New Roman"/>
                        <a:cs typeface="Times New Roman"/>
                        <a:sym typeface="Times New Roman"/>
                      </a:endParaRPr>
                    </a:p>
                    <a:p>
                      <a:pPr indent="0" lvl="0" marL="0" marR="0" rtl="0" algn="l">
                        <a:lnSpc>
                          <a:spcPct val="100000"/>
                        </a:lnSpc>
                        <a:spcBef>
                          <a:spcPts val="10"/>
                        </a:spcBef>
                        <a:spcAft>
                          <a:spcPts val="0"/>
                        </a:spcAft>
                        <a:buClr>
                          <a:srgbClr val="000000"/>
                        </a:buClr>
                        <a:buSzPts val="3500"/>
                        <a:buFont typeface="Arial"/>
                        <a:buNone/>
                      </a:pPr>
                      <a:r>
                        <a:t/>
                      </a:r>
                      <a:endParaRPr sz="3500" u="none" cap="none" strike="noStrike">
                        <a:latin typeface="Times New Roman"/>
                        <a:ea typeface="Times New Roman"/>
                        <a:cs typeface="Times New Roman"/>
                        <a:sym typeface="Times New Roman"/>
                      </a:endParaRPr>
                    </a:p>
                    <a:p>
                      <a:pPr indent="0" lvl="0" marL="1270" marR="0" rtl="0" algn="ctr">
                        <a:lnSpc>
                          <a:spcPct val="100000"/>
                        </a:lnSpc>
                        <a:spcBef>
                          <a:spcPts val="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16 bits</a:t>
                      </a:r>
                      <a:endParaRPr sz="2400" u="none" cap="none" strike="noStrike">
                        <a:latin typeface="Arial"/>
                        <a:ea typeface="Arial"/>
                        <a:cs typeface="Arial"/>
                        <a:sym typeface="Arial"/>
                      </a:endParaRPr>
                    </a:p>
                  </a:txBody>
                  <a:tcPr marT="0"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2700"/>
                        <a:buFont typeface="Arial"/>
                        <a:buNone/>
                      </a:pPr>
                      <a:r>
                        <a:t/>
                      </a:r>
                      <a:endParaRPr sz="2700" u="none" cap="none" strike="noStrike">
                        <a:latin typeface="Times New Roman"/>
                        <a:ea typeface="Times New Roman"/>
                        <a:cs typeface="Times New Roman"/>
                        <a:sym typeface="Times New Roman"/>
                      </a:endParaRPr>
                    </a:p>
                    <a:p>
                      <a:pPr indent="0" lvl="0" marL="635" marR="0" rtl="0" algn="ctr">
                        <a:lnSpc>
                          <a:spcPct val="100000"/>
                        </a:lnSpc>
                        <a:spcBef>
                          <a:spcPts val="1545"/>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\u0000	to</a:t>
                      </a:r>
                      <a:endParaRPr sz="2400" u="none" cap="none" strike="noStrike">
                        <a:latin typeface="Arial"/>
                        <a:ea typeface="Arial"/>
                        <a:cs typeface="Arial"/>
                        <a:sym typeface="Arial"/>
                      </a:endParaRPr>
                    </a:p>
                    <a:p>
                      <a:pPr indent="0" lvl="0" marL="0" marR="0" rtl="0" algn="ctr">
                        <a:lnSpc>
                          <a:spcPct val="100000"/>
                        </a:lnSpc>
                        <a:spcBef>
                          <a:spcPts val="20"/>
                        </a:spcBef>
                        <a:spcAft>
                          <a:spcPts val="0"/>
                        </a:spcAft>
                        <a:buClr>
                          <a:srgbClr val="000000"/>
                        </a:buClr>
                        <a:buSzPts val="2400"/>
                        <a:buFont typeface="Arial"/>
                        <a:buNone/>
                      </a:pPr>
                      <a:r>
                        <a:rPr b="1" lang="en-IN" sz="2400" u="none" cap="none" strike="noStrike">
                          <a:solidFill>
                            <a:srgbClr val="FFFFFF"/>
                          </a:solidFill>
                          <a:latin typeface="Arial"/>
                          <a:ea typeface="Arial"/>
                          <a:cs typeface="Arial"/>
                          <a:sym typeface="Arial"/>
                        </a:rPr>
                        <a:t>\uFFFF</a:t>
                      </a:r>
                      <a:endParaRPr sz="2400" u="none" cap="none" strike="noStrike">
                        <a:latin typeface="Arial"/>
                        <a:ea typeface="Arial"/>
                        <a:cs typeface="Arial"/>
                        <a:sym typeface="Arial"/>
                      </a:endParaRPr>
                    </a:p>
                  </a:txBody>
                  <a:tcPr marT="0" marB="0" marR="0" marL="0">
                    <a:lnL cap="flat" cmpd="sng" w="28575">
                      <a:solidFill>
                        <a:srgbClr val="FFAB40"/>
                      </a:solidFill>
                      <a:prstDash val="solid"/>
                      <a:round/>
                      <a:headEnd len="sm" w="sm" type="none"/>
                      <a:tailEnd len="sm" w="sm" type="none"/>
                    </a:lnL>
                    <a:lnR cap="flat" cmpd="sng" w="28575">
                      <a:solidFill>
                        <a:srgbClr val="FFAB40"/>
                      </a:solidFill>
                      <a:prstDash val="solid"/>
                      <a:round/>
                      <a:headEnd len="sm" w="sm" type="none"/>
                      <a:tailEnd len="sm" w="sm" type="none"/>
                    </a:lnR>
                    <a:lnT cap="flat" cmpd="sng" w="28575">
                      <a:solidFill>
                        <a:srgbClr val="FFAB40"/>
                      </a:solidFill>
                      <a:prstDash val="solid"/>
                      <a:round/>
                      <a:headEnd len="sm" w="sm" type="none"/>
                      <a:tailEnd len="sm" w="sm" type="none"/>
                    </a:lnT>
                    <a:lnB cap="flat" cmpd="sng" w="28575">
                      <a:solidFill>
                        <a:srgbClr val="FFAB40"/>
                      </a:solidFill>
                      <a:prstDash val="solid"/>
                      <a:round/>
                      <a:headEnd len="sm" w="sm" type="none"/>
                      <a:tailEnd len="sm" w="sm" type="none"/>
                    </a:lnB>
                    <a:solidFill>
                      <a:srgbClr val="000000"/>
                    </a:solidFill>
                  </a:tcPr>
                </a:tc>
              </a:tr>
            </a:tbl>
          </a:graphicData>
        </a:graphic>
      </p:graphicFrame>
      <p:sp>
        <p:nvSpPr>
          <p:cNvPr id="775" name="Google Shape;775;g279ef9b7fc5_0_500"/>
          <p:cNvSpPr/>
          <p:nvPr/>
        </p:nvSpPr>
        <p:spPr>
          <a:xfrm>
            <a:off x="3105509" y="5083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Char Type</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g279ef9b7fc5_0_505"/>
          <p:cNvSpPr txBox="1"/>
          <p:nvPr/>
        </p:nvSpPr>
        <p:spPr>
          <a:xfrm>
            <a:off x="491067" y="1360423"/>
            <a:ext cx="11107500" cy="2898600"/>
          </a:xfrm>
          <a:prstGeom prst="rect">
            <a:avLst/>
          </a:prstGeom>
          <a:noFill/>
          <a:ln>
            <a:noFill/>
          </a:ln>
        </p:spPr>
        <p:txBody>
          <a:bodyPr anchorCtr="0" anchor="t" bIns="0" lIns="0" spcFirstLastPara="1" rIns="0" wrap="square" tIns="16925">
            <a:spAutoFit/>
          </a:bodyPr>
          <a:lstStyle/>
          <a:p>
            <a:pPr indent="0" lvl="0" marL="16932" marR="305639" rtl="0" algn="l">
              <a:lnSpc>
                <a:spcPct val="100000"/>
              </a:lnSpc>
              <a:spcBef>
                <a:spcPts val="0"/>
              </a:spcBef>
              <a:spcAft>
                <a:spcPts val="0"/>
              </a:spcAft>
              <a:buClr>
                <a:srgbClr val="000000"/>
              </a:buClr>
              <a:buSzPts val="2400"/>
              <a:buFont typeface="Arial"/>
              <a:buNone/>
            </a:pPr>
            <a:r>
              <a:rPr b="0" i="0" lang="en-IN" sz="2400" u="none" cap="none" strike="noStrike">
                <a:solidFill>
                  <a:schemeClr val="dk1"/>
                </a:solidFill>
                <a:latin typeface="Calibri"/>
                <a:ea typeface="Calibri"/>
                <a:cs typeface="Calibri"/>
                <a:sym typeface="Calibri"/>
              </a:rPr>
              <a:t>It is because java uses Unicode system not ASCII code system. The \u0000 is the lowest  range of Unicode system.</a:t>
            </a:r>
            <a:endParaRPr b="0" i="0" sz="2400" u="none" cap="none" strike="noStrike">
              <a:solidFill>
                <a:schemeClr val="dk1"/>
              </a:solidFill>
              <a:latin typeface="Calibri"/>
              <a:ea typeface="Calibri"/>
              <a:cs typeface="Calibri"/>
              <a:sym typeface="Calibri"/>
            </a:endParaRPr>
          </a:p>
          <a:p>
            <a:pPr indent="0" lvl="0" marL="16932" marR="6772" rtl="0" algn="l">
              <a:lnSpc>
                <a:spcPct val="100000"/>
              </a:lnSpc>
              <a:spcBef>
                <a:spcPts val="573"/>
              </a:spcBef>
              <a:spcAft>
                <a:spcPts val="0"/>
              </a:spcAft>
              <a:buClr>
                <a:srgbClr val="000000"/>
              </a:buClr>
              <a:buSzPts val="2400"/>
              <a:buFont typeface="Arial"/>
              <a:buNone/>
            </a:pPr>
            <a:r>
              <a:rPr b="0" i="0" lang="en-IN" sz="2400" u="none" cap="none" strike="noStrike">
                <a:solidFill>
                  <a:schemeClr val="dk1"/>
                </a:solidFill>
                <a:latin typeface="Calibri"/>
                <a:ea typeface="Calibri"/>
                <a:cs typeface="Calibri"/>
                <a:sym typeface="Calibri"/>
              </a:rPr>
              <a:t>Before Unicode, there were many language standards:ASCII (American Standard Code for  Information Interchange) for the United States.</a:t>
            </a:r>
            <a:endParaRPr b="0" i="0" sz="2400" u="none" cap="none" strike="noStrike">
              <a:solidFill>
                <a:schemeClr val="dk1"/>
              </a:solidFill>
              <a:latin typeface="Calibri"/>
              <a:ea typeface="Calibri"/>
              <a:cs typeface="Calibri"/>
              <a:sym typeface="Calibri"/>
            </a:endParaRPr>
          </a:p>
          <a:p>
            <a:pPr indent="0" lvl="0" marL="16932" marR="5572621" rtl="0" algn="l">
              <a:lnSpc>
                <a:spcPct val="120000"/>
              </a:lnSpc>
              <a:spcBef>
                <a:spcPts val="0"/>
              </a:spcBef>
              <a:spcAft>
                <a:spcPts val="0"/>
              </a:spcAft>
              <a:buClr>
                <a:srgbClr val="000000"/>
              </a:buClr>
              <a:buSzPts val="2400"/>
              <a:buFont typeface="Arial"/>
              <a:buNone/>
            </a:pPr>
            <a:r>
              <a:rPr b="0" i="0" lang="en-IN" sz="2400" u="none" cap="none" strike="noStrike">
                <a:solidFill>
                  <a:schemeClr val="dk1"/>
                </a:solidFill>
                <a:latin typeface="Calibri"/>
                <a:ea typeface="Calibri"/>
                <a:cs typeface="Calibri"/>
                <a:sym typeface="Calibri"/>
              </a:rPr>
              <a:t>ISO 8859-1 for Western European Language.  KOI-8 for Russian.</a:t>
            </a:r>
            <a:endParaRPr b="0" i="0" sz="1400" u="none" cap="none" strike="noStrike">
              <a:solidFill>
                <a:srgbClr val="000000"/>
              </a:solidFill>
              <a:latin typeface="Arial"/>
              <a:ea typeface="Arial"/>
              <a:cs typeface="Arial"/>
              <a:sym typeface="Arial"/>
            </a:endParaRPr>
          </a:p>
          <a:p>
            <a:pPr indent="0" lvl="0" marL="16932" marR="0" rtl="0" algn="l">
              <a:lnSpc>
                <a:spcPct val="100000"/>
              </a:lnSpc>
              <a:spcBef>
                <a:spcPts val="579"/>
              </a:spcBef>
              <a:spcAft>
                <a:spcPts val="0"/>
              </a:spcAft>
              <a:buClr>
                <a:srgbClr val="000000"/>
              </a:buClr>
              <a:buSzPts val="2400"/>
              <a:buFont typeface="Arial"/>
              <a:buNone/>
            </a:pPr>
            <a:r>
              <a:rPr b="0" i="0" lang="en-IN" sz="2400" u="none" cap="none" strike="noStrike">
                <a:solidFill>
                  <a:schemeClr val="dk1"/>
                </a:solidFill>
                <a:latin typeface="Calibri"/>
                <a:ea typeface="Calibri"/>
                <a:cs typeface="Calibri"/>
                <a:sym typeface="Calibri"/>
              </a:rPr>
              <a:t>GB18030 and BIG-5 for chinese, and so on.</a:t>
            </a:r>
            <a:endParaRPr b="0" i="0" sz="2400" u="none" cap="none" strike="noStrike">
              <a:solidFill>
                <a:schemeClr val="dk1"/>
              </a:solidFill>
              <a:latin typeface="Calibri"/>
              <a:ea typeface="Calibri"/>
              <a:cs typeface="Calibri"/>
              <a:sym typeface="Calibri"/>
            </a:endParaRPr>
          </a:p>
        </p:txBody>
      </p:sp>
      <p:sp>
        <p:nvSpPr>
          <p:cNvPr id="781" name="Google Shape;781;g279ef9b7fc5_0_505"/>
          <p:cNvSpPr/>
          <p:nvPr/>
        </p:nvSpPr>
        <p:spPr>
          <a:xfrm>
            <a:off x="2800709" y="242888"/>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WHY CHAR USES 2 BYTE IN JAVA AND  WHAT IS \U0000 ?</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g279ef9b7fc5_0_510"/>
          <p:cNvSpPr txBox="1"/>
          <p:nvPr/>
        </p:nvSpPr>
        <p:spPr>
          <a:xfrm>
            <a:off x="592667" y="1462023"/>
            <a:ext cx="11096400" cy="4524000"/>
          </a:xfrm>
          <a:prstGeom prst="rect">
            <a:avLst/>
          </a:prstGeom>
          <a:noFill/>
          <a:ln>
            <a:noFill/>
          </a:ln>
        </p:spPr>
        <p:txBody>
          <a:bodyPr anchorCtr="0" anchor="t" bIns="0" lIns="0" spcFirstLastPara="1" rIns="0" wrap="square" tIns="16925">
            <a:spAutoFit/>
          </a:bodyPr>
          <a:lstStyle/>
          <a:p>
            <a:pPr indent="-143954" lvl="0" marL="16932" marR="6772" rtl="0" algn="l">
              <a:lnSpc>
                <a:spcPct val="100000"/>
              </a:lnSpc>
              <a:spcBef>
                <a:spcPts val="0"/>
              </a:spcBef>
              <a:spcAft>
                <a:spcPts val="0"/>
              </a:spcAft>
              <a:buClr>
                <a:schemeClr val="dk1"/>
              </a:buClr>
              <a:buSzPts val="2267"/>
              <a:buFont typeface="Calibri"/>
              <a:buChar char="•"/>
            </a:pPr>
            <a:r>
              <a:rPr b="0" i="0" lang="en-IN" sz="2400" u="none" cap="none" strike="noStrike">
                <a:solidFill>
                  <a:schemeClr val="dk1"/>
                </a:solidFill>
                <a:latin typeface="Calibri"/>
                <a:ea typeface="Calibri"/>
                <a:cs typeface="Calibri"/>
                <a:sym typeface="Calibri"/>
              </a:rPr>
              <a:t>This caused two problems:A particular code value corresponds to different letters in the  various language standards.</a:t>
            </a:r>
            <a:endParaRPr b="0" i="0" sz="2400" u="none" cap="none" strike="noStrike">
              <a:solidFill>
                <a:schemeClr val="dk1"/>
              </a:solidFill>
              <a:latin typeface="Calibri"/>
              <a:ea typeface="Calibri"/>
              <a:cs typeface="Calibri"/>
              <a:sym typeface="Calibri"/>
            </a:endParaRPr>
          </a:p>
          <a:p>
            <a:pPr indent="-153243" lvl="0" marL="169329" marR="0" rtl="0" algn="l">
              <a:lnSpc>
                <a:spcPct val="100000"/>
              </a:lnSpc>
              <a:spcBef>
                <a:spcPts val="573"/>
              </a:spcBef>
              <a:spcAft>
                <a:spcPts val="0"/>
              </a:spcAft>
              <a:buClr>
                <a:schemeClr val="dk1"/>
              </a:buClr>
              <a:buSzPts val="2267"/>
              <a:buFont typeface="Calibri"/>
              <a:buChar char="•"/>
            </a:pPr>
            <a:r>
              <a:rPr b="0" i="0" lang="en-IN" sz="2400" u="none" cap="none" strike="noStrike">
                <a:solidFill>
                  <a:schemeClr val="dk1"/>
                </a:solidFill>
                <a:latin typeface="Calibri"/>
                <a:ea typeface="Calibri"/>
                <a:cs typeface="Calibri"/>
                <a:sym typeface="Calibri"/>
              </a:rPr>
              <a:t>The encodings for languages with large character sets have variable length.Some</a:t>
            </a:r>
            <a:endParaRPr b="0" i="0" sz="1400" u="none" cap="none" strike="noStrike">
              <a:solidFill>
                <a:srgbClr val="000000"/>
              </a:solidFill>
              <a:latin typeface="Arial"/>
              <a:ea typeface="Arial"/>
              <a:cs typeface="Arial"/>
              <a:sym typeface="Arial"/>
            </a:endParaRPr>
          </a:p>
          <a:p>
            <a:pPr indent="0" lvl="0" marL="16932" marR="0" rtl="0" algn="l">
              <a:lnSpc>
                <a:spcPct val="100000"/>
              </a:lnSpc>
              <a:spcBef>
                <a:spcPts val="0"/>
              </a:spcBef>
              <a:spcAft>
                <a:spcPts val="0"/>
              </a:spcAft>
              <a:buClr>
                <a:srgbClr val="000000"/>
              </a:buClr>
              <a:buSzPts val="2400"/>
              <a:buFont typeface="Arial"/>
              <a:buNone/>
            </a:pPr>
            <a:r>
              <a:rPr b="0" i="0" lang="en-IN" sz="2400" u="none" cap="none" strike="noStrike">
                <a:solidFill>
                  <a:schemeClr val="dk1"/>
                </a:solidFill>
                <a:latin typeface="Calibri"/>
                <a:ea typeface="Calibri"/>
                <a:cs typeface="Calibri"/>
                <a:sym typeface="Calibri"/>
              </a:rPr>
              <a:t>common characters are encoded as single bytes, other require two or more byte.</a:t>
            </a:r>
            <a:endParaRPr b="0" i="0" sz="2400" u="none" cap="none" strike="noStrike">
              <a:solidFill>
                <a:schemeClr val="dk1"/>
              </a:solidFill>
              <a:latin typeface="Calibri"/>
              <a:ea typeface="Calibri"/>
              <a:cs typeface="Calibri"/>
              <a:sym typeface="Calibri"/>
            </a:endParaRPr>
          </a:p>
          <a:p>
            <a:pPr indent="-153243" lvl="0" marL="169329" marR="0" rtl="0" algn="l">
              <a:lnSpc>
                <a:spcPct val="100000"/>
              </a:lnSpc>
              <a:spcBef>
                <a:spcPts val="579"/>
              </a:spcBef>
              <a:spcAft>
                <a:spcPts val="0"/>
              </a:spcAft>
              <a:buClr>
                <a:schemeClr val="dk1"/>
              </a:buClr>
              <a:buSzPts val="2267"/>
              <a:buFont typeface="Calibri"/>
              <a:buChar char="•"/>
            </a:pPr>
            <a:r>
              <a:rPr b="0" i="0" lang="en-IN" sz="2400" u="none" cap="none" strike="noStrike">
                <a:solidFill>
                  <a:schemeClr val="dk1"/>
                </a:solidFill>
                <a:latin typeface="Calibri"/>
                <a:ea typeface="Calibri"/>
                <a:cs typeface="Calibri"/>
                <a:sym typeface="Calibri"/>
              </a:rPr>
              <a:t>Solution</a:t>
            </a:r>
            <a:endParaRPr b="0" i="0" sz="2400" u="none" cap="none" strike="noStrike">
              <a:solidFill>
                <a:schemeClr val="dk1"/>
              </a:solidFill>
              <a:latin typeface="Calibri"/>
              <a:ea typeface="Calibri"/>
              <a:cs typeface="Calibri"/>
              <a:sym typeface="Calibri"/>
            </a:endParaRPr>
          </a:p>
          <a:p>
            <a:pPr indent="-143954" lvl="0" marL="16932" marR="176949" rtl="0" algn="l">
              <a:lnSpc>
                <a:spcPct val="100000"/>
              </a:lnSpc>
              <a:spcBef>
                <a:spcPts val="573"/>
              </a:spcBef>
              <a:spcAft>
                <a:spcPts val="0"/>
              </a:spcAft>
              <a:buClr>
                <a:schemeClr val="dk1"/>
              </a:buClr>
              <a:buSzPts val="2267"/>
              <a:buFont typeface="Calibri"/>
              <a:buChar char="•"/>
            </a:pPr>
            <a:r>
              <a:rPr b="0" i="0" lang="en-IN" sz="2400" u="none" cap="none" strike="noStrike">
                <a:solidFill>
                  <a:schemeClr val="dk1"/>
                </a:solidFill>
                <a:latin typeface="Calibri"/>
                <a:ea typeface="Calibri"/>
                <a:cs typeface="Calibri"/>
                <a:sym typeface="Calibri"/>
              </a:rPr>
              <a:t>To solve these problems, a new language standard was developed i.e. Unicode  System.In unicode, character holds 2 byte, so java also uses 2 byte for characters.lowest  value:\u0000highest value:\uFFFF</a:t>
            </a:r>
            <a:endParaRPr b="0" i="0" sz="2400" u="none" cap="none" strike="noStrike">
              <a:solidFill>
                <a:schemeClr val="dk1"/>
              </a:solidFill>
              <a:latin typeface="Calibri"/>
              <a:ea typeface="Calibri"/>
              <a:cs typeface="Calibri"/>
              <a:sym typeface="Calibri"/>
            </a:endParaRPr>
          </a:p>
          <a:p>
            <a:pPr indent="-153243" lvl="0" marL="169329" marR="0" rtl="0" algn="l">
              <a:lnSpc>
                <a:spcPct val="100000"/>
              </a:lnSpc>
              <a:spcBef>
                <a:spcPts val="579"/>
              </a:spcBef>
              <a:spcAft>
                <a:spcPts val="0"/>
              </a:spcAft>
              <a:buClr>
                <a:schemeClr val="dk1"/>
              </a:buClr>
              <a:buSzPts val="2267"/>
              <a:buFont typeface="Calibri"/>
              <a:buChar char="•"/>
            </a:pPr>
            <a:r>
              <a:rPr b="0" i="0" lang="en-IN" sz="2400" u="none" cap="none" strike="noStrike">
                <a:solidFill>
                  <a:schemeClr val="dk1"/>
                </a:solidFill>
                <a:latin typeface="Calibri"/>
                <a:ea typeface="Calibri"/>
                <a:cs typeface="Calibri"/>
                <a:sym typeface="Calibri"/>
              </a:rPr>
              <a:t>Java suitable for representing strings in any language supported byUnicode.</a:t>
            </a:r>
            <a:endParaRPr b="0" i="0" sz="2400" u="none" cap="none" strike="noStrike">
              <a:solidFill>
                <a:schemeClr val="dk1"/>
              </a:solidFill>
              <a:latin typeface="Calibri"/>
              <a:ea typeface="Calibri"/>
              <a:cs typeface="Calibri"/>
              <a:sym typeface="Calibri"/>
            </a:endParaRPr>
          </a:p>
          <a:p>
            <a:pPr indent="-153243" lvl="0" marL="169329" marR="0" rtl="0" algn="l">
              <a:lnSpc>
                <a:spcPct val="100000"/>
              </a:lnSpc>
              <a:spcBef>
                <a:spcPts val="579"/>
              </a:spcBef>
              <a:spcAft>
                <a:spcPts val="0"/>
              </a:spcAft>
              <a:buClr>
                <a:schemeClr val="dk1"/>
              </a:buClr>
              <a:buSzPts val="2267"/>
              <a:buFont typeface="Calibri"/>
              <a:buChar char="•"/>
            </a:pPr>
            <a:r>
              <a:rPr b="0" i="0" lang="en-IN" sz="2400" u="none" cap="none" strike="noStrike">
                <a:solidFill>
                  <a:schemeClr val="dk1"/>
                </a:solidFill>
                <a:latin typeface="Calibri"/>
                <a:ea typeface="Calibri"/>
                <a:cs typeface="Calibri"/>
                <a:sym typeface="Calibri"/>
              </a:rPr>
              <a:t>Unicode standard uses hexadecimal to express a character.</a:t>
            </a:r>
            <a:endParaRPr b="0" i="0" sz="2400" u="none" cap="none" strike="noStrike">
              <a:solidFill>
                <a:schemeClr val="dk1"/>
              </a:solidFill>
              <a:latin typeface="Calibri"/>
              <a:ea typeface="Calibri"/>
              <a:cs typeface="Calibri"/>
              <a:sym typeface="Calibri"/>
            </a:endParaRPr>
          </a:p>
          <a:p>
            <a:pPr indent="-153243" lvl="0" marL="169329" marR="0" rtl="0" algn="l">
              <a:lnSpc>
                <a:spcPct val="100000"/>
              </a:lnSpc>
              <a:spcBef>
                <a:spcPts val="573"/>
              </a:spcBef>
              <a:spcAft>
                <a:spcPts val="0"/>
              </a:spcAft>
              <a:buClr>
                <a:schemeClr val="dk1"/>
              </a:buClr>
              <a:buSzPts val="2267"/>
              <a:buFont typeface="Calibri"/>
              <a:buChar char="•"/>
            </a:pPr>
            <a:r>
              <a:rPr b="0" i="0" lang="en-IN" sz="2400" u="none" cap="none" strike="noStrike">
                <a:solidFill>
                  <a:schemeClr val="dk1"/>
                </a:solidFill>
                <a:latin typeface="Calibri"/>
                <a:ea typeface="Calibri"/>
                <a:cs typeface="Calibri"/>
                <a:sym typeface="Calibri"/>
              </a:rPr>
              <a:t>the char data type was originally used to represent a 16-bit Unicode code point</a:t>
            </a:r>
            <a:endParaRPr b="0" i="0" sz="2400" u="none" cap="none" strike="noStrike">
              <a:solidFill>
                <a:schemeClr val="dk1"/>
              </a:solidFill>
              <a:latin typeface="Calibri"/>
              <a:ea typeface="Calibri"/>
              <a:cs typeface="Calibri"/>
              <a:sym typeface="Calibri"/>
            </a:endParaRPr>
          </a:p>
        </p:txBody>
      </p:sp>
      <p:sp>
        <p:nvSpPr>
          <p:cNvPr id="787" name="Google Shape;787;g279ef9b7fc5_0_510"/>
          <p:cNvSpPr/>
          <p:nvPr/>
        </p:nvSpPr>
        <p:spPr>
          <a:xfrm>
            <a:off x="3024827" y="35596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WHY CHAR USES 2 BYTE IN JAVA AND  WHAT IS \U0000 ?</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g279ef9b7fc5_0_515"/>
          <p:cNvSpPr txBox="1"/>
          <p:nvPr/>
        </p:nvSpPr>
        <p:spPr>
          <a:xfrm>
            <a:off x="219591" y="557755"/>
            <a:ext cx="11655300" cy="4015500"/>
          </a:xfrm>
          <a:prstGeom prst="rect">
            <a:avLst/>
          </a:prstGeom>
          <a:noFill/>
          <a:ln>
            <a:noFill/>
          </a:ln>
        </p:spPr>
        <p:txBody>
          <a:bodyPr anchorCtr="0" anchor="t" bIns="0" lIns="0" spcFirstLastPara="1" rIns="0" wrap="square" tIns="16075">
            <a:spAutoFit/>
          </a:bodyPr>
          <a:lstStyle/>
          <a:p>
            <a:pPr indent="-711182" lvl="0" marL="728115" marR="6772" rtl="0" algn="just">
              <a:lnSpc>
                <a:spcPct val="1151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Derived data types are those whose variables allow us  to store multiple values of same type. But they never  allows to store multiple values of different types.</a:t>
            </a:r>
            <a:endParaRPr b="0" i="0" sz="3200" u="none" cap="none" strike="noStrike">
              <a:solidFill>
                <a:schemeClr val="dk1"/>
              </a:solidFill>
              <a:latin typeface="Arial"/>
              <a:ea typeface="Arial"/>
              <a:cs typeface="Arial"/>
              <a:sym typeface="Arial"/>
            </a:endParaRPr>
          </a:p>
          <a:p>
            <a:pPr indent="-711182" lvl="0" marL="728115" marR="0" rtl="0" algn="just">
              <a:lnSpc>
                <a:spcPct val="100000"/>
              </a:lnSpc>
              <a:spcBef>
                <a:spcPts val="573"/>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In general derived data type can be achieve using array.</a:t>
            </a:r>
            <a:endParaRPr b="0" i="0" sz="3200" u="none" cap="none" strike="noStrike">
              <a:solidFill>
                <a:schemeClr val="dk1"/>
              </a:solidFill>
              <a:latin typeface="Arial"/>
              <a:ea typeface="Arial"/>
              <a:cs typeface="Arial"/>
              <a:sym typeface="Arial"/>
            </a:endParaRPr>
          </a:p>
          <a:p>
            <a:pPr indent="-711182" lvl="0" marL="728115" marR="0" rtl="0" algn="just">
              <a:lnSpc>
                <a:spcPct val="100000"/>
              </a:lnSpc>
              <a:spcBef>
                <a:spcPts val="913"/>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Example:</a:t>
            </a:r>
            <a:endParaRPr b="0" i="0" sz="3200" u="none" cap="none" strike="noStrike">
              <a:solidFill>
                <a:schemeClr val="dk1"/>
              </a:solidFill>
              <a:latin typeface="Arial"/>
              <a:ea typeface="Arial"/>
              <a:cs typeface="Arial"/>
              <a:sym typeface="Arial"/>
            </a:endParaRPr>
          </a:p>
          <a:p>
            <a:pPr indent="0" lvl="0" marL="1219169" marR="0" rtl="0" algn="just">
              <a:lnSpc>
                <a:spcPct val="100000"/>
              </a:lnSpc>
              <a:spcBef>
                <a:spcPts val="527"/>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int a[ ] = {10,20,30}; </a:t>
            </a:r>
            <a:r>
              <a:rPr b="1" i="0" lang="en-IN" sz="3200" u="none" cap="none" strike="noStrike">
                <a:solidFill>
                  <a:srgbClr val="FF0000"/>
                </a:solidFill>
                <a:latin typeface="Arial"/>
                <a:ea typeface="Arial"/>
                <a:cs typeface="Arial"/>
                <a:sym typeface="Arial"/>
              </a:rPr>
              <a:t>// valid</a:t>
            </a:r>
            <a:endParaRPr b="0" i="0" sz="3200" u="none" cap="none" strike="noStrike">
              <a:solidFill>
                <a:srgbClr val="FF0000"/>
              </a:solidFill>
              <a:latin typeface="Arial"/>
              <a:ea typeface="Arial"/>
              <a:cs typeface="Arial"/>
              <a:sym typeface="Arial"/>
            </a:endParaRPr>
          </a:p>
          <a:p>
            <a:pPr indent="0" lvl="0" marL="1219169" marR="0" rtl="0" algn="just">
              <a:lnSpc>
                <a:spcPct val="100000"/>
              </a:lnSpc>
              <a:spcBef>
                <a:spcPts val="545"/>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int b[ ] = {100, 'A', "ABC"}; </a:t>
            </a:r>
            <a:r>
              <a:rPr b="1" i="0" lang="en-IN" sz="3200" u="none" cap="none" strike="noStrike">
                <a:solidFill>
                  <a:srgbClr val="FF0000"/>
                </a:solidFill>
                <a:latin typeface="Arial"/>
                <a:ea typeface="Arial"/>
                <a:cs typeface="Arial"/>
                <a:sym typeface="Arial"/>
              </a:rPr>
              <a:t>// invalid</a:t>
            </a:r>
            <a:endParaRPr b="0" i="0" sz="3200" u="none" cap="none" strike="noStrike">
              <a:solidFill>
                <a:srgbClr val="FF0000"/>
              </a:solidFill>
              <a:latin typeface="Arial"/>
              <a:ea typeface="Arial"/>
              <a:cs typeface="Arial"/>
              <a:sym typeface="Arial"/>
            </a:endParaRPr>
          </a:p>
        </p:txBody>
      </p:sp>
      <p:sp>
        <p:nvSpPr>
          <p:cNvPr id="793" name="Google Shape;793;g279ef9b7fc5_0_515"/>
          <p:cNvSpPr/>
          <p:nvPr/>
        </p:nvSpPr>
        <p:spPr>
          <a:xfrm>
            <a:off x="2675203" y="36514"/>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Derived Data Types</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279ef9b7fc5_0_520"/>
          <p:cNvSpPr txBox="1"/>
          <p:nvPr/>
        </p:nvSpPr>
        <p:spPr>
          <a:xfrm>
            <a:off x="219591" y="557755"/>
            <a:ext cx="11656200" cy="5041800"/>
          </a:xfrm>
          <a:prstGeom prst="rect">
            <a:avLst/>
          </a:prstGeom>
          <a:noFill/>
          <a:ln>
            <a:noFill/>
          </a:ln>
        </p:spPr>
        <p:txBody>
          <a:bodyPr anchorCtr="0" anchor="t" bIns="0" lIns="0" spcFirstLastPara="1" rIns="0" wrap="square" tIns="16075">
            <a:spAutoFit/>
          </a:bodyPr>
          <a:lstStyle/>
          <a:p>
            <a:pPr indent="-711182" lvl="0" marL="728115" marR="8465" rtl="0" algn="just">
              <a:lnSpc>
                <a:spcPct val="1151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User defined data types are those which are developed  by programmers by making use of appropriate features  of the language.</a:t>
            </a:r>
            <a:endParaRPr b="0" i="0" sz="3200" u="none" cap="none" strike="noStrike">
              <a:solidFill>
                <a:schemeClr val="dk1"/>
              </a:solidFill>
              <a:latin typeface="Arial"/>
              <a:ea typeface="Arial"/>
              <a:cs typeface="Arial"/>
              <a:sym typeface="Arial"/>
            </a:endParaRPr>
          </a:p>
          <a:p>
            <a:pPr indent="-711182" lvl="0" marL="728115" marR="6772"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User defined data types related variables allows us to  store multiple values either of same type or different  type or both.</a:t>
            </a:r>
            <a:endParaRPr b="0" i="0" sz="3200" u="none" cap="none" strike="noStrike">
              <a:solidFill>
                <a:schemeClr val="dk1"/>
              </a:solidFill>
              <a:latin typeface="Arial"/>
              <a:ea typeface="Arial"/>
              <a:cs typeface="Arial"/>
              <a:sym typeface="Arial"/>
            </a:endParaRPr>
          </a:p>
          <a:p>
            <a:pPr indent="-711182" lvl="0" marL="728115" marR="6772"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This is a data type whose variable can hold more than  one value of dissimilar type, in java it is achieved using  class concept.</a:t>
            </a:r>
            <a:endParaRPr b="0" i="0" sz="3200" u="none" cap="none" strike="noStrike">
              <a:solidFill>
                <a:schemeClr val="dk1"/>
              </a:solidFill>
              <a:latin typeface="Arial"/>
              <a:ea typeface="Arial"/>
              <a:cs typeface="Arial"/>
              <a:sym typeface="Arial"/>
            </a:endParaRPr>
          </a:p>
        </p:txBody>
      </p:sp>
      <p:sp>
        <p:nvSpPr>
          <p:cNvPr id="799" name="Google Shape;799;g279ef9b7fc5_0_520"/>
          <p:cNvSpPr/>
          <p:nvPr/>
        </p:nvSpPr>
        <p:spPr>
          <a:xfrm>
            <a:off x="3309667" y="61353"/>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User Defined Data types</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g279ef9b7fc5_0_525"/>
          <p:cNvSpPr txBox="1"/>
          <p:nvPr/>
        </p:nvSpPr>
        <p:spPr>
          <a:xfrm>
            <a:off x="10779422" y="945490"/>
            <a:ext cx="1094700" cy="5097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rgbClr val="FFFFFF"/>
                </a:solidFill>
                <a:latin typeface="Arial"/>
                <a:ea typeface="Arial"/>
                <a:cs typeface="Arial"/>
                <a:sym typeface="Arial"/>
              </a:rPr>
              <a:t>types</a:t>
            </a:r>
            <a:endParaRPr b="0" i="0" sz="3200" u="none" cap="none" strike="noStrike">
              <a:solidFill>
                <a:schemeClr val="dk1"/>
              </a:solidFill>
              <a:latin typeface="Arial"/>
              <a:ea typeface="Arial"/>
              <a:cs typeface="Arial"/>
              <a:sym typeface="Arial"/>
            </a:endParaRPr>
          </a:p>
        </p:txBody>
      </p:sp>
      <p:sp>
        <p:nvSpPr>
          <p:cNvPr id="805" name="Google Shape;805;g279ef9b7fc5_0_525"/>
          <p:cNvSpPr txBox="1"/>
          <p:nvPr/>
        </p:nvSpPr>
        <p:spPr>
          <a:xfrm>
            <a:off x="219591" y="872006"/>
            <a:ext cx="10299000" cy="1150800"/>
          </a:xfrm>
          <a:prstGeom prst="rect">
            <a:avLst/>
          </a:prstGeom>
          <a:noFill/>
          <a:ln>
            <a:noFill/>
          </a:ln>
        </p:spPr>
        <p:txBody>
          <a:bodyPr anchorCtr="0" anchor="t" bIns="0" lIns="0" spcFirstLastPara="1" rIns="0" wrap="square" tIns="90575">
            <a:spAutoFit/>
          </a:bodyPr>
          <a:lstStyle/>
          <a:p>
            <a:pPr indent="-711182" lvl="0" marL="728115" marR="0" rtl="0" algn="l">
              <a:lnSpc>
                <a:spcPct val="100000"/>
              </a:lnSpc>
              <a:spcBef>
                <a:spcPts val="0"/>
              </a:spcBef>
              <a:spcAft>
                <a:spcPts val="0"/>
              </a:spcAft>
              <a:buClr>
                <a:srgbClr val="FFFFFF"/>
              </a:buClr>
              <a:buSzPts val="3200"/>
              <a:buFont typeface="MS PGothic"/>
              <a:buChar char="➢"/>
            </a:pPr>
            <a:r>
              <a:rPr b="1" i="0" lang="en-IN" sz="3200" u="none" cap="none" strike="noStrike">
                <a:solidFill>
                  <a:srgbClr val="FF0000"/>
                </a:solidFill>
                <a:latin typeface="Arial"/>
                <a:ea typeface="Arial"/>
                <a:cs typeface="Arial"/>
                <a:sym typeface="Arial"/>
              </a:rPr>
              <a:t>Note:</a:t>
            </a:r>
            <a:r>
              <a:rPr b="1" i="0" lang="en-IN" sz="3200" u="none" cap="none" strike="noStrike">
                <a:solidFill>
                  <a:schemeClr val="dk1"/>
                </a:solidFill>
                <a:latin typeface="Arial"/>
                <a:ea typeface="Arial"/>
                <a:cs typeface="Arial"/>
                <a:sym typeface="Arial"/>
              </a:rPr>
              <a:t> In java both derived and </a:t>
            </a:r>
            <a:r>
              <a:rPr b="1" i="0" lang="en-IN" sz="3200" u="none" cap="none" strike="noStrike">
                <a:solidFill>
                  <a:srgbClr val="FF0000"/>
                </a:solidFill>
                <a:latin typeface="Arial"/>
                <a:ea typeface="Arial"/>
                <a:cs typeface="Arial"/>
                <a:sym typeface="Arial"/>
              </a:rPr>
              <a:t>user defined data</a:t>
            </a:r>
            <a:endParaRPr b="0" i="0" sz="3200" u="none" cap="none" strike="noStrike">
              <a:solidFill>
                <a:srgbClr val="FF0000"/>
              </a:solidFill>
              <a:latin typeface="Arial"/>
              <a:ea typeface="Arial"/>
              <a:cs typeface="Arial"/>
              <a:sym typeface="Arial"/>
            </a:endParaRPr>
          </a:p>
          <a:p>
            <a:pPr indent="0" lvl="0" marL="728115" marR="0" rtl="0" algn="l">
              <a:lnSpc>
                <a:spcPct val="100000"/>
              </a:lnSpc>
              <a:spcBef>
                <a:spcPts val="579"/>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combined name as </a:t>
            </a:r>
            <a:r>
              <a:rPr b="1" i="0" lang="en-IN" sz="3200" u="none" cap="none" strike="noStrike">
                <a:solidFill>
                  <a:srgbClr val="FF0000"/>
                </a:solidFill>
                <a:latin typeface="Arial"/>
                <a:ea typeface="Arial"/>
                <a:cs typeface="Arial"/>
                <a:sym typeface="Arial"/>
              </a:rPr>
              <a:t>reference data type.</a:t>
            </a:r>
            <a:endParaRPr b="0" i="0" sz="3200" u="none" cap="none" strike="noStrike">
              <a:solidFill>
                <a:srgbClr val="FF0000"/>
              </a:solidFill>
              <a:latin typeface="Arial"/>
              <a:ea typeface="Arial"/>
              <a:cs typeface="Arial"/>
              <a:sym typeface="Arial"/>
            </a:endParaRPr>
          </a:p>
        </p:txBody>
      </p:sp>
      <p:sp>
        <p:nvSpPr>
          <p:cNvPr id="806" name="Google Shape;806;g279ef9b7fc5_0_525"/>
          <p:cNvSpPr txBox="1"/>
          <p:nvPr/>
        </p:nvSpPr>
        <p:spPr>
          <a:xfrm>
            <a:off x="219592" y="1995226"/>
            <a:ext cx="11657700" cy="2775600"/>
          </a:xfrm>
          <a:prstGeom prst="rect">
            <a:avLst/>
          </a:prstGeom>
          <a:noFill/>
          <a:ln>
            <a:noFill/>
          </a:ln>
        </p:spPr>
        <p:txBody>
          <a:bodyPr anchorCtr="0" anchor="t" bIns="0" lIns="0" spcFirstLastPara="1" rIns="0" wrap="square" tIns="16075">
            <a:spAutoFit/>
          </a:bodyPr>
          <a:lstStyle/>
          <a:p>
            <a:pPr indent="-711182" lvl="0" marL="728115" marR="9312"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In C language, user defined data types can be  developed by using struct, union, enum etc.</a:t>
            </a:r>
            <a:endParaRPr b="0" i="0" sz="3200" u="none" cap="none" strike="noStrike">
              <a:solidFill>
                <a:schemeClr val="dk1"/>
              </a:solidFill>
              <a:latin typeface="Arial"/>
              <a:ea typeface="Arial"/>
              <a:cs typeface="Arial"/>
              <a:sym typeface="Arial"/>
            </a:endParaRPr>
          </a:p>
          <a:p>
            <a:pPr indent="-711182" lvl="0" marL="728115" marR="6772" rtl="0" algn="just">
              <a:lnSpc>
                <a:spcPct val="1151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In java programming user defined data type can be  developed by using the features of classes and  interfaces.</a:t>
            </a:r>
            <a:endParaRPr b="0" i="0" sz="3200" u="none" cap="none" strike="noStrike">
              <a:solidFill>
                <a:schemeClr val="dk1"/>
              </a:solidFill>
              <a:latin typeface="Arial"/>
              <a:ea typeface="Arial"/>
              <a:cs typeface="Arial"/>
              <a:sym typeface="Arial"/>
            </a:endParaRPr>
          </a:p>
        </p:txBody>
      </p:sp>
      <p:sp>
        <p:nvSpPr>
          <p:cNvPr id="807" name="Google Shape;807;g279ef9b7fc5_0_525"/>
          <p:cNvSpPr/>
          <p:nvPr/>
        </p:nvSpPr>
        <p:spPr>
          <a:xfrm>
            <a:off x="3078615" y="158736"/>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User Defined Data types</a:t>
            </a:r>
            <a:r>
              <a:rPr b="1" i="0" lang="en-IN" sz="1800" u="none" cap="none" strike="noStrike">
                <a:solidFill>
                  <a:srgbClr val="BF9000"/>
                </a:solidFill>
                <a:latin typeface="Cantarell"/>
                <a:ea typeface="Cantarell"/>
                <a:cs typeface="Cantarell"/>
                <a:sym typeface="Cantarel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g279ef9b7fc5_0_532"/>
          <p:cNvSpPr txBox="1"/>
          <p:nvPr/>
        </p:nvSpPr>
        <p:spPr>
          <a:xfrm>
            <a:off x="219591" y="872006"/>
            <a:ext cx="11661000" cy="3910200"/>
          </a:xfrm>
          <a:prstGeom prst="rect">
            <a:avLst/>
          </a:prstGeom>
          <a:noFill/>
          <a:ln>
            <a:noFill/>
          </a:ln>
        </p:spPr>
        <p:txBody>
          <a:bodyPr anchorCtr="0" anchor="t" bIns="0" lIns="0" spcFirstLastPara="1" rIns="0" wrap="square" tIns="90575">
            <a:spAutoFit/>
          </a:bodyPr>
          <a:lstStyle/>
          <a:p>
            <a:pPr indent="-711182" lvl="0" marL="728115" marR="0" rtl="0" algn="just">
              <a:lnSpc>
                <a:spcPct val="1000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The process of converting one data type to another is</a:t>
            </a:r>
            <a:endParaRPr b="0" i="0" sz="3200" u="none" cap="none" strike="noStrike">
              <a:solidFill>
                <a:schemeClr val="dk1"/>
              </a:solidFill>
              <a:latin typeface="Arial"/>
              <a:ea typeface="Arial"/>
              <a:cs typeface="Arial"/>
              <a:sym typeface="Arial"/>
            </a:endParaRPr>
          </a:p>
          <a:p>
            <a:pPr indent="0" lvl="0" marL="728115" marR="0" rtl="0" algn="just">
              <a:lnSpc>
                <a:spcPct val="100000"/>
              </a:lnSpc>
              <a:spcBef>
                <a:spcPts val="579"/>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called casting.</a:t>
            </a:r>
            <a:endParaRPr b="0" i="0" sz="3200" u="none" cap="none" strike="noStrike">
              <a:solidFill>
                <a:schemeClr val="dk1"/>
              </a:solidFill>
              <a:latin typeface="Arial"/>
              <a:ea typeface="Arial"/>
              <a:cs typeface="Arial"/>
              <a:sym typeface="Arial"/>
            </a:endParaRPr>
          </a:p>
          <a:p>
            <a:pPr indent="-711182" lvl="0" marL="728115" marR="6772"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Casting is often necessary when a function returns a  data in different form than what we need.</a:t>
            </a:r>
            <a:endParaRPr b="0" i="0" sz="3200" u="none" cap="none" strike="noStrike">
              <a:solidFill>
                <a:schemeClr val="dk1"/>
              </a:solidFill>
              <a:latin typeface="Arial"/>
              <a:ea typeface="Arial"/>
              <a:cs typeface="Arial"/>
              <a:sym typeface="Arial"/>
            </a:endParaRPr>
          </a:p>
          <a:p>
            <a:pPr indent="-711182" lvl="0" marL="728115" marR="11005" rtl="0" algn="just">
              <a:lnSpc>
                <a:spcPct val="1151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Under certain circumstances Type conversion can be  carried out automatically, in other cases it must be  "forced" manually (explicitly)</a:t>
            </a:r>
            <a:endParaRPr b="0" i="0" sz="3200" u="none" cap="none" strike="noStrike">
              <a:solidFill>
                <a:schemeClr val="dk1"/>
              </a:solidFill>
              <a:latin typeface="Arial"/>
              <a:ea typeface="Arial"/>
              <a:cs typeface="Arial"/>
              <a:sym typeface="Arial"/>
            </a:endParaRPr>
          </a:p>
        </p:txBody>
      </p:sp>
      <p:sp>
        <p:nvSpPr>
          <p:cNvPr id="813" name="Google Shape;813;g279ef9b7fc5_0_532"/>
          <p:cNvSpPr/>
          <p:nvPr/>
        </p:nvSpPr>
        <p:spPr>
          <a:xfrm>
            <a:off x="3069651" y="249707"/>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Type Casting</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279ef9b7fc5_0_537"/>
          <p:cNvSpPr txBox="1"/>
          <p:nvPr/>
        </p:nvSpPr>
        <p:spPr>
          <a:xfrm>
            <a:off x="219591" y="872006"/>
            <a:ext cx="11666100" cy="4475700"/>
          </a:xfrm>
          <a:prstGeom prst="rect">
            <a:avLst/>
          </a:prstGeom>
          <a:noFill/>
          <a:ln>
            <a:noFill/>
          </a:ln>
        </p:spPr>
        <p:txBody>
          <a:bodyPr anchorCtr="0" anchor="t" bIns="0" lIns="0" spcFirstLastPara="1" rIns="0" wrap="square" tIns="90575">
            <a:spAutoFit/>
          </a:bodyPr>
          <a:lstStyle/>
          <a:p>
            <a:pPr indent="-711182" lvl="0" marL="728115" marR="0" rtl="0" algn="just">
              <a:lnSpc>
                <a:spcPct val="1000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The storage size of the types while casting is very</a:t>
            </a:r>
            <a:endParaRPr b="0" i="0" sz="3200" u="none" cap="none" strike="noStrike">
              <a:solidFill>
                <a:schemeClr val="dk1"/>
              </a:solidFill>
              <a:latin typeface="Arial"/>
              <a:ea typeface="Arial"/>
              <a:cs typeface="Arial"/>
              <a:sym typeface="Arial"/>
            </a:endParaRPr>
          </a:p>
          <a:p>
            <a:pPr indent="0" lvl="0" marL="728115" marR="0" rtl="0" algn="just">
              <a:lnSpc>
                <a:spcPct val="100000"/>
              </a:lnSpc>
              <a:spcBef>
                <a:spcPts val="579"/>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important otherwise the data loss will occur.</a:t>
            </a:r>
            <a:endParaRPr b="0" i="0" sz="3200" u="none" cap="none" strike="noStrike">
              <a:solidFill>
                <a:schemeClr val="dk1"/>
              </a:solidFill>
              <a:latin typeface="Arial"/>
              <a:ea typeface="Arial"/>
              <a:cs typeface="Arial"/>
              <a:sym typeface="Arial"/>
            </a:endParaRPr>
          </a:p>
          <a:p>
            <a:pPr indent="-711182" lvl="0" marL="728115" marR="6772"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For example, suppose we cast a long to an int. A long is  a 64-bit value and an int is a 32-bit value. When casting  a long to an int, the compiler truncates the   upper 32  bits of the long value so as to fit into the 32-bit int.</a:t>
            </a:r>
            <a:endParaRPr b="0" i="0" sz="3200" u="none" cap="none" strike="noStrike">
              <a:solidFill>
                <a:schemeClr val="dk1"/>
              </a:solidFill>
              <a:latin typeface="Arial"/>
              <a:ea typeface="Arial"/>
              <a:cs typeface="Arial"/>
              <a:sym typeface="Arial"/>
            </a:endParaRPr>
          </a:p>
          <a:p>
            <a:pPr indent="-711182" lvl="0" marL="728115" marR="11005"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If the upper 32 bits of the long contain any useful  information, then data loss will occur.</a:t>
            </a:r>
            <a:endParaRPr b="0" i="0" sz="3200" u="none" cap="none" strike="noStrike">
              <a:solidFill>
                <a:schemeClr val="dk1"/>
              </a:solidFill>
              <a:latin typeface="Arial"/>
              <a:ea typeface="Arial"/>
              <a:cs typeface="Arial"/>
              <a:sym typeface="Arial"/>
            </a:endParaRPr>
          </a:p>
        </p:txBody>
      </p:sp>
      <p:sp>
        <p:nvSpPr>
          <p:cNvPr id="819" name="Google Shape;819;g279ef9b7fc5_0_537"/>
          <p:cNvSpPr/>
          <p:nvPr/>
        </p:nvSpPr>
        <p:spPr>
          <a:xfrm>
            <a:off x="3060685" y="216278"/>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Type Casting</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g279ef9b7fc5_0_542"/>
          <p:cNvSpPr txBox="1"/>
          <p:nvPr/>
        </p:nvSpPr>
        <p:spPr>
          <a:xfrm>
            <a:off x="219591" y="945490"/>
            <a:ext cx="8623200" cy="509700"/>
          </a:xfrm>
          <a:prstGeom prst="rect">
            <a:avLst/>
          </a:prstGeom>
          <a:noFill/>
          <a:ln>
            <a:noFill/>
          </a:ln>
        </p:spPr>
        <p:txBody>
          <a:bodyPr anchorCtr="0" anchor="t" bIns="0" lIns="0" spcFirstLastPara="1" rIns="0" wrap="square" tIns="16925">
            <a:spAutoFit/>
          </a:bodyPr>
          <a:lstStyle/>
          <a:p>
            <a:pPr indent="-711182" lvl="0" marL="728115" marR="0" rtl="0" algn="l">
              <a:lnSpc>
                <a:spcPct val="1000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In	some	cases,	the	data	type	of	the</a:t>
            </a:r>
            <a:endParaRPr b="0" i="0" sz="3200" u="none" cap="none" strike="noStrike">
              <a:solidFill>
                <a:schemeClr val="dk1"/>
              </a:solidFill>
              <a:latin typeface="Arial"/>
              <a:ea typeface="Arial"/>
              <a:cs typeface="Arial"/>
              <a:sym typeface="Arial"/>
            </a:endParaRPr>
          </a:p>
        </p:txBody>
      </p:sp>
      <p:sp>
        <p:nvSpPr>
          <p:cNvPr id="825" name="Google Shape;825;g279ef9b7fc5_0_542"/>
          <p:cNvSpPr txBox="1"/>
          <p:nvPr/>
        </p:nvSpPr>
        <p:spPr>
          <a:xfrm>
            <a:off x="9084394" y="945489"/>
            <a:ext cx="2795700" cy="5097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expression	is</a:t>
            </a:r>
            <a:endParaRPr b="0" i="0" sz="3200" u="none" cap="none" strike="noStrike">
              <a:solidFill>
                <a:schemeClr val="dk1"/>
              </a:solidFill>
              <a:latin typeface="Arial"/>
              <a:ea typeface="Arial"/>
              <a:cs typeface="Arial"/>
              <a:sym typeface="Arial"/>
            </a:endParaRPr>
          </a:p>
        </p:txBody>
      </p:sp>
      <p:sp>
        <p:nvSpPr>
          <p:cNvPr id="826" name="Google Shape;826;g279ef9b7fc5_0_542"/>
          <p:cNvSpPr txBox="1"/>
          <p:nvPr/>
        </p:nvSpPr>
        <p:spPr>
          <a:xfrm>
            <a:off x="930791" y="1507067"/>
            <a:ext cx="10943100" cy="5097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changed	automatically to the variable's	data	type.	For</a:t>
            </a:r>
            <a:endParaRPr b="0" i="0" sz="3200" u="none" cap="none" strike="noStrike">
              <a:solidFill>
                <a:schemeClr val="dk1"/>
              </a:solidFill>
              <a:latin typeface="Arial"/>
              <a:ea typeface="Arial"/>
              <a:cs typeface="Arial"/>
              <a:sym typeface="Arial"/>
            </a:endParaRPr>
          </a:p>
        </p:txBody>
      </p:sp>
      <p:sp>
        <p:nvSpPr>
          <p:cNvPr id="827" name="Google Shape;827;g279ef9b7fc5_0_542"/>
          <p:cNvSpPr txBox="1"/>
          <p:nvPr/>
        </p:nvSpPr>
        <p:spPr>
          <a:xfrm>
            <a:off x="10171514" y="2067898"/>
            <a:ext cx="1704300" cy="5097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declared</a:t>
            </a:r>
            <a:endParaRPr b="0" i="0" sz="3200" u="none" cap="none" strike="noStrike">
              <a:solidFill>
                <a:schemeClr val="dk1"/>
              </a:solidFill>
              <a:latin typeface="Arial"/>
              <a:ea typeface="Arial"/>
              <a:cs typeface="Arial"/>
              <a:sym typeface="Arial"/>
            </a:endParaRPr>
          </a:p>
        </p:txBody>
      </p:sp>
      <p:sp>
        <p:nvSpPr>
          <p:cNvPr id="828" name="Google Shape;828;g279ef9b7fc5_0_542"/>
          <p:cNvSpPr txBox="1"/>
          <p:nvPr/>
        </p:nvSpPr>
        <p:spPr>
          <a:xfrm>
            <a:off x="930791" y="1995226"/>
            <a:ext cx="8992500" cy="1758900"/>
          </a:xfrm>
          <a:prstGeom prst="rect">
            <a:avLst/>
          </a:prstGeom>
          <a:noFill/>
          <a:ln>
            <a:noFill/>
          </a:ln>
        </p:spPr>
        <p:txBody>
          <a:bodyPr anchorCtr="0" anchor="t" bIns="0" lIns="0" spcFirstLastPara="1" rIns="0" wrap="square" tIns="16075">
            <a:spAutoFit/>
          </a:bodyPr>
          <a:lstStyle/>
          <a:p>
            <a:pPr indent="0" lvl="0" marL="16932" marR="6772" rtl="0" algn="l">
              <a:lnSpc>
                <a:spcPct val="114999"/>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example, suppose that i is an integer variable  as follows:</a:t>
            </a:r>
            <a:endParaRPr b="0" i="0" sz="3200" u="none" cap="none" strike="noStrike">
              <a:solidFill>
                <a:schemeClr val="dk1"/>
              </a:solidFill>
              <a:latin typeface="Arial"/>
              <a:ea typeface="Arial"/>
              <a:cs typeface="Arial"/>
              <a:sym typeface="Arial"/>
            </a:endParaRPr>
          </a:p>
          <a:p>
            <a:pPr indent="0" lvl="0" marL="1728002" marR="0" rtl="0" algn="l">
              <a:lnSpc>
                <a:spcPct val="100000"/>
              </a:lnSpc>
              <a:spcBef>
                <a:spcPts val="913"/>
              </a:spcBef>
              <a:spcAft>
                <a:spcPts val="0"/>
              </a:spcAft>
              <a:buClr>
                <a:srgbClr val="000000"/>
              </a:buClr>
              <a:buSzPts val="3200"/>
              <a:buFont typeface="Arial"/>
              <a:buNone/>
            </a:pPr>
            <a:r>
              <a:rPr b="1" i="0" lang="en-IN" sz="3200" u="none" cap="none" strike="noStrike">
                <a:solidFill>
                  <a:srgbClr val="FF0000"/>
                </a:solidFill>
                <a:latin typeface="Arial"/>
                <a:ea typeface="Arial"/>
                <a:cs typeface="Arial"/>
                <a:sym typeface="Arial"/>
              </a:rPr>
              <a:t>int i = 10 ;</a:t>
            </a:r>
            <a:endParaRPr b="0" i="0" sz="3200" u="none" cap="none" strike="noStrike">
              <a:solidFill>
                <a:srgbClr val="FF0000"/>
              </a:solidFill>
              <a:latin typeface="Arial"/>
              <a:ea typeface="Arial"/>
              <a:cs typeface="Arial"/>
              <a:sym typeface="Arial"/>
            </a:endParaRPr>
          </a:p>
        </p:txBody>
      </p:sp>
      <p:sp>
        <p:nvSpPr>
          <p:cNvPr id="829" name="Google Shape;829;g279ef9b7fc5_0_542"/>
          <p:cNvSpPr txBox="1"/>
          <p:nvPr/>
        </p:nvSpPr>
        <p:spPr>
          <a:xfrm>
            <a:off x="9464378" y="3744231"/>
            <a:ext cx="2413800" cy="10023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3200"/>
              <a:buFont typeface="Arial"/>
              <a:buNone/>
            </a:pPr>
            <a:r>
              <a:rPr b="1" i="0" lang="en-IN" sz="3200" u="none" cap="none" strike="noStrike">
                <a:solidFill>
                  <a:srgbClr val="FFFFFF"/>
                </a:solidFill>
                <a:latin typeface="Arial"/>
                <a:ea typeface="Arial"/>
                <a:cs typeface="Arial"/>
                <a:sym typeface="Arial"/>
              </a:rPr>
              <a:t>double,	the</a:t>
            </a:r>
            <a:endParaRPr b="0" i="0" sz="3200" u="none" cap="none" strike="noStrike">
              <a:solidFill>
                <a:schemeClr val="dk1"/>
              </a:solidFill>
              <a:latin typeface="Arial"/>
              <a:ea typeface="Arial"/>
              <a:cs typeface="Arial"/>
              <a:sym typeface="Arial"/>
            </a:endParaRPr>
          </a:p>
        </p:txBody>
      </p:sp>
      <p:sp>
        <p:nvSpPr>
          <p:cNvPr id="830" name="Google Shape;830;g279ef9b7fc5_0_542"/>
          <p:cNvSpPr txBox="1"/>
          <p:nvPr/>
        </p:nvSpPr>
        <p:spPr>
          <a:xfrm>
            <a:off x="219591" y="3670577"/>
            <a:ext cx="8957700" cy="2776500"/>
          </a:xfrm>
          <a:prstGeom prst="rect">
            <a:avLst/>
          </a:prstGeom>
          <a:noFill/>
          <a:ln>
            <a:noFill/>
          </a:ln>
        </p:spPr>
        <p:txBody>
          <a:bodyPr anchorCtr="0" anchor="t" bIns="0" lIns="0" spcFirstLastPara="1" rIns="0" wrap="square" tIns="90575">
            <a:spAutoFit/>
          </a:bodyPr>
          <a:lstStyle/>
          <a:p>
            <a:pPr indent="-711182" lvl="0" marL="728115" marR="0" rtl="0" algn="l">
              <a:lnSpc>
                <a:spcPct val="1000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Even	though	d	is	a	variable	of	type</a:t>
            </a:r>
            <a:endParaRPr b="0" i="0" sz="3200" u="none" cap="none" strike="noStrike">
              <a:solidFill>
                <a:schemeClr val="dk1"/>
              </a:solidFill>
              <a:latin typeface="Arial"/>
              <a:ea typeface="Arial"/>
              <a:cs typeface="Arial"/>
              <a:sym typeface="Arial"/>
            </a:endParaRPr>
          </a:p>
          <a:p>
            <a:pPr indent="-1711916" lvl="0" marL="2439186" marR="1897333" rtl="0" algn="l">
              <a:lnSpc>
                <a:spcPct val="114999"/>
              </a:lnSpc>
              <a:spcBef>
                <a:spcPts val="7"/>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following assignment is valid:  </a:t>
            </a:r>
            <a:r>
              <a:rPr b="1" i="0" lang="en-IN" sz="3200" u="none" cap="none" strike="noStrike">
                <a:solidFill>
                  <a:srgbClr val="FF0000"/>
                </a:solidFill>
                <a:latin typeface="Arial"/>
                <a:ea typeface="Arial"/>
                <a:cs typeface="Arial"/>
                <a:sym typeface="Arial"/>
              </a:rPr>
              <a:t>double d = i *10; </a:t>
            </a:r>
            <a:r>
              <a:rPr b="1" i="0" lang="en-IN" sz="3200" u="none" cap="none" strike="noStrike">
                <a:solidFill>
                  <a:srgbClr val="548135"/>
                </a:solidFill>
                <a:latin typeface="Arial"/>
                <a:ea typeface="Arial"/>
                <a:cs typeface="Arial"/>
                <a:sym typeface="Arial"/>
              </a:rPr>
              <a:t>// valid,</a:t>
            </a:r>
            <a:endParaRPr b="0" i="0" sz="3200" u="none" cap="none" strike="noStrike">
              <a:solidFill>
                <a:srgbClr val="548135"/>
              </a:solidFill>
              <a:latin typeface="Arial"/>
              <a:ea typeface="Arial"/>
              <a:cs typeface="Arial"/>
              <a:sym typeface="Arial"/>
            </a:endParaRPr>
          </a:p>
          <a:p>
            <a:pPr indent="0" lvl="0" marL="2439186" marR="0" rtl="0" algn="l">
              <a:lnSpc>
                <a:spcPct val="100000"/>
              </a:lnSpc>
              <a:spcBef>
                <a:spcPts val="573"/>
              </a:spcBef>
              <a:spcAft>
                <a:spcPts val="0"/>
              </a:spcAft>
              <a:buClr>
                <a:srgbClr val="000000"/>
              </a:buClr>
              <a:buSzPts val="3200"/>
              <a:buFont typeface="Arial"/>
              <a:buNone/>
            </a:pPr>
            <a:r>
              <a:rPr b="1" i="0" lang="en-IN" sz="3200" u="none" cap="none" strike="noStrike">
                <a:solidFill>
                  <a:srgbClr val="548135"/>
                </a:solidFill>
                <a:latin typeface="Arial"/>
                <a:ea typeface="Arial"/>
                <a:cs typeface="Arial"/>
                <a:sym typeface="Arial"/>
              </a:rPr>
              <a:t>(i*10) is converted to type	double</a:t>
            </a:r>
            <a:endParaRPr b="0" i="0" sz="3200" u="none" cap="none" strike="noStrike">
              <a:solidFill>
                <a:srgbClr val="548135"/>
              </a:solidFill>
              <a:latin typeface="Arial"/>
              <a:ea typeface="Arial"/>
              <a:cs typeface="Arial"/>
              <a:sym typeface="Arial"/>
            </a:endParaRPr>
          </a:p>
        </p:txBody>
      </p:sp>
      <p:sp>
        <p:nvSpPr>
          <p:cNvPr id="831" name="Google Shape;831;g279ef9b7fc5_0_542"/>
          <p:cNvSpPr/>
          <p:nvPr/>
        </p:nvSpPr>
        <p:spPr>
          <a:xfrm>
            <a:off x="3309667" y="47092"/>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Type Casting</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g279ef9b7fc5_0_553"/>
          <p:cNvSpPr txBox="1"/>
          <p:nvPr/>
        </p:nvSpPr>
        <p:spPr>
          <a:xfrm>
            <a:off x="219591" y="872006"/>
            <a:ext cx="11664600" cy="4475700"/>
          </a:xfrm>
          <a:prstGeom prst="rect">
            <a:avLst/>
          </a:prstGeom>
          <a:noFill/>
          <a:ln>
            <a:noFill/>
          </a:ln>
        </p:spPr>
        <p:txBody>
          <a:bodyPr anchorCtr="0" anchor="t" bIns="0" lIns="0" spcFirstLastPara="1" rIns="0" wrap="square" tIns="90575">
            <a:spAutoFit/>
          </a:bodyPr>
          <a:lstStyle/>
          <a:p>
            <a:pPr indent="-711182" lvl="0" marL="728115" marR="0" rtl="0" algn="just">
              <a:lnSpc>
                <a:spcPct val="1000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Java changes (i*10) from </a:t>
            </a:r>
            <a:r>
              <a:rPr b="1" i="0" lang="en-IN" sz="3200" u="none" cap="none" strike="noStrike">
                <a:solidFill>
                  <a:schemeClr val="accent2"/>
                </a:solidFill>
                <a:latin typeface="Arial"/>
                <a:ea typeface="Arial"/>
                <a:cs typeface="Arial"/>
                <a:sym typeface="Arial"/>
              </a:rPr>
              <a:t>int</a:t>
            </a:r>
            <a:r>
              <a:rPr b="1" i="0" lang="en-IN" sz="3200" u="none" cap="none" strike="noStrike">
                <a:solidFill>
                  <a:srgbClr val="548135"/>
                </a:solidFill>
                <a:latin typeface="Arial"/>
                <a:ea typeface="Arial"/>
                <a:cs typeface="Arial"/>
                <a:sym typeface="Arial"/>
              </a:rPr>
              <a:t> </a:t>
            </a:r>
            <a:r>
              <a:rPr b="1" i="0" lang="en-IN" sz="3200" u="none" cap="none" strike="noStrike">
                <a:solidFill>
                  <a:schemeClr val="dk1"/>
                </a:solidFill>
                <a:latin typeface="Arial"/>
                <a:ea typeface="Arial"/>
                <a:cs typeface="Arial"/>
                <a:sym typeface="Arial"/>
              </a:rPr>
              <a:t>to</a:t>
            </a:r>
            <a:r>
              <a:rPr b="1" i="0" lang="en-IN" sz="3200" u="none" cap="none" strike="noStrike">
                <a:solidFill>
                  <a:srgbClr val="548135"/>
                </a:solidFill>
                <a:latin typeface="Arial"/>
                <a:ea typeface="Arial"/>
                <a:cs typeface="Arial"/>
                <a:sym typeface="Arial"/>
              </a:rPr>
              <a:t> </a:t>
            </a:r>
            <a:r>
              <a:rPr b="1" i="0" lang="en-IN" sz="3200" u="none" cap="none" strike="noStrike">
                <a:solidFill>
                  <a:schemeClr val="accent2"/>
                </a:solidFill>
                <a:latin typeface="Arial"/>
                <a:ea typeface="Arial"/>
                <a:cs typeface="Arial"/>
                <a:sym typeface="Arial"/>
              </a:rPr>
              <a:t>double,</a:t>
            </a:r>
            <a:r>
              <a:rPr b="1" i="0" lang="en-IN" sz="3200" u="none" cap="none" strike="noStrike">
                <a:solidFill>
                  <a:srgbClr val="548135"/>
                </a:solidFill>
                <a:latin typeface="Arial"/>
                <a:ea typeface="Arial"/>
                <a:cs typeface="Arial"/>
                <a:sym typeface="Arial"/>
              </a:rPr>
              <a:t> </a:t>
            </a:r>
            <a:r>
              <a:rPr b="1" i="0" lang="en-IN" sz="3200" u="none" cap="none" strike="noStrike">
                <a:solidFill>
                  <a:schemeClr val="dk1"/>
                </a:solidFill>
                <a:latin typeface="Arial"/>
                <a:ea typeface="Arial"/>
                <a:cs typeface="Arial"/>
                <a:sym typeface="Arial"/>
              </a:rPr>
              <a:t>and then</a:t>
            </a:r>
            <a:endParaRPr b="0" i="0" sz="3200" u="none" cap="none" strike="noStrike">
              <a:solidFill>
                <a:schemeClr val="dk1"/>
              </a:solidFill>
              <a:latin typeface="Arial"/>
              <a:ea typeface="Arial"/>
              <a:cs typeface="Arial"/>
              <a:sym typeface="Arial"/>
            </a:endParaRPr>
          </a:p>
          <a:p>
            <a:pPr indent="0" lvl="0" marL="728115" marR="0" rtl="0" algn="just">
              <a:lnSpc>
                <a:spcPct val="100000"/>
              </a:lnSpc>
              <a:spcBef>
                <a:spcPts val="579"/>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assigns it to d.</a:t>
            </a:r>
            <a:endParaRPr b="0" i="0" sz="3200" u="none" cap="none" strike="noStrike">
              <a:solidFill>
                <a:schemeClr val="dk1"/>
              </a:solidFill>
              <a:latin typeface="Arial"/>
              <a:ea typeface="Arial"/>
              <a:cs typeface="Arial"/>
              <a:sym typeface="Arial"/>
            </a:endParaRPr>
          </a:p>
          <a:p>
            <a:pPr indent="-711182" lvl="0" marL="728115" marR="6772"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This conversion does not cause any loss of information  because the double data type is 64 bits wide and thus  is wider than the int data type that has 32 bits. This is  called a</a:t>
            </a:r>
            <a:r>
              <a:rPr b="1" i="0" lang="en-IN" sz="3200" u="none" cap="none" strike="noStrike">
                <a:solidFill>
                  <a:srgbClr val="548135"/>
                </a:solidFill>
                <a:latin typeface="Arial"/>
                <a:ea typeface="Arial"/>
                <a:cs typeface="Arial"/>
                <a:sym typeface="Arial"/>
              </a:rPr>
              <a:t> </a:t>
            </a:r>
            <a:r>
              <a:rPr b="1" i="0" lang="en-IN" sz="3200" u="none" cap="none" strike="noStrike">
                <a:solidFill>
                  <a:srgbClr val="002060"/>
                </a:solidFill>
                <a:latin typeface="Arial"/>
                <a:ea typeface="Arial"/>
                <a:cs typeface="Arial"/>
                <a:sym typeface="Arial"/>
              </a:rPr>
              <a:t>widening</a:t>
            </a:r>
            <a:r>
              <a:rPr b="1" i="0" lang="en-IN" sz="3200" u="none" cap="none" strike="noStrike">
                <a:solidFill>
                  <a:srgbClr val="548135"/>
                </a:solidFill>
                <a:latin typeface="Arial"/>
                <a:ea typeface="Arial"/>
                <a:cs typeface="Arial"/>
                <a:sym typeface="Arial"/>
              </a:rPr>
              <a:t> </a:t>
            </a:r>
            <a:r>
              <a:rPr b="1" i="0" lang="en-IN" sz="3200" u="none" cap="none" strike="noStrike">
                <a:solidFill>
                  <a:schemeClr val="dk1"/>
                </a:solidFill>
                <a:latin typeface="Arial"/>
                <a:ea typeface="Arial"/>
                <a:cs typeface="Arial"/>
                <a:sym typeface="Arial"/>
              </a:rPr>
              <a:t>conversion because a narrower type  is converted to a wider type, and it takes place  implicitly.</a:t>
            </a:r>
            <a:endParaRPr b="0" i="0" sz="3200" u="none" cap="none" strike="noStrike">
              <a:solidFill>
                <a:schemeClr val="dk1"/>
              </a:solidFill>
              <a:latin typeface="Arial"/>
              <a:ea typeface="Arial"/>
              <a:cs typeface="Arial"/>
              <a:sym typeface="Arial"/>
            </a:endParaRPr>
          </a:p>
        </p:txBody>
      </p:sp>
      <p:sp>
        <p:nvSpPr>
          <p:cNvPr id="837" name="Google Shape;837;g279ef9b7fc5_0_553"/>
          <p:cNvSpPr/>
          <p:nvPr/>
        </p:nvSpPr>
        <p:spPr>
          <a:xfrm>
            <a:off x="3221038" y="14311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Type Casting</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g279ef9b7fc5_0_558"/>
          <p:cNvSpPr txBox="1"/>
          <p:nvPr/>
        </p:nvSpPr>
        <p:spPr>
          <a:xfrm>
            <a:off x="219591" y="872006"/>
            <a:ext cx="10899000" cy="4032000"/>
          </a:xfrm>
          <a:prstGeom prst="rect">
            <a:avLst/>
          </a:prstGeom>
          <a:noFill/>
          <a:ln>
            <a:noFill/>
          </a:ln>
        </p:spPr>
        <p:txBody>
          <a:bodyPr anchorCtr="0" anchor="t" bIns="0" lIns="0" spcFirstLastPara="1" rIns="0" wrap="square" tIns="90575">
            <a:spAutoFit/>
          </a:bodyPr>
          <a:lstStyle/>
          <a:p>
            <a:pPr indent="-711182" lvl="0" marL="728115" marR="0" rtl="0" algn="l">
              <a:lnSpc>
                <a:spcPct val="100000"/>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some more examples of when widening conversions</a:t>
            </a:r>
            <a:endParaRPr b="0" i="0" sz="3200" u="none" cap="none" strike="noStrike">
              <a:solidFill>
                <a:schemeClr val="dk1"/>
              </a:solidFill>
              <a:latin typeface="Arial"/>
              <a:ea typeface="Arial"/>
              <a:cs typeface="Arial"/>
              <a:sym typeface="Arial"/>
            </a:endParaRPr>
          </a:p>
          <a:p>
            <a:pPr indent="0" lvl="0" marL="728115" marR="0" rtl="0" algn="l">
              <a:lnSpc>
                <a:spcPct val="100000"/>
              </a:lnSpc>
              <a:spcBef>
                <a:spcPts val="579"/>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occur:</a:t>
            </a:r>
            <a:endParaRPr b="0" i="0" sz="3200" u="none" cap="none" strike="noStrike">
              <a:solidFill>
                <a:schemeClr val="dk1"/>
              </a:solidFill>
              <a:latin typeface="Arial"/>
              <a:ea typeface="Arial"/>
              <a:cs typeface="Arial"/>
              <a:sym typeface="Arial"/>
            </a:endParaRPr>
          </a:p>
          <a:p>
            <a:pPr indent="-549472" lvl="1" marL="1337699" marR="0" rtl="0" algn="l">
              <a:lnSpc>
                <a:spcPct val="100000"/>
              </a:lnSpc>
              <a:spcBef>
                <a:spcPts val="913"/>
              </a:spcBef>
              <a:spcAft>
                <a:spcPts val="0"/>
              </a:spcAft>
              <a:buClr>
                <a:srgbClr val="FFAB40"/>
              </a:buClr>
              <a:buSzPts val="3200"/>
              <a:buFont typeface="Arial"/>
              <a:buChar char="○"/>
            </a:pPr>
            <a:r>
              <a:rPr b="1" i="0" lang="en-IN" sz="3200" u="none" cap="none" strike="noStrike">
                <a:solidFill>
                  <a:srgbClr val="FFAB40"/>
                </a:solidFill>
                <a:latin typeface="Arial"/>
                <a:ea typeface="Arial"/>
                <a:cs typeface="Arial"/>
                <a:sym typeface="Arial"/>
              </a:rPr>
              <a:t>short s = 10;</a:t>
            </a:r>
            <a:endParaRPr b="0" i="0" sz="3200" u="none" cap="none" strike="noStrike">
              <a:solidFill>
                <a:schemeClr val="dk1"/>
              </a:solidFill>
              <a:latin typeface="Arial"/>
              <a:ea typeface="Arial"/>
              <a:cs typeface="Arial"/>
              <a:sym typeface="Arial"/>
            </a:endParaRPr>
          </a:p>
          <a:p>
            <a:pPr indent="-549472" lvl="1" marL="1337699" marR="0" rtl="0" algn="l">
              <a:lnSpc>
                <a:spcPct val="100000"/>
              </a:lnSpc>
              <a:spcBef>
                <a:spcPts val="527"/>
              </a:spcBef>
              <a:spcAft>
                <a:spcPts val="0"/>
              </a:spcAft>
              <a:buClr>
                <a:srgbClr val="00FF00"/>
              </a:buClr>
              <a:buSzPts val="3200"/>
              <a:buFont typeface="Arial"/>
              <a:buChar char="○"/>
            </a:pPr>
            <a:r>
              <a:rPr b="1" i="0" lang="en-IN" sz="3200" u="none" cap="none" strike="noStrike">
                <a:solidFill>
                  <a:srgbClr val="00FF00"/>
                </a:solidFill>
                <a:latin typeface="Arial"/>
                <a:ea typeface="Arial"/>
                <a:cs typeface="Arial"/>
                <a:sym typeface="Arial"/>
              </a:rPr>
              <a:t>int num= s;</a:t>
            </a:r>
            <a:endParaRPr b="0" i="0" sz="3200" u="none" cap="none" strike="noStrike">
              <a:solidFill>
                <a:schemeClr val="dk1"/>
              </a:solidFill>
              <a:latin typeface="Arial"/>
              <a:ea typeface="Arial"/>
              <a:cs typeface="Arial"/>
              <a:sym typeface="Arial"/>
            </a:endParaRPr>
          </a:p>
          <a:p>
            <a:pPr indent="0" lvl="1" marL="457200" marR="0" rtl="0" algn="l">
              <a:lnSpc>
                <a:spcPct val="100000"/>
              </a:lnSpc>
              <a:spcBef>
                <a:spcPts val="7"/>
              </a:spcBef>
              <a:spcAft>
                <a:spcPts val="0"/>
              </a:spcAft>
              <a:buClr>
                <a:schemeClr val="dk1"/>
              </a:buClr>
              <a:buSzPts val="4267"/>
              <a:buFont typeface="Calibri"/>
              <a:buNone/>
            </a:pPr>
            <a:r>
              <a:t/>
            </a:r>
            <a:endParaRPr b="0" i="0" sz="4267" u="none" cap="none" strike="noStrike">
              <a:solidFill>
                <a:schemeClr val="dk1"/>
              </a:solidFill>
              <a:latin typeface="Arial"/>
              <a:ea typeface="Arial"/>
              <a:cs typeface="Arial"/>
              <a:sym typeface="Arial"/>
            </a:endParaRPr>
          </a:p>
          <a:p>
            <a:pPr indent="-549472" lvl="1" marL="1337699" marR="0" rtl="0" algn="l">
              <a:lnSpc>
                <a:spcPct val="100000"/>
              </a:lnSpc>
              <a:spcBef>
                <a:spcPts val="0"/>
              </a:spcBef>
              <a:spcAft>
                <a:spcPts val="0"/>
              </a:spcAft>
              <a:buClr>
                <a:srgbClr val="FFAB40"/>
              </a:buClr>
              <a:buSzPts val="3200"/>
              <a:buFont typeface="Arial"/>
              <a:buChar char="○"/>
            </a:pPr>
            <a:r>
              <a:rPr b="1" i="0" lang="en-IN" sz="3200" u="none" cap="none" strike="noStrike">
                <a:solidFill>
                  <a:srgbClr val="FFAB40"/>
                </a:solidFill>
                <a:latin typeface="Arial"/>
                <a:ea typeface="Arial"/>
                <a:cs typeface="Arial"/>
                <a:sym typeface="Arial"/>
              </a:rPr>
              <a:t>float f = 10.5f;</a:t>
            </a:r>
            <a:endParaRPr b="0" i="0" sz="3200" u="none" cap="none" strike="noStrike">
              <a:solidFill>
                <a:schemeClr val="dk1"/>
              </a:solidFill>
              <a:latin typeface="Arial"/>
              <a:ea typeface="Arial"/>
              <a:cs typeface="Arial"/>
              <a:sym typeface="Arial"/>
            </a:endParaRPr>
          </a:p>
          <a:p>
            <a:pPr indent="-549472" lvl="1" marL="1337699" marR="0" rtl="0" algn="l">
              <a:lnSpc>
                <a:spcPct val="100000"/>
              </a:lnSpc>
              <a:spcBef>
                <a:spcPts val="533"/>
              </a:spcBef>
              <a:spcAft>
                <a:spcPts val="0"/>
              </a:spcAft>
              <a:buClr>
                <a:srgbClr val="00FF00"/>
              </a:buClr>
              <a:buSzPts val="3200"/>
              <a:buFont typeface="Arial"/>
              <a:buChar char="○"/>
            </a:pPr>
            <a:r>
              <a:rPr b="1" i="0" lang="en-IN" sz="3200" u="none" cap="none" strike="noStrike">
                <a:solidFill>
                  <a:srgbClr val="00FF00"/>
                </a:solidFill>
                <a:latin typeface="Arial"/>
                <a:ea typeface="Arial"/>
                <a:cs typeface="Arial"/>
                <a:sym typeface="Arial"/>
              </a:rPr>
              <a:t>double d = f;</a:t>
            </a:r>
            <a:endParaRPr b="0" i="0" sz="3200" u="none" cap="none" strike="noStrike">
              <a:solidFill>
                <a:schemeClr val="dk1"/>
              </a:solidFill>
              <a:latin typeface="Arial"/>
              <a:ea typeface="Arial"/>
              <a:cs typeface="Arial"/>
              <a:sym typeface="Arial"/>
            </a:endParaRPr>
          </a:p>
        </p:txBody>
      </p:sp>
      <p:sp>
        <p:nvSpPr>
          <p:cNvPr id="843" name="Google Shape;843;g279ef9b7fc5_0_558"/>
          <p:cNvSpPr/>
          <p:nvPr/>
        </p:nvSpPr>
        <p:spPr>
          <a:xfrm>
            <a:off x="3096544" y="14311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Type   Casting</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279ef9b7fc5_0_563"/>
          <p:cNvSpPr txBox="1"/>
          <p:nvPr>
            <p:ph type="title"/>
          </p:nvPr>
        </p:nvSpPr>
        <p:spPr>
          <a:xfrm>
            <a:off x="0" y="0"/>
            <a:ext cx="0" cy="2147483647"/>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chemeClr val="dk1"/>
              </a:buClr>
              <a:buSzPts val="4400"/>
              <a:buFont typeface="Calibri"/>
              <a:buNone/>
            </a:pPr>
            <a:r>
              <a:rPr b="0" i="0" lang="en-IN" sz="4400" u="none" cap="none" strike="noStrike">
                <a:solidFill>
                  <a:schemeClr val="dk1"/>
                </a:solidFill>
                <a:latin typeface="Calibri"/>
                <a:ea typeface="Calibri"/>
                <a:cs typeface="Calibri"/>
                <a:sym typeface="Calibri"/>
              </a:rPr>
              <a:t>Type Casting</a:t>
            </a:r>
            <a:endParaRPr b="0" i="0" sz="1400" u="none" cap="none" strike="noStrike">
              <a:solidFill>
                <a:srgbClr val="000000"/>
              </a:solidFill>
              <a:latin typeface="Arial"/>
              <a:ea typeface="Arial"/>
              <a:cs typeface="Arial"/>
              <a:sym typeface="Arial"/>
            </a:endParaRPr>
          </a:p>
        </p:txBody>
      </p:sp>
      <p:sp>
        <p:nvSpPr>
          <p:cNvPr id="849" name="Google Shape;849;g279ef9b7fc5_0_563"/>
          <p:cNvSpPr txBox="1"/>
          <p:nvPr/>
        </p:nvSpPr>
        <p:spPr>
          <a:xfrm>
            <a:off x="196020" y="633644"/>
            <a:ext cx="11670600" cy="1642500"/>
          </a:xfrm>
          <a:prstGeom prst="rect">
            <a:avLst/>
          </a:prstGeom>
          <a:noFill/>
          <a:ln>
            <a:noFill/>
          </a:ln>
        </p:spPr>
        <p:txBody>
          <a:bodyPr anchorCtr="0" anchor="t" bIns="0" lIns="0" spcFirstLastPara="1" rIns="0" wrap="square" tIns="16925">
            <a:spAutoFit/>
          </a:bodyPr>
          <a:lstStyle/>
          <a:p>
            <a:pPr indent="-712029" lvl="0" marL="728115" marR="6772" rtl="0" algn="just">
              <a:lnSpc>
                <a:spcPct val="114999"/>
              </a:lnSpc>
              <a:spcBef>
                <a:spcPts val="0"/>
              </a:spcBef>
              <a:spcAft>
                <a:spcPts val="0"/>
              </a:spcAft>
              <a:buClr>
                <a:schemeClr val="dk1"/>
              </a:buClr>
              <a:buSzPts val="3200"/>
              <a:buFont typeface="MS PGothic"/>
              <a:buChar char="➢"/>
            </a:pPr>
            <a:r>
              <a:rPr b="1" i="0" lang="en-IN" sz="3200" u="none" cap="none" strike="noStrike">
                <a:solidFill>
                  <a:schemeClr val="dk1"/>
                </a:solidFill>
                <a:latin typeface="Arial"/>
                <a:ea typeface="Arial"/>
                <a:cs typeface="Arial"/>
                <a:sym typeface="Arial"/>
              </a:rPr>
              <a:t>Following Figure summarizes the conversion rules: A  conversion occurs from a given data type to any of the  data types on its right.</a:t>
            </a:r>
            <a:endParaRPr b="0" i="0" sz="3200" u="none" cap="none" strike="noStrike">
              <a:solidFill>
                <a:schemeClr val="dk1"/>
              </a:solidFill>
              <a:latin typeface="Arial"/>
              <a:ea typeface="Arial"/>
              <a:cs typeface="Arial"/>
              <a:sym typeface="Arial"/>
            </a:endParaRPr>
          </a:p>
        </p:txBody>
      </p:sp>
      <p:graphicFrame>
        <p:nvGraphicFramePr>
          <p:cNvPr id="850" name="Google Shape;850;g279ef9b7fc5_0_563"/>
          <p:cNvGraphicFramePr/>
          <p:nvPr/>
        </p:nvGraphicFramePr>
        <p:xfrm>
          <a:off x="1094316" y="3416301"/>
          <a:ext cx="3000000" cy="3000000"/>
        </p:xfrm>
        <a:graphic>
          <a:graphicData uri="http://schemas.openxmlformats.org/drawingml/2006/table">
            <a:tbl>
              <a:tblPr bandRow="1" firstRow="1">
                <a:noFill/>
                <a:tableStyleId>{22A61F2D-B97D-49E0-A38F-197A92996402}</a:tableStyleId>
              </a:tblPr>
              <a:tblGrid>
                <a:gridCol w="1642525"/>
                <a:gridCol w="1642525"/>
                <a:gridCol w="1642525"/>
                <a:gridCol w="1642525"/>
                <a:gridCol w="1642525"/>
                <a:gridCol w="1642525"/>
              </a:tblGrid>
              <a:tr h="1619325">
                <a:tc>
                  <a:txBody>
                    <a:bodyPr/>
                    <a:lstStyle/>
                    <a:p>
                      <a:pPr indent="0" lvl="0" marL="0" marR="0" rtl="0" algn="l">
                        <a:lnSpc>
                          <a:spcPct val="100000"/>
                        </a:lnSpc>
                        <a:spcBef>
                          <a:spcPts val="0"/>
                        </a:spcBef>
                        <a:spcAft>
                          <a:spcPts val="0"/>
                        </a:spcAft>
                        <a:buClr>
                          <a:srgbClr val="000000"/>
                        </a:buClr>
                        <a:buSzPts val="3900"/>
                        <a:buFont typeface="Arial"/>
                        <a:buNone/>
                      </a:pPr>
                      <a:r>
                        <a:t/>
                      </a:r>
                      <a:endParaRPr sz="3900" u="none" cap="none" strike="noStrike">
                        <a:latin typeface="Times New Roman"/>
                        <a:ea typeface="Times New Roman"/>
                        <a:cs typeface="Times New Roman"/>
                        <a:sym typeface="Times New Roman"/>
                      </a:endParaRPr>
                    </a:p>
                    <a:p>
                      <a:pPr indent="0" lvl="0" marL="275590" marR="0" rtl="0" algn="l">
                        <a:lnSpc>
                          <a:spcPct val="100000"/>
                        </a:lnSpc>
                        <a:spcBef>
                          <a:spcPts val="0"/>
                        </a:spcBef>
                        <a:spcAft>
                          <a:spcPts val="0"/>
                        </a:spcAft>
                        <a:buClr>
                          <a:srgbClr val="000000"/>
                        </a:buClr>
                        <a:buSzPts val="3200"/>
                        <a:buFont typeface="Arial"/>
                        <a:buNone/>
                      </a:pPr>
                      <a:r>
                        <a:rPr b="1" lang="en-IN" sz="3200" u="none" cap="none" strike="noStrike">
                          <a:solidFill>
                            <a:srgbClr val="FFFFFF"/>
                          </a:solidFill>
                          <a:latin typeface="Arial"/>
                          <a:ea typeface="Arial"/>
                          <a:cs typeface="Arial"/>
                          <a:sym typeface="Arial"/>
                        </a:rPr>
                        <a:t>byte</a:t>
                      </a:r>
                      <a:endParaRPr sz="3200" u="none" cap="none" strike="noStrike">
                        <a:latin typeface="Arial"/>
                        <a:ea typeface="Arial"/>
                        <a:cs typeface="Arial"/>
                        <a:sym typeface="Arial"/>
                      </a:endParaRPr>
                    </a:p>
                  </a:txBody>
                  <a:tcPr marT="850" marB="0" marR="0" marL="0">
                    <a:lnL cap="flat" cmpd="sng" w="38100">
                      <a:solidFill>
                        <a:srgbClr val="FFAB40"/>
                      </a:solidFill>
                      <a:prstDash val="solid"/>
                      <a:round/>
                      <a:headEnd len="sm" w="sm" type="none"/>
                      <a:tailEnd len="sm" w="sm" type="none"/>
                    </a:lnL>
                    <a:lnR cap="flat" cmpd="sng" w="38100">
                      <a:solidFill>
                        <a:srgbClr val="FFAB40"/>
                      </a:solidFill>
                      <a:prstDash val="solid"/>
                      <a:round/>
                      <a:headEnd len="sm" w="sm" type="none"/>
                      <a:tailEnd len="sm" w="sm" type="none"/>
                    </a:lnR>
                    <a:lnT cap="flat" cmpd="sng" w="38100">
                      <a:solidFill>
                        <a:srgbClr val="FFAB40"/>
                      </a:solidFill>
                      <a:prstDash val="solid"/>
                      <a:round/>
                      <a:headEnd len="sm" w="sm" type="none"/>
                      <a:tailEnd len="sm" w="sm" type="none"/>
                    </a:lnT>
                    <a:lnB cap="flat" cmpd="sng" w="38100">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3900"/>
                        <a:buFont typeface="Arial"/>
                        <a:buNone/>
                      </a:pPr>
                      <a:r>
                        <a:t/>
                      </a:r>
                      <a:endParaRPr sz="3900" u="none" cap="none" strike="noStrike">
                        <a:latin typeface="Times New Roman"/>
                        <a:ea typeface="Times New Roman"/>
                        <a:cs typeface="Times New Roman"/>
                        <a:sym typeface="Times New Roman"/>
                      </a:endParaRPr>
                    </a:p>
                    <a:p>
                      <a:pPr indent="0" lvl="0" marL="210184" marR="0" rtl="0" algn="l">
                        <a:lnSpc>
                          <a:spcPct val="100000"/>
                        </a:lnSpc>
                        <a:spcBef>
                          <a:spcPts val="0"/>
                        </a:spcBef>
                        <a:spcAft>
                          <a:spcPts val="0"/>
                        </a:spcAft>
                        <a:buClr>
                          <a:srgbClr val="000000"/>
                        </a:buClr>
                        <a:buSzPts val="3200"/>
                        <a:buFont typeface="Arial"/>
                        <a:buNone/>
                      </a:pPr>
                      <a:r>
                        <a:rPr b="1" lang="en-IN" sz="3200" u="none" cap="none" strike="noStrike">
                          <a:solidFill>
                            <a:srgbClr val="FFFFFF"/>
                          </a:solidFill>
                          <a:latin typeface="Arial"/>
                          <a:ea typeface="Arial"/>
                          <a:cs typeface="Arial"/>
                          <a:sym typeface="Arial"/>
                        </a:rPr>
                        <a:t>short</a:t>
                      </a:r>
                      <a:endParaRPr sz="3200" u="none" cap="none" strike="noStrike">
                        <a:latin typeface="Arial"/>
                        <a:ea typeface="Arial"/>
                        <a:cs typeface="Arial"/>
                        <a:sym typeface="Arial"/>
                      </a:endParaRPr>
                    </a:p>
                  </a:txBody>
                  <a:tcPr marT="850" marB="0" marR="0" marL="0">
                    <a:lnL cap="flat" cmpd="sng" w="38100">
                      <a:solidFill>
                        <a:srgbClr val="FFAB40"/>
                      </a:solidFill>
                      <a:prstDash val="solid"/>
                      <a:round/>
                      <a:headEnd len="sm" w="sm" type="none"/>
                      <a:tailEnd len="sm" w="sm" type="none"/>
                    </a:lnL>
                    <a:lnR cap="flat" cmpd="sng" w="38100">
                      <a:solidFill>
                        <a:srgbClr val="FFAB40"/>
                      </a:solidFill>
                      <a:prstDash val="solid"/>
                      <a:round/>
                      <a:headEnd len="sm" w="sm" type="none"/>
                      <a:tailEnd len="sm" w="sm" type="none"/>
                    </a:lnR>
                    <a:lnT cap="flat" cmpd="sng" w="38100">
                      <a:solidFill>
                        <a:srgbClr val="FFAB40"/>
                      </a:solidFill>
                      <a:prstDash val="solid"/>
                      <a:round/>
                      <a:headEnd len="sm" w="sm" type="none"/>
                      <a:tailEnd len="sm" w="sm" type="none"/>
                    </a:lnT>
                    <a:lnB cap="flat" cmpd="sng" w="38100">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3900"/>
                        <a:buFont typeface="Arial"/>
                        <a:buNone/>
                      </a:pPr>
                      <a:r>
                        <a:t/>
                      </a:r>
                      <a:endParaRPr sz="3900" u="none" cap="none" strike="noStrike">
                        <a:latin typeface="Times New Roman"/>
                        <a:ea typeface="Times New Roman"/>
                        <a:cs typeface="Times New Roman"/>
                        <a:sym typeface="Times New Roman"/>
                      </a:endParaRPr>
                    </a:p>
                    <a:p>
                      <a:pPr indent="0" lvl="0" marL="402590" marR="0" rtl="0" algn="l">
                        <a:lnSpc>
                          <a:spcPct val="100000"/>
                        </a:lnSpc>
                        <a:spcBef>
                          <a:spcPts val="0"/>
                        </a:spcBef>
                        <a:spcAft>
                          <a:spcPts val="0"/>
                        </a:spcAft>
                        <a:buClr>
                          <a:srgbClr val="000000"/>
                        </a:buClr>
                        <a:buSzPts val="3200"/>
                        <a:buFont typeface="Arial"/>
                        <a:buNone/>
                      </a:pPr>
                      <a:r>
                        <a:rPr b="1" lang="en-IN" sz="3200" u="none" cap="none" strike="noStrike">
                          <a:solidFill>
                            <a:srgbClr val="FFFFFF"/>
                          </a:solidFill>
                          <a:latin typeface="Arial"/>
                          <a:ea typeface="Arial"/>
                          <a:cs typeface="Arial"/>
                          <a:sym typeface="Arial"/>
                        </a:rPr>
                        <a:t>int</a:t>
                      </a:r>
                      <a:endParaRPr sz="3200" u="none" cap="none" strike="noStrike">
                        <a:latin typeface="Arial"/>
                        <a:ea typeface="Arial"/>
                        <a:cs typeface="Arial"/>
                        <a:sym typeface="Arial"/>
                      </a:endParaRPr>
                    </a:p>
                  </a:txBody>
                  <a:tcPr marT="850" marB="0" marR="0" marL="0">
                    <a:lnL cap="flat" cmpd="sng" w="38100">
                      <a:solidFill>
                        <a:srgbClr val="FFAB40"/>
                      </a:solidFill>
                      <a:prstDash val="solid"/>
                      <a:round/>
                      <a:headEnd len="sm" w="sm" type="none"/>
                      <a:tailEnd len="sm" w="sm" type="none"/>
                    </a:lnL>
                    <a:lnR cap="flat" cmpd="sng" w="38100">
                      <a:solidFill>
                        <a:srgbClr val="FFAB40"/>
                      </a:solidFill>
                      <a:prstDash val="solid"/>
                      <a:round/>
                      <a:headEnd len="sm" w="sm" type="none"/>
                      <a:tailEnd len="sm" w="sm" type="none"/>
                    </a:lnR>
                    <a:lnT cap="flat" cmpd="sng" w="38100">
                      <a:solidFill>
                        <a:srgbClr val="FFAB40"/>
                      </a:solidFill>
                      <a:prstDash val="solid"/>
                      <a:round/>
                      <a:headEnd len="sm" w="sm" type="none"/>
                      <a:tailEnd len="sm" w="sm" type="none"/>
                    </a:lnT>
                    <a:lnB cap="flat" cmpd="sng" w="38100">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3900"/>
                        <a:buFont typeface="Arial"/>
                        <a:buNone/>
                      </a:pPr>
                      <a:r>
                        <a:t/>
                      </a:r>
                      <a:endParaRPr sz="3900" u="none" cap="none" strike="noStrike">
                        <a:latin typeface="Times New Roman"/>
                        <a:ea typeface="Times New Roman"/>
                        <a:cs typeface="Times New Roman"/>
                        <a:sym typeface="Times New Roman"/>
                      </a:endParaRPr>
                    </a:p>
                    <a:p>
                      <a:pPr indent="0" lvl="0" marL="288290" marR="0" rtl="0" algn="l">
                        <a:lnSpc>
                          <a:spcPct val="100000"/>
                        </a:lnSpc>
                        <a:spcBef>
                          <a:spcPts val="0"/>
                        </a:spcBef>
                        <a:spcAft>
                          <a:spcPts val="0"/>
                        </a:spcAft>
                        <a:buClr>
                          <a:srgbClr val="000000"/>
                        </a:buClr>
                        <a:buSzPts val="3200"/>
                        <a:buFont typeface="Arial"/>
                        <a:buNone/>
                      </a:pPr>
                      <a:r>
                        <a:rPr b="1" lang="en-IN" sz="3200" u="none" cap="none" strike="noStrike">
                          <a:solidFill>
                            <a:srgbClr val="FFFFFF"/>
                          </a:solidFill>
                          <a:latin typeface="Arial"/>
                          <a:ea typeface="Arial"/>
                          <a:cs typeface="Arial"/>
                          <a:sym typeface="Arial"/>
                        </a:rPr>
                        <a:t>long</a:t>
                      </a:r>
                      <a:endParaRPr sz="3200" u="none" cap="none" strike="noStrike">
                        <a:latin typeface="Arial"/>
                        <a:ea typeface="Arial"/>
                        <a:cs typeface="Arial"/>
                        <a:sym typeface="Arial"/>
                      </a:endParaRPr>
                    </a:p>
                  </a:txBody>
                  <a:tcPr marT="850" marB="0" marR="0" marL="0">
                    <a:lnL cap="flat" cmpd="sng" w="38100">
                      <a:solidFill>
                        <a:srgbClr val="FFAB40"/>
                      </a:solidFill>
                      <a:prstDash val="solid"/>
                      <a:round/>
                      <a:headEnd len="sm" w="sm" type="none"/>
                      <a:tailEnd len="sm" w="sm" type="none"/>
                    </a:lnL>
                    <a:lnR cap="flat" cmpd="sng" w="38100">
                      <a:solidFill>
                        <a:srgbClr val="FFAB40"/>
                      </a:solidFill>
                      <a:prstDash val="solid"/>
                      <a:round/>
                      <a:headEnd len="sm" w="sm" type="none"/>
                      <a:tailEnd len="sm" w="sm" type="none"/>
                    </a:lnR>
                    <a:lnT cap="flat" cmpd="sng" w="38100">
                      <a:solidFill>
                        <a:srgbClr val="FFAB40"/>
                      </a:solidFill>
                      <a:prstDash val="solid"/>
                      <a:round/>
                      <a:headEnd len="sm" w="sm" type="none"/>
                      <a:tailEnd len="sm" w="sm" type="none"/>
                    </a:lnT>
                    <a:lnB cap="flat" cmpd="sng" w="38100">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3900"/>
                        <a:buFont typeface="Arial"/>
                        <a:buNone/>
                      </a:pPr>
                      <a:r>
                        <a:t/>
                      </a:r>
                      <a:endParaRPr sz="3900" u="none" cap="none" strike="noStrike">
                        <a:latin typeface="Times New Roman"/>
                        <a:ea typeface="Times New Roman"/>
                        <a:cs typeface="Times New Roman"/>
                        <a:sym typeface="Times New Roman"/>
                      </a:endParaRPr>
                    </a:p>
                    <a:p>
                      <a:pPr indent="0" lvl="0" marL="258445" marR="0" rtl="0" algn="l">
                        <a:lnSpc>
                          <a:spcPct val="100000"/>
                        </a:lnSpc>
                        <a:spcBef>
                          <a:spcPts val="0"/>
                        </a:spcBef>
                        <a:spcAft>
                          <a:spcPts val="0"/>
                        </a:spcAft>
                        <a:buClr>
                          <a:srgbClr val="000000"/>
                        </a:buClr>
                        <a:buSzPts val="3200"/>
                        <a:buFont typeface="Arial"/>
                        <a:buNone/>
                      </a:pPr>
                      <a:r>
                        <a:rPr b="1" lang="en-IN" sz="3200" u="none" cap="none" strike="noStrike">
                          <a:solidFill>
                            <a:srgbClr val="FFFFFF"/>
                          </a:solidFill>
                          <a:latin typeface="Arial"/>
                          <a:ea typeface="Arial"/>
                          <a:cs typeface="Arial"/>
                          <a:sym typeface="Arial"/>
                        </a:rPr>
                        <a:t>float</a:t>
                      </a:r>
                      <a:endParaRPr sz="3200" u="none" cap="none" strike="noStrike">
                        <a:latin typeface="Arial"/>
                        <a:ea typeface="Arial"/>
                        <a:cs typeface="Arial"/>
                        <a:sym typeface="Arial"/>
                      </a:endParaRPr>
                    </a:p>
                  </a:txBody>
                  <a:tcPr marT="850" marB="0" marR="0" marL="0">
                    <a:lnL cap="flat" cmpd="sng" w="38100">
                      <a:solidFill>
                        <a:srgbClr val="FFAB40"/>
                      </a:solidFill>
                      <a:prstDash val="solid"/>
                      <a:round/>
                      <a:headEnd len="sm" w="sm" type="none"/>
                      <a:tailEnd len="sm" w="sm" type="none"/>
                    </a:lnL>
                    <a:lnR cap="flat" cmpd="sng" w="38100">
                      <a:solidFill>
                        <a:srgbClr val="FFAB40"/>
                      </a:solidFill>
                      <a:prstDash val="solid"/>
                      <a:round/>
                      <a:headEnd len="sm" w="sm" type="none"/>
                      <a:tailEnd len="sm" w="sm" type="none"/>
                    </a:lnR>
                    <a:lnT cap="flat" cmpd="sng" w="38100">
                      <a:solidFill>
                        <a:srgbClr val="FFAB40"/>
                      </a:solidFill>
                      <a:prstDash val="solid"/>
                      <a:round/>
                      <a:headEnd len="sm" w="sm" type="none"/>
                      <a:tailEnd len="sm" w="sm" type="none"/>
                    </a:lnT>
                    <a:lnB cap="flat" cmpd="sng" w="38100">
                      <a:solidFill>
                        <a:srgbClr val="FFAB4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3900"/>
                        <a:buFont typeface="Arial"/>
                        <a:buNone/>
                      </a:pPr>
                      <a:r>
                        <a:t/>
                      </a:r>
                      <a:endParaRPr sz="3900" u="none" cap="none" strike="noStrike">
                        <a:latin typeface="Times New Roman"/>
                        <a:ea typeface="Times New Roman"/>
                        <a:cs typeface="Times New Roman"/>
                        <a:sym typeface="Times New Roman"/>
                      </a:endParaRPr>
                    </a:p>
                    <a:p>
                      <a:pPr indent="0" lvl="0" marL="92075" marR="0" rtl="0" algn="l">
                        <a:lnSpc>
                          <a:spcPct val="100000"/>
                        </a:lnSpc>
                        <a:spcBef>
                          <a:spcPts val="0"/>
                        </a:spcBef>
                        <a:spcAft>
                          <a:spcPts val="0"/>
                        </a:spcAft>
                        <a:buClr>
                          <a:srgbClr val="000000"/>
                        </a:buClr>
                        <a:buSzPts val="3200"/>
                        <a:buFont typeface="Arial"/>
                        <a:buNone/>
                      </a:pPr>
                      <a:r>
                        <a:rPr b="1" lang="en-IN" sz="3200" u="none" cap="none" strike="noStrike">
                          <a:solidFill>
                            <a:srgbClr val="FFFFFF"/>
                          </a:solidFill>
                          <a:latin typeface="Arial"/>
                          <a:ea typeface="Arial"/>
                          <a:cs typeface="Arial"/>
                          <a:sym typeface="Arial"/>
                        </a:rPr>
                        <a:t>double</a:t>
                      </a:r>
                      <a:endParaRPr sz="3200" u="none" cap="none" strike="noStrike">
                        <a:latin typeface="Arial"/>
                        <a:ea typeface="Arial"/>
                        <a:cs typeface="Arial"/>
                        <a:sym typeface="Arial"/>
                      </a:endParaRPr>
                    </a:p>
                  </a:txBody>
                  <a:tcPr marT="850" marB="0" marR="0" marL="0">
                    <a:lnL cap="flat" cmpd="sng" w="38100">
                      <a:solidFill>
                        <a:srgbClr val="FFAB40"/>
                      </a:solidFill>
                      <a:prstDash val="solid"/>
                      <a:round/>
                      <a:headEnd len="sm" w="sm" type="none"/>
                      <a:tailEnd len="sm" w="sm" type="none"/>
                    </a:lnL>
                    <a:lnR cap="flat" cmpd="sng" w="38100">
                      <a:solidFill>
                        <a:srgbClr val="FFAB40"/>
                      </a:solidFill>
                      <a:prstDash val="solid"/>
                      <a:round/>
                      <a:headEnd len="sm" w="sm" type="none"/>
                      <a:tailEnd len="sm" w="sm" type="none"/>
                    </a:lnR>
                    <a:lnT cap="flat" cmpd="sng" w="38100">
                      <a:solidFill>
                        <a:srgbClr val="FFAB40"/>
                      </a:solidFill>
                      <a:prstDash val="solid"/>
                      <a:round/>
                      <a:headEnd len="sm" w="sm" type="none"/>
                      <a:tailEnd len="sm" w="sm" type="none"/>
                    </a:lnT>
                    <a:lnB cap="flat" cmpd="sng" w="38100">
                      <a:solidFill>
                        <a:srgbClr val="FFAB40"/>
                      </a:solidFill>
                      <a:prstDash val="solid"/>
                      <a:round/>
                      <a:headEnd len="sm" w="sm" type="none"/>
                      <a:tailEnd len="sm" w="sm" type="none"/>
                    </a:lnB>
                    <a:solidFill>
                      <a:srgbClr val="000000"/>
                    </a:solidFill>
                  </a:tcPr>
                </a:tc>
              </a:tr>
            </a:tbl>
          </a:graphicData>
        </a:graphic>
      </p:graphicFrame>
      <p:grpSp>
        <p:nvGrpSpPr>
          <p:cNvPr id="851" name="Google Shape;851;g279ef9b7fc5_0_563"/>
          <p:cNvGrpSpPr/>
          <p:nvPr/>
        </p:nvGrpSpPr>
        <p:grpSpPr>
          <a:xfrm>
            <a:off x="1229328" y="5264779"/>
            <a:ext cx="9607225" cy="335272"/>
            <a:chOff x="922019" y="3948683"/>
            <a:chExt cx="7205599" cy="251460"/>
          </a:xfrm>
        </p:grpSpPr>
        <p:sp>
          <p:nvSpPr>
            <p:cNvPr id="852" name="Google Shape;852;g279ef9b7fc5_0_563"/>
            <p:cNvSpPr/>
            <p:nvPr/>
          </p:nvSpPr>
          <p:spPr>
            <a:xfrm>
              <a:off x="922019" y="4073651"/>
              <a:ext cx="6859905" cy="0"/>
            </a:xfrm>
            <a:custGeom>
              <a:rect b="b" l="l" r="r" t="t"/>
              <a:pathLst>
                <a:path extrusionOk="0" h="120000" w="6859905">
                  <a:moveTo>
                    <a:pt x="0" y="0"/>
                  </a:moveTo>
                  <a:lnTo>
                    <a:pt x="6859524" y="0"/>
                  </a:lnTo>
                </a:path>
              </a:pathLst>
            </a:custGeom>
            <a:noFill/>
            <a:ln cap="flat" cmpd="sng" w="76175">
              <a:solidFill>
                <a:srgbClr val="EDFF4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853" name="Google Shape;853;g279ef9b7fc5_0_563"/>
            <p:cNvSpPr/>
            <p:nvPr/>
          </p:nvSpPr>
          <p:spPr>
            <a:xfrm>
              <a:off x="7781543" y="3948683"/>
              <a:ext cx="346075" cy="251460"/>
            </a:xfrm>
            <a:custGeom>
              <a:rect b="b" l="l" r="r" t="t"/>
              <a:pathLst>
                <a:path extrusionOk="0" h="251460" w="346075">
                  <a:moveTo>
                    <a:pt x="0" y="0"/>
                  </a:moveTo>
                  <a:lnTo>
                    <a:pt x="0" y="251091"/>
                  </a:lnTo>
                  <a:lnTo>
                    <a:pt x="345694" y="125539"/>
                  </a:lnTo>
                  <a:lnTo>
                    <a:pt x="0" y="0"/>
                  </a:lnTo>
                  <a:close/>
                </a:path>
              </a:pathLst>
            </a:custGeom>
            <a:solidFill>
              <a:srgbClr val="EDFF4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854" name="Google Shape;854;g279ef9b7fc5_0_563"/>
            <p:cNvSpPr/>
            <p:nvPr/>
          </p:nvSpPr>
          <p:spPr>
            <a:xfrm>
              <a:off x="7781543" y="3948683"/>
              <a:ext cx="346075" cy="251460"/>
            </a:xfrm>
            <a:custGeom>
              <a:rect b="b" l="l" r="r" t="t"/>
              <a:pathLst>
                <a:path extrusionOk="0" h="251460" w="346075">
                  <a:moveTo>
                    <a:pt x="0" y="251091"/>
                  </a:moveTo>
                  <a:lnTo>
                    <a:pt x="345694" y="125539"/>
                  </a:lnTo>
                  <a:lnTo>
                    <a:pt x="0" y="0"/>
                  </a:lnTo>
                  <a:lnTo>
                    <a:pt x="0" y="251091"/>
                  </a:lnTo>
                  <a:close/>
                </a:path>
              </a:pathLst>
            </a:custGeom>
            <a:noFill/>
            <a:ln cap="flat" cmpd="sng" w="76175">
              <a:solidFill>
                <a:srgbClr val="EDFF4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sp>
        <p:nvSpPr>
          <p:cNvPr id="855" name="Google Shape;855;g279ef9b7fc5_0_563"/>
          <p:cNvSpPr txBox="1"/>
          <p:nvPr/>
        </p:nvSpPr>
        <p:spPr>
          <a:xfrm>
            <a:off x="1176256" y="5630400"/>
            <a:ext cx="9541800" cy="386400"/>
          </a:xfrm>
          <a:prstGeom prst="rect">
            <a:avLst/>
          </a:prstGeom>
          <a:noFill/>
          <a:ln>
            <a:noFill/>
          </a:ln>
        </p:spPr>
        <p:txBody>
          <a:bodyPr anchorCtr="0" anchor="t" bIns="0" lIns="0" spcFirstLastPara="1" rIns="0" wrap="square" tIns="16925">
            <a:spAutoFit/>
          </a:bodyPr>
          <a:lstStyle/>
          <a:p>
            <a:pPr indent="0" lvl="0" marL="16932" marR="0" rtl="0" algn="l">
              <a:lnSpc>
                <a:spcPct val="100000"/>
              </a:lnSpc>
              <a:spcBef>
                <a:spcPts val="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Conversion to the wider type on the right takes place implicitly</a:t>
            </a:r>
            <a:endParaRPr b="0" i="0" sz="2400" u="none" cap="none" strike="noStrike">
              <a:solidFill>
                <a:schemeClr val="dk1"/>
              </a:solidFill>
              <a:latin typeface="Arial"/>
              <a:ea typeface="Arial"/>
              <a:cs typeface="Arial"/>
              <a:sym typeface="Arial"/>
            </a:endParaRPr>
          </a:p>
        </p:txBody>
      </p:sp>
      <p:sp>
        <p:nvSpPr>
          <p:cNvPr id="856" name="Google Shape;856;g279ef9b7fc5_0_563"/>
          <p:cNvSpPr/>
          <p:nvPr/>
        </p:nvSpPr>
        <p:spPr>
          <a:xfrm>
            <a:off x="3016296" y="38880"/>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BF9000"/>
                </a:solidFill>
                <a:latin typeface="Calibri"/>
                <a:ea typeface="Calibri"/>
                <a:cs typeface="Calibri"/>
                <a:sym typeface="Calibri"/>
              </a:rPr>
              <a:t>Type Casting</a:t>
            </a:r>
            <a:endParaRPr b="1" i="0" sz="1800" u="none" cap="none" strike="noStrike">
              <a:solidFill>
                <a:srgbClr val="BF9000"/>
              </a:solidFill>
              <a:latin typeface="Cantarell"/>
              <a:ea typeface="Cantarell"/>
              <a:cs typeface="Cantarell"/>
              <a:sym typeface="Cantare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2023-06-02T05:30:25Z</dcterms:created>
  <dc:creator>Mahadevaswamy G K</dc:creator>
</cp:coreProperties>
</file>